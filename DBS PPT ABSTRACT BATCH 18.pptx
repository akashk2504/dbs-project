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jpg" ContentType="image/jp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66" r:id="rId4"/>
    <p:sldId id="267" r:id="rId5"/>
    <p:sldId id="258" r:id="rId6"/>
    <p:sldId id="268" r:id="rId7"/>
    <p:sldId id="269" r:id="rId8"/>
    <p:sldId id="270" r:id="rId9"/>
    <p:sldId id="271" r:id="rId10"/>
    <p:sldId id="272" r:id="rId11"/>
    <p:sldId id="273" r:id="rId12"/>
    <p:sldId id="274" r:id="rId13"/>
    <p:sldId id="275" r:id="rId14"/>
    <p:sldId id="276" r:id="rId15"/>
    <p:sldId id="277" r:id="rId16"/>
    <p:sldId id="278" r:id="rId17"/>
    <p:sldId id="279" r:id="rId18"/>
    <p:sldId id="280" r:id="rId19"/>
    <p:sldId id="281" r:id="rId20"/>
    <p:sldId id="282" r:id="rId21"/>
    <p:sldId id="283" r:id="rId22"/>
    <p:sldId id="284" r:id="rId23"/>
    <p:sldId id="285" r:id="rId24"/>
    <p:sldId id="286" r:id="rId25"/>
    <p:sldId id="287" r:id="rId26"/>
    <p:sldId id="288" r:id="rId27"/>
  </p:sldIdLst>
  <p:sldSz cx="12192000" cy="6858000"/>
  <p:notesSz cx="12192000" cy="6858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43592" autoAdjust="0"/>
    <p:restoredTop sz="94660"/>
  </p:normalViewPr>
  <p:slideViewPr>
    <p:cSldViewPr>
      <p:cViewPr varScale="1">
        <p:scale>
          <a:sx n="55" d="100"/>
          <a:sy n="55" d="100"/>
        </p:scale>
        <p:origin x="36" y="400"/>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sz="4400" b="1" i="0">
                <a:solidFill>
                  <a:srgbClr val="001F5F"/>
                </a:solidFill>
                <a:latin typeface="Times New Roman"/>
                <a:cs typeface="Times New Roman"/>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sz="3600" b="0" i="0">
                <a:solidFill>
                  <a:schemeClr val="tx1"/>
                </a:solidFill>
                <a:latin typeface="Calibri"/>
                <a:cs typeface="Calibri"/>
              </a:defRPr>
            </a:lvl1pPr>
          </a:lstStyle>
          <a:p>
            <a:endParaRPr/>
          </a:p>
        </p:txBody>
      </p:sp>
      <p:sp>
        <p:nvSpPr>
          <p:cNvPr id="4" name="Holder 4"/>
          <p:cNvSpPr>
            <a:spLocks noGrp="1"/>
          </p:cNvSpPr>
          <p:nvPr>
            <p:ph type="ftr" sz="quarter" idx="5"/>
          </p:nvPr>
        </p:nvSpPr>
        <p:spPr/>
        <p:txBody>
          <a:bodyPr lIns="0" tIns="0" rIns="0" bIns="0"/>
          <a:lstStyle>
            <a:lvl1pPr>
              <a:defRPr sz="1800" b="0" i="0">
                <a:solidFill>
                  <a:schemeClr val="tx1"/>
                </a:solidFill>
                <a:latin typeface="Calibri"/>
                <a:cs typeface="Calibri"/>
              </a:defRPr>
            </a:lvl1pPr>
          </a:lstStyle>
          <a:p>
            <a:pPr marL="12700">
              <a:lnSpc>
                <a:spcPts val="1710"/>
              </a:lnSpc>
            </a:pPr>
            <a:r>
              <a:rPr dirty="0"/>
              <a:t>MRCET</a:t>
            </a:r>
            <a:r>
              <a:rPr spc="-15" dirty="0"/>
              <a:t> </a:t>
            </a:r>
            <a:r>
              <a:rPr dirty="0"/>
              <a:t>|</a:t>
            </a:r>
            <a:r>
              <a:rPr spc="-15" dirty="0"/>
              <a:t> </a:t>
            </a:r>
            <a:r>
              <a:rPr spc="-10" dirty="0"/>
              <a:t>Department</a:t>
            </a:r>
            <a:r>
              <a:rPr dirty="0"/>
              <a:t> of Emerging</a:t>
            </a:r>
            <a:r>
              <a:rPr spc="-5" dirty="0"/>
              <a:t> </a:t>
            </a:r>
            <a:r>
              <a:rPr spc="-25" dirty="0"/>
              <a:t>Technologies</a:t>
            </a:r>
            <a:r>
              <a:rPr spc="5" dirty="0"/>
              <a:t> </a:t>
            </a:r>
            <a:r>
              <a:rPr dirty="0"/>
              <a:t>|</a:t>
            </a:r>
            <a:r>
              <a:rPr spc="-5" dirty="0"/>
              <a:t> </a:t>
            </a:r>
            <a:r>
              <a:rPr spc="-10" dirty="0"/>
              <a:t>Application</a:t>
            </a:r>
            <a:r>
              <a:rPr spc="-15" dirty="0"/>
              <a:t> </a:t>
            </a:r>
            <a:r>
              <a:rPr spc="-20" dirty="0"/>
              <a:t>Development-</a:t>
            </a:r>
            <a:r>
              <a:rPr dirty="0"/>
              <a:t>II</a:t>
            </a:r>
            <a:r>
              <a:rPr spc="10" dirty="0"/>
              <a:t> </a:t>
            </a:r>
            <a:r>
              <a:rPr dirty="0"/>
              <a:t>PPT|</a:t>
            </a:r>
            <a:r>
              <a:rPr spc="-20" dirty="0"/>
              <a:t> </a:t>
            </a:r>
            <a:r>
              <a:rPr dirty="0"/>
              <a:t>III</a:t>
            </a:r>
            <a:r>
              <a:rPr spc="-20" dirty="0"/>
              <a:t> Year</a:t>
            </a:r>
            <a:r>
              <a:rPr dirty="0"/>
              <a:t> </a:t>
            </a:r>
            <a:r>
              <a:rPr spc="-55" dirty="0"/>
              <a:t>B.Tech-</a:t>
            </a:r>
            <a:r>
              <a:rPr dirty="0"/>
              <a:t>II</a:t>
            </a:r>
            <a:r>
              <a:rPr spc="-15" dirty="0"/>
              <a:t> </a:t>
            </a:r>
            <a:r>
              <a:rPr spc="-10" dirty="0"/>
              <a:t>Semester</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9/20/2026</a:t>
            </a:fld>
            <a:endParaRPr lang="en-US"/>
          </a:p>
        </p:txBody>
      </p:sp>
      <p:sp>
        <p:nvSpPr>
          <p:cNvPr id="6" name="Holder 6"/>
          <p:cNvSpPr>
            <a:spLocks noGrp="1"/>
          </p:cNvSpPr>
          <p:nvPr>
            <p:ph type="sldNum" sz="quarter" idx="7"/>
          </p:nvPr>
        </p:nvSpPr>
        <p:spPr/>
        <p:txBody>
          <a:bodyPr lIns="0" tIns="0" rIns="0" bIns="0"/>
          <a:lstStyle>
            <a:lvl1pPr>
              <a:defRPr sz="1200" b="1" i="0">
                <a:solidFill>
                  <a:srgbClr val="C00000"/>
                </a:solidFill>
                <a:latin typeface="Calibri"/>
                <a:cs typeface="Calibri"/>
              </a:defRPr>
            </a:lvl1pPr>
          </a:lstStyle>
          <a:p>
            <a:pPr marL="38100">
              <a:lnSpc>
                <a:spcPts val="1240"/>
              </a:lnSpc>
            </a:pPr>
            <a:fld id="{81D60167-4931-47E6-BA6A-407CBD079E47}" type="slidenum">
              <a:rPr spc="-50" dirty="0"/>
              <a:t>‹#›</a:t>
            </a:fld>
            <a:endParaRPr spc="-50"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1" i="0">
                <a:solidFill>
                  <a:srgbClr val="001F5F"/>
                </a:solidFill>
                <a:latin typeface="Times New Roman"/>
                <a:cs typeface="Times New Roman"/>
              </a:defRPr>
            </a:lvl1pPr>
          </a:lstStyle>
          <a:p>
            <a:endParaRPr/>
          </a:p>
        </p:txBody>
      </p:sp>
      <p:sp>
        <p:nvSpPr>
          <p:cNvPr id="3" name="Holder 3"/>
          <p:cNvSpPr>
            <a:spLocks noGrp="1"/>
          </p:cNvSpPr>
          <p:nvPr>
            <p:ph type="body" idx="1"/>
          </p:nvPr>
        </p:nvSpPr>
        <p:spPr/>
        <p:txBody>
          <a:bodyPr lIns="0" tIns="0" rIns="0" bIns="0"/>
          <a:lstStyle>
            <a:lvl1pPr>
              <a:defRPr sz="3600" b="0" i="0">
                <a:solidFill>
                  <a:schemeClr val="tx1"/>
                </a:solidFill>
                <a:latin typeface="Calibri"/>
                <a:cs typeface="Calibri"/>
              </a:defRPr>
            </a:lvl1pPr>
          </a:lstStyle>
          <a:p>
            <a:endParaRPr/>
          </a:p>
        </p:txBody>
      </p:sp>
      <p:sp>
        <p:nvSpPr>
          <p:cNvPr id="4" name="Holder 4"/>
          <p:cNvSpPr>
            <a:spLocks noGrp="1"/>
          </p:cNvSpPr>
          <p:nvPr>
            <p:ph type="ftr" sz="quarter" idx="5"/>
          </p:nvPr>
        </p:nvSpPr>
        <p:spPr/>
        <p:txBody>
          <a:bodyPr lIns="0" tIns="0" rIns="0" bIns="0"/>
          <a:lstStyle>
            <a:lvl1pPr>
              <a:defRPr sz="1800" b="0" i="0">
                <a:solidFill>
                  <a:schemeClr val="tx1"/>
                </a:solidFill>
                <a:latin typeface="Calibri"/>
                <a:cs typeface="Calibri"/>
              </a:defRPr>
            </a:lvl1pPr>
          </a:lstStyle>
          <a:p>
            <a:pPr marL="12700">
              <a:lnSpc>
                <a:spcPts val="1710"/>
              </a:lnSpc>
            </a:pPr>
            <a:r>
              <a:rPr dirty="0"/>
              <a:t>MRCET</a:t>
            </a:r>
            <a:r>
              <a:rPr spc="-15" dirty="0"/>
              <a:t> </a:t>
            </a:r>
            <a:r>
              <a:rPr dirty="0"/>
              <a:t>|</a:t>
            </a:r>
            <a:r>
              <a:rPr spc="-15" dirty="0"/>
              <a:t> </a:t>
            </a:r>
            <a:r>
              <a:rPr spc="-10" dirty="0"/>
              <a:t>Department</a:t>
            </a:r>
            <a:r>
              <a:rPr dirty="0"/>
              <a:t> of Emerging</a:t>
            </a:r>
            <a:r>
              <a:rPr spc="-5" dirty="0"/>
              <a:t> </a:t>
            </a:r>
            <a:r>
              <a:rPr spc="-25" dirty="0"/>
              <a:t>Technologies</a:t>
            </a:r>
            <a:r>
              <a:rPr spc="5" dirty="0"/>
              <a:t> </a:t>
            </a:r>
            <a:r>
              <a:rPr dirty="0"/>
              <a:t>|</a:t>
            </a:r>
            <a:r>
              <a:rPr spc="-5" dirty="0"/>
              <a:t> </a:t>
            </a:r>
            <a:r>
              <a:rPr spc="-10" dirty="0"/>
              <a:t>Application</a:t>
            </a:r>
            <a:r>
              <a:rPr spc="-15" dirty="0"/>
              <a:t> </a:t>
            </a:r>
            <a:r>
              <a:rPr spc="-20" dirty="0"/>
              <a:t>Development-</a:t>
            </a:r>
            <a:r>
              <a:rPr dirty="0"/>
              <a:t>II</a:t>
            </a:r>
            <a:r>
              <a:rPr spc="10" dirty="0"/>
              <a:t> </a:t>
            </a:r>
            <a:r>
              <a:rPr dirty="0"/>
              <a:t>PPT|</a:t>
            </a:r>
            <a:r>
              <a:rPr spc="-20" dirty="0"/>
              <a:t> </a:t>
            </a:r>
            <a:r>
              <a:rPr dirty="0"/>
              <a:t>III</a:t>
            </a:r>
            <a:r>
              <a:rPr spc="-20" dirty="0"/>
              <a:t> Year</a:t>
            </a:r>
            <a:r>
              <a:rPr dirty="0"/>
              <a:t> </a:t>
            </a:r>
            <a:r>
              <a:rPr spc="-55" dirty="0"/>
              <a:t>B.Tech-</a:t>
            </a:r>
            <a:r>
              <a:rPr dirty="0"/>
              <a:t>II</a:t>
            </a:r>
            <a:r>
              <a:rPr spc="-15" dirty="0"/>
              <a:t> </a:t>
            </a:r>
            <a:r>
              <a:rPr spc="-10" dirty="0"/>
              <a:t>Semester</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9/20/2026</a:t>
            </a:fld>
            <a:endParaRPr lang="en-US"/>
          </a:p>
        </p:txBody>
      </p:sp>
      <p:sp>
        <p:nvSpPr>
          <p:cNvPr id="6" name="Holder 6"/>
          <p:cNvSpPr>
            <a:spLocks noGrp="1"/>
          </p:cNvSpPr>
          <p:nvPr>
            <p:ph type="sldNum" sz="quarter" idx="7"/>
          </p:nvPr>
        </p:nvSpPr>
        <p:spPr/>
        <p:txBody>
          <a:bodyPr lIns="0" tIns="0" rIns="0" bIns="0"/>
          <a:lstStyle>
            <a:lvl1pPr>
              <a:defRPr sz="1200" b="1" i="0">
                <a:solidFill>
                  <a:srgbClr val="C00000"/>
                </a:solidFill>
                <a:latin typeface="Calibri"/>
                <a:cs typeface="Calibri"/>
              </a:defRPr>
            </a:lvl1pPr>
          </a:lstStyle>
          <a:p>
            <a:pPr marL="38100">
              <a:lnSpc>
                <a:spcPts val="1240"/>
              </a:lnSpc>
            </a:pPr>
            <a:fld id="{81D60167-4931-47E6-BA6A-407CBD079E47}" type="slidenum">
              <a:rPr spc="-50" dirty="0"/>
              <a:t>‹#›</a:t>
            </a:fld>
            <a:endParaRPr spc="-5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1" i="0">
                <a:solidFill>
                  <a:srgbClr val="001F5F"/>
                </a:solidFill>
                <a:latin typeface="Times New Roman"/>
                <a:cs typeface="Times New Roman"/>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1800" b="0" i="0">
                <a:solidFill>
                  <a:schemeClr val="tx1"/>
                </a:solidFill>
                <a:latin typeface="Calibri"/>
                <a:cs typeface="Calibri"/>
              </a:defRPr>
            </a:lvl1pPr>
          </a:lstStyle>
          <a:p>
            <a:pPr marL="12700">
              <a:lnSpc>
                <a:spcPts val="1710"/>
              </a:lnSpc>
            </a:pPr>
            <a:r>
              <a:rPr dirty="0"/>
              <a:t>MRCET</a:t>
            </a:r>
            <a:r>
              <a:rPr spc="-15" dirty="0"/>
              <a:t> </a:t>
            </a:r>
            <a:r>
              <a:rPr dirty="0"/>
              <a:t>|</a:t>
            </a:r>
            <a:r>
              <a:rPr spc="-15" dirty="0"/>
              <a:t> </a:t>
            </a:r>
            <a:r>
              <a:rPr spc="-10" dirty="0"/>
              <a:t>Department</a:t>
            </a:r>
            <a:r>
              <a:rPr dirty="0"/>
              <a:t> of Emerging</a:t>
            </a:r>
            <a:r>
              <a:rPr spc="-5" dirty="0"/>
              <a:t> </a:t>
            </a:r>
            <a:r>
              <a:rPr spc="-25" dirty="0"/>
              <a:t>Technologies</a:t>
            </a:r>
            <a:r>
              <a:rPr spc="5" dirty="0"/>
              <a:t> </a:t>
            </a:r>
            <a:r>
              <a:rPr dirty="0"/>
              <a:t>|</a:t>
            </a:r>
            <a:r>
              <a:rPr spc="-5" dirty="0"/>
              <a:t> </a:t>
            </a:r>
            <a:r>
              <a:rPr spc="-10" dirty="0"/>
              <a:t>Application</a:t>
            </a:r>
            <a:r>
              <a:rPr spc="-15" dirty="0"/>
              <a:t> </a:t>
            </a:r>
            <a:r>
              <a:rPr spc="-20" dirty="0"/>
              <a:t>Development-</a:t>
            </a:r>
            <a:r>
              <a:rPr dirty="0"/>
              <a:t>II</a:t>
            </a:r>
            <a:r>
              <a:rPr spc="10" dirty="0"/>
              <a:t> </a:t>
            </a:r>
            <a:r>
              <a:rPr dirty="0"/>
              <a:t>PPT|</a:t>
            </a:r>
            <a:r>
              <a:rPr spc="-20" dirty="0"/>
              <a:t> </a:t>
            </a:r>
            <a:r>
              <a:rPr dirty="0"/>
              <a:t>III</a:t>
            </a:r>
            <a:r>
              <a:rPr spc="-20" dirty="0"/>
              <a:t> Year</a:t>
            </a:r>
            <a:r>
              <a:rPr dirty="0"/>
              <a:t> </a:t>
            </a:r>
            <a:r>
              <a:rPr spc="-55" dirty="0"/>
              <a:t>B.Tech-</a:t>
            </a:r>
            <a:r>
              <a:rPr dirty="0"/>
              <a:t>II</a:t>
            </a:r>
            <a:r>
              <a:rPr spc="-15" dirty="0"/>
              <a:t> </a:t>
            </a:r>
            <a:r>
              <a:rPr spc="-10" dirty="0"/>
              <a:t>Semester</a:t>
            </a: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9/20/2026</a:t>
            </a:fld>
            <a:endParaRPr lang="en-US"/>
          </a:p>
        </p:txBody>
      </p:sp>
      <p:sp>
        <p:nvSpPr>
          <p:cNvPr id="7" name="Holder 7"/>
          <p:cNvSpPr>
            <a:spLocks noGrp="1"/>
          </p:cNvSpPr>
          <p:nvPr>
            <p:ph type="sldNum" sz="quarter" idx="7"/>
          </p:nvPr>
        </p:nvSpPr>
        <p:spPr/>
        <p:txBody>
          <a:bodyPr lIns="0" tIns="0" rIns="0" bIns="0"/>
          <a:lstStyle>
            <a:lvl1pPr>
              <a:defRPr sz="1200" b="1" i="0">
                <a:solidFill>
                  <a:srgbClr val="C00000"/>
                </a:solidFill>
                <a:latin typeface="Calibri"/>
                <a:cs typeface="Calibri"/>
              </a:defRPr>
            </a:lvl1pPr>
          </a:lstStyle>
          <a:p>
            <a:pPr marL="38100">
              <a:lnSpc>
                <a:spcPts val="1240"/>
              </a:lnSpc>
            </a:pPr>
            <a:fld id="{81D60167-4931-47E6-BA6A-407CBD079E47}" type="slidenum">
              <a:rPr spc="-50" dirty="0"/>
              <a:t>‹#›</a:t>
            </a:fld>
            <a:endParaRPr spc="-5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1" i="0">
                <a:solidFill>
                  <a:srgbClr val="001F5F"/>
                </a:solidFill>
                <a:latin typeface="Times New Roman"/>
                <a:cs typeface="Times New Roman"/>
              </a:defRPr>
            </a:lvl1pPr>
          </a:lstStyle>
          <a:p>
            <a:endParaRPr/>
          </a:p>
        </p:txBody>
      </p:sp>
      <p:sp>
        <p:nvSpPr>
          <p:cNvPr id="3" name="Holder 3"/>
          <p:cNvSpPr>
            <a:spLocks noGrp="1"/>
          </p:cNvSpPr>
          <p:nvPr>
            <p:ph type="ftr" sz="quarter" idx="5"/>
          </p:nvPr>
        </p:nvSpPr>
        <p:spPr/>
        <p:txBody>
          <a:bodyPr lIns="0" tIns="0" rIns="0" bIns="0"/>
          <a:lstStyle>
            <a:lvl1pPr>
              <a:defRPr sz="1800" b="0" i="0">
                <a:solidFill>
                  <a:schemeClr val="tx1"/>
                </a:solidFill>
                <a:latin typeface="Calibri"/>
                <a:cs typeface="Calibri"/>
              </a:defRPr>
            </a:lvl1pPr>
          </a:lstStyle>
          <a:p>
            <a:pPr marL="12700">
              <a:lnSpc>
                <a:spcPts val="1710"/>
              </a:lnSpc>
            </a:pPr>
            <a:r>
              <a:rPr dirty="0"/>
              <a:t>MRCET</a:t>
            </a:r>
            <a:r>
              <a:rPr spc="-15" dirty="0"/>
              <a:t> </a:t>
            </a:r>
            <a:r>
              <a:rPr dirty="0"/>
              <a:t>|</a:t>
            </a:r>
            <a:r>
              <a:rPr spc="-15" dirty="0"/>
              <a:t> </a:t>
            </a:r>
            <a:r>
              <a:rPr spc="-10" dirty="0"/>
              <a:t>Department</a:t>
            </a:r>
            <a:r>
              <a:rPr dirty="0"/>
              <a:t> of Emerging</a:t>
            </a:r>
            <a:r>
              <a:rPr spc="-5" dirty="0"/>
              <a:t> </a:t>
            </a:r>
            <a:r>
              <a:rPr spc="-25" dirty="0"/>
              <a:t>Technologies</a:t>
            </a:r>
            <a:r>
              <a:rPr spc="5" dirty="0"/>
              <a:t> </a:t>
            </a:r>
            <a:r>
              <a:rPr dirty="0"/>
              <a:t>|</a:t>
            </a:r>
            <a:r>
              <a:rPr spc="-5" dirty="0"/>
              <a:t> </a:t>
            </a:r>
            <a:r>
              <a:rPr spc="-10" dirty="0"/>
              <a:t>Application</a:t>
            </a:r>
            <a:r>
              <a:rPr spc="-15" dirty="0"/>
              <a:t> </a:t>
            </a:r>
            <a:r>
              <a:rPr spc="-20" dirty="0"/>
              <a:t>Development-</a:t>
            </a:r>
            <a:r>
              <a:rPr dirty="0"/>
              <a:t>II</a:t>
            </a:r>
            <a:r>
              <a:rPr spc="10" dirty="0"/>
              <a:t> </a:t>
            </a:r>
            <a:r>
              <a:rPr dirty="0"/>
              <a:t>PPT|</a:t>
            </a:r>
            <a:r>
              <a:rPr spc="-20" dirty="0"/>
              <a:t> </a:t>
            </a:r>
            <a:r>
              <a:rPr dirty="0"/>
              <a:t>III</a:t>
            </a:r>
            <a:r>
              <a:rPr spc="-20" dirty="0"/>
              <a:t> Year</a:t>
            </a:r>
            <a:r>
              <a:rPr dirty="0"/>
              <a:t> </a:t>
            </a:r>
            <a:r>
              <a:rPr spc="-55" dirty="0"/>
              <a:t>B.Tech-</a:t>
            </a:r>
            <a:r>
              <a:rPr dirty="0"/>
              <a:t>II</a:t>
            </a:r>
            <a:r>
              <a:rPr spc="-15" dirty="0"/>
              <a:t> </a:t>
            </a:r>
            <a:r>
              <a:rPr spc="-10" dirty="0"/>
              <a:t>Semester</a:t>
            </a: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9/20/2026</a:t>
            </a:fld>
            <a:endParaRPr lang="en-US"/>
          </a:p>
        </p:txBody>
      </p:sp>
      <p:sp>
        <p:nvSpPr>
          <p:cNvPr id="5" name="Holder 5"/>
          <p:cNvSpPr>
            <a:spLocks noGrp="1"/>
          </p:cNvSpPr>
          <p:nvPr>
            <p:ph type="sldNum" sz="quarter" idx="7"/>
          </p:nvPr>
        </p:nvSpPr>
        <p:spPr/>
        <p:txBody>
          <a:bodyPr lIns="0" tIns="0" rIns="0" bIns="0"/>
          <a:lstStyle>
            <a:lvl1pPr>
              <a:defRPr sz="1200" b="1" i="0">
                <a:solidFill>
                  <a:srgbClr val="C00000"/>
                </a:solidFill>
                <a:latin typeface="Calibri"/>
                <a:cs typeface="Calibri"/>
              </a:defRPr>
            </a:lvl1pPr>
          </a:lstStyle>
          <a:p>
            <a:pPr marL="38100">
              <a:lnSpc>
                <a:spcPts val="1240"/>
              </a:lnSpc>
            </a:pPr>
            <a:fld id="{81D60167-4931-47E6-BA6A-407CBD079E47}" type="slidenum">
              <a:rPr spc="-50" dirty="0"/>
              <a:t>‹#›</a:t>
            </a:fld>
            <a:endParaRPr spc="-50"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defRPr sz="1800" b="0" i="0">
                <a:solidFill>
                  <a:schemeClr val="tx1"/>
                </a:solidFill>
                <a:latin typeface="Calibri"/>
                <a:cs typeface="Calibri"/>
              </a:defRPr>
            </a:lvl1pPr>
          </a:lstStyle>
          <a:p>
            <a:pPr marL="12700">
              <a:lnSpc>
                <a:spcPts val="1710"/>
              </a:lnSpc>
            </a:pPr>
            <a:r>
              <a:rPr dirty="0"/>
              <a:t>MRCET</a:t>
            </a:r>
            <a:r>
              <a:rPr spc="-15" dirty="0"/>
              <a:t> </a:t>
            </a:r>
            <a:r>
              <a:rPr dirty="0"/>
              <a:t>|</a:t>
            </a:r>
            <a:r>
              <a:rPr spc="-15" dirty="0"/>
              <a:t> </a:t>
            </a:r>
            <a:r>
              <a:rPr spc="-10" dirty="0"/>
              <a:t>Department</a:t>
            </a:r>
            <a:r>
              <a:rPr dirty="0"/>
              <a:t> of Emerging</a:t>
            </a:r>
            <a:r>
              <a:rPr spc="-5" dirty="0"/>
              <a:t> </a:t>
            </a:r>
            <a:r>
              <a:rPr spc="-25" dirty="0"/>
              <a:t>Technologies</a:t>
            </a:r>
            <a:r>
              <a:rPr spc="5" dirty="0"/>
              <a:t> </a:t>
            </a:r>
            <a:r>
              <a:rPr dirty="0"/>
              <a:t>|</a:t>
            </a:r>
            <a:r>
              <a:rPr spc="-5" dirty="0"/>
              <a:t> </a:t>
            </a:r>
            <a:r>
              <a:rPr spc="-10" dirty="0"/>
              <a:t>Application</a:t>
            </a:r>
            <a:r>
              <a:rPr spc="-15" dirty="0"/>
              <a:t> </a:t>
            </a:r>
            <a:r>
              <a:rPr spc="-20" dirty="0"/>
              <a:t>Development-</a:t>
            </a:r>
            <a:r>
              <a:rPr dirty="0"/>
              <a:t>II</a:t>
            </a:r>
            <a:r>
              <a:rPr spc="10" dirty="0"/>
              <a:t> </a:t>
            </a:r>
            <a:r>
              <a:rPr dirty="0"/>
              <a:t>PPT|</a:t>
            </a:r>
            <a:r>
              <a:rPr spc="-20" dirty="0"/>
              <a:t> </a:t>
            </a:r>
            <a:r>
              <a:rPr dirty="0"/>
              <a:t>III</a:t>
            </a:r>
            <a:r>
              <a:rPr spc="-20" dirty="0"/>
              <a:t> Year</a:t>
            </a:r>
            <a:r>
              <a:rPr dirty="0"/>
              <a:t> </a:t>
            </a:r>
            <a:r>
              <a:rPr spc="-55" dirty="0"/>
              <a:t>B.Tech-</a:t>
            </a:r>
            <a:r>
              <a:rPr dirty="0"/>
              <a:t>II</a:t>
            </a:r>
            <a:r>
              <a:rPr spc="-15" dirty="0"/>
              <a:t> </a:t>
            </a:r>
            <a:r>
              <a:rPr spc="-10" dirty="0"/>
              <a:t>Semester</a:t>
            </a: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9/20/2026</a:t>
            </a:fld>
            <a:endParaRPr lang="en-US"/>
          </a:p>
        </p:txBody>
      </p:sp>
      <p:sp>
        <p:nvSpPr>
          <p:cNvPr id="4" name="Holder 4"/>
          <p:cNvSpPr>
            <a:spLocks noGrp="1"/>
          </p:cNvSpPr>
          <p:nvPr>
            <p:ph type="sldNum" sz="quarter" idx="7"/>
          </p:nvPr>
        </p:nvSpPr>
        <p:spPr/>
        <p:txBody>
          <a:bodyPr lIns="0" tIns="0" rIns="0" bIns="0"/>
          <a:lstStyle>
            <a:lvl1pPr>
              <a:defRPr sz="1200" b="1" i="0">
                <a:solidFill>
                  <a:srgbClr val="C00000"/>
                </a:solidFill>
                <a:latin typeface="Calibri"/>
                <a:cs typeface="Calibri"/>
              </a:defRPr>
            </a:lvl1pPr>
          </a:lstStyle>
          <a:p>
            <a:pPr marL="38100">
              <a:lnSpc>
                <a:spcPts val="1240"/>
              </a:lnSpc>
            </a:pPr>
            <a:fld id="{81D60167-4931-47E6-BA6A-407CBD079E47}" type="slidenum">
              <a:rPr spc="-50" dirty="0"/>
              <a:t>‹#›</a:t>
            </a:fld>
            <a:endParaRPr spc="-5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381" y="381"/>
            <a:ext cx="12192000" cy="241935"/>
          </a:xfrm>
          <a:custGeom>
            <a:avLst/>
            <a:gdLst/>
            <a:ahLst/>
            <a:cxnLst/>
            <a:rect l="l" t="t" r="r" b="b"/>
            <a:pathLst>
              <a:path w="12192000" h="241935">
                <a:moveTo>
                  <a:pt x="12192000" y="0"/>
                </a:moveTo>
                <a:lnTo>
                  <a:pt x="0" y="0"/>
                </a:lnTo>
                <a:lnTo>
                  <a:pt x="0" y="241553"/>
                </a:lnTo>
                <a:lnTo>
                  <a:pt x="12192000" y="241553"/>
                </a:lnTo>
                <a:lnTo>
                  <a:pt x="12192000" y="0"/>
                </a:lnTo>
                <a:close/>
              </a:path>
            </a:pathLst>
          </a:custGeom>
          <a:solidFill>
            <a:srgbClr val="5B9BD4"/>
          </a:solidFill>
        </p:spPr>
        <p:txBody>
          <a:bodyPr wrap="square" lIns="0" tIns="0" rIns="0" bIns="0" rtlCol="0"/>
          <a:lstStyle/>
          <a:p>
            <a:endParaRPr/>
          </a:p>
        </p:txBody>
      </p:sp>
      <p:sp>
        <p:nvSpPr>
          <p:cNvPr id="17" name="bg object 17"/>
          <p:cNvSpPr/>
          <p:nvPr/>
        </p:nvSpPr>
        <p:spPr>
          <a:xfrm>
            <a:off x="381" y="381"/>
            <a:ext cx="12192000" cy="241935"/>
          </a:xfrm>
          <a:custGeom>
            <a:avLst/>
            <a:gdLst/>
            <a:ahLst/>
            <a:cxnLst/>
            <a:rect l="l" t="t" r="r" b="b"/>
            <a:pathLst>
              <a:path w="12192000" h="241935">
                <a:moveTo>
                  <a:pt x="0" y="241553"/>
                </a:moveTo>
                <a:lnTo>
                  <a:pt x="12192000" y="241553"/>
                </a:lnTo>
                <a:lnTo>
                  <a:pt x="12192000" y="0"/>
                </a:lnTo>
                <a:lnTo>
                  <a:pt x="0" y="0"/>
                </a:lnTo>
                <a:lnTo>
                  <a:pt x="0" y="241553"/>
                </a:lnTo>
                <a:close/>
              </a:path>
            </a:pathLst>
          </a:custGeom>
          <a:ln w="12953">
            <a:solidFill>
              <a:srgbClr val="41709C"/>
            </a:solidFill>
          </a:ln>
        </p:spPr>
        <p:txBody>
          <a:bodyPr wrap="square" lIns="0" tIns="0" rIns="0" bIns="0" rtlCol="0"/>
          <a:lstStyle/>
          <a:p>
            <a:endParaRPr/>
          </a:p>
        </p:txBody>
      </p:sp>
      <p:sp>
        <p:nvSpPr>
          <p:cNvPr id="18" name="bg object 18"/>
          <p:cNvSpPr/>
          <p:nvPr/>
        </p:nvSpPr>
        <p:spPr>
          <a:xfrm>
            <a:off x="381" y="6553581"/>
            <a:ext cx="12192000" cy="304800"/>
          </a:xfrm>
          <a:custGeom>
            <a:avLst/>
            <a:gdLst/>
            <a:ahLst/>
            <a:cxnLst/>
            <a:rect l="l" t="t" r="r" b="b"/>
            <a:pathLst>
              <a:path w="12192000" h="304800">
                <a:moveTo>
                  <a:pt x="12191619" y="0"/>
                </a:moveTo>
                <a:lnTo>
                  <a:pt x="0" y="0"/>
                </a:lnTo>
                <a:lnTo>
                  <a:pt x="0" y="304419"/>
                </a:lnTo>
                <a:lnTo>
                  <a:pt x="12191619" y="304419"/>
                </a:lnTo>
                <a:lnTo>
                  <a:pt x="12191619" y="0"/>
                </a:lnTo>
                <a:close/>
              </a:path>
            </a:pathLst>
          </a:custGeom>
          <a:solidFill>
            <a:srgbClr val="5B9BD4"/>
          </a:solidFill>
        </p:spPr>
        <p:txBody>
          <a:bodyPr wrap="square" lIns="0" tIns="0" rIns="0" bIns="0" rtlCol="0"/>
          <a:lstStyle/>
          <a:p>
            <a:endParaRPr/>
          </a:p>
        </p:txBody>
      </p:sp>
      <p:sp>
        <p:nvSpPr>
          <p:cNvPr id="19" name="bg object 19"/>
          <p:cNvSpPr/>
          <p:nvPr/>
        </p:nvSpPr>
        <p:spPr>
          <a:xfrm>
            <a:off x="381" y="6553581"/>
            <a:ext cx="12192000" cy="304800"/>
          </a:xfrm>
          <a:custGeom>
            <a:avLst/>
            <a:gdLst/>
            <a:ahLst/>
            <a:cxnLst/>
            <a:rect l="l" t="t" r="r" b="b"/>
            <a:pathLst>
              <a:path w="12192000" h="304800">
                <a:moveTo>
                  <a:pt x="12191619" y="0"/>
                </a:moveTo>
                <a:lnTo>
                  <a:pt x="0" y="0"/>
                </a:lnTo>
                <a:lnTo>
                  <a:pt x="0" y="304419"/>
                </a:lnTo>
              </a:path>
            </a:pathLst>
          </a:custGeom>
          <a:ln w="12954">
            <a:solidFill>
              <a:srgbClr val="FFD966"/>
            </a:solidFill>
          </a:ln>
        </p:spPr>
        <p:txBody>
          <a:bodyPr wrap="square" lIns="0" tIns="0" rIns="0" bIns="0" rtlCol="0"/>
          <a:lstStyle/>
          <a:p>
            <a:endParaRPr/>
          </a:p>
        </p:txBody>
      </p:sp>
      <p:sp>
        <p:nvSpPr>
          <p:cNvPr id="2" name="Holder 2"/>
          <p:cNvSpPr>
            <a:spLocks noGrp="1"/>
          </p:cNvSpPr>
          <p:nvPr>
            <p:ph type="title"/>
          </p:nvPr>
        </p:nvSpPr>
        <p:spPr>
          <a:xfrm>
            <a:off x="916939" y="657606"/>
            <a:ext cx="6793865" cy="695960"/>
          </a:xfrm>
          <a:prstGeom prst="rect">
            <a:avLst/>
          </a:prstGeom>
        </p:spPr>
        <p:txBody>
          <a:bodyPr wrap="square" lIns="0" tIns="0" rIns="0" bIns="0">
            <a:spAutoFit/>
          </a:bodyPr>
          <a:lstStyle>
            <a:lvl1pPr>
              <a:defRPr sz="4400" b="1" i="0">
                <a:solidFill>
                  <a:srgbClr val="001F5F"/>
                </a:solidFill>
                <a:latin typeface="Times New Roman"/>
                <a:cs typeface="Times New Roman"/>
              </a:defRPr>
            </a:lvl1pPr>
          </a:lstStyle>
          <a:p>
            <a:endParaRPr/>
          </a:p>
        </p:txBody>
      </p:sp>
      <p:sp>
        <p:nvSpPr>
          <p:cNvPr id="3" name="Holder 3"/>
          <p:cNvSpPr>
            <a:spLocks noGrp="1"/>
          </p:cNvSpPr>
          <p:nvPr>
            <p:ph type="body" idx="1"/>
          </p:nvPr>
        </p:nvSpPr>
        <p:spPr>
          <a:xfrm>
            <a:off x="916939" y="1764792"/>
            <a:ext cx="10358120" cy="3928110"/>
          </a:xfrm>
          <a:prstGeom prst="rect">
            <a:avLst/>
          </a:prstGeom>
        </p:spPr>
        <p:txBody>
          <a:bodyPr wrap="square" lIns="0" tIns="0" rIns="0" bIns="0">
            <a:spAutoFit/>
          </a:bodyPr>
          <a:lstStyle>
            <a:lvl1pPr>
              <a:defRPr sz="3600" b="0" i="0">
                <a:solidFill>
                  <a:schemeClr val="tx1"/>
                </a:solidFill>
                <a:latin typeface="Calibri"/>
                <a:cs typeface="Calibri"/>
              </a:defRPr>
            </a:lvl1pPr>
          </a:lstStyle>
          <a:p>
            <a:endParaRPr/>
          </a:p>
        </p:txBody>
      </p:sp>
      <p:sp>
        <p:nvSpPr>
          <p:cNvPr id="4" name="Holder 4"/>
          <p:cNvSpPr>
            <a:spLocks noGrp="1"/>
          </p:cNvSpPr>
          <p:nvPr>
            <p:ph type="ftr" sz="quarter" idx="5"/>
          </p:nvPr>
        </p:nvSpPr>
        <p:spPr>
          <a:xfrm>
            <a:off x="1034288" y="6603745"/>
            <a:ext cx="10123805" cy="254000"/>
          </a:xfrm>
          <a:prstGeom prst="rect">
            <a:avLst/>
          </a:prstGeom>
        </p:spPr>
        <p:txBody>
          <a:bodyPr wrap="square" lIns="0" tIns="0" rIns="0" bIns="0">
            <a:spAutoFit/>
          </a:bodyPr>
          <a:lstStyle>
            <a:lvl1pPr>
              <a:defRPr sz="1800" b="0" i="0">
                <a:solidFill>
                  <a:schemeClr val="tx1"/>
                </a:solidFill>
                <a:latin typeface="Calibri"/>
                <a:cs typeface="Calibri"/>
              </a:defRPr>
            </a:lvl1pPr>
          </a:lstStyle>
          <a:p>
            <a:pPr marL="12700">
              <a:lnSpc>
                <a:spcPts val="1710"/>
              </a:lnSpc>
            </a:pPr>
            <a:r>
              <a:rPr dirty="0"/>
              <a:t>MRCET</a:t>
            </a:r>
            <a:r>
              <a:rPr spc="-15" dirty="0"/>
              <a:t> </a:t>
            </a:r>
            <a:r>
              <a:rPr dirty="0"/>
              <a:t>|</a:t>
            </a:r>
            <a:r>
              <a:rPr spc="-15" dirty="0"/>
              <a:t> </a:t>
            </a:r>
            <a:r>
              <a:rPr spc="-10" dirty="0"/>
              <a:t>Department</a:t>
            </a:r>
            <a:r>
              <a:rPr dirty="0"/>
              <a:t> of Emerging</a:t>
            </a:r>
            <a:r>
              <a:rPr spc="-5" dirty="0"/>
              <a:t> </a:t>
            </a:r>
            <a:r>
              <a:rPr spc="-25" dirty="0"/>
              <a:t>Technologies</a:t>
            </a:r>
            <a:r>
              <a:rPr spc="5" dirty="0"/>
              <a:t> </a:t>
            </a:r>
            <a:r>
              <a:rPr dirty="0"/>
              <a:t>|</a:t>
            </a:r>
            <a:r>
              <a:rPr spc="-5" dirty="0"/>
              <a:t> </a:t>
            </a:r>
            <a:r>
              <a:rPr spc="-10" dirty="0"/>
              <a:t>Application</a:t>
            </a:r>
            <a:r>
              <a:rPr spc="-15" dirty="0"/>
              <a:t> </a:t>
            </a:r>
            <a:r>
              <a:rPr spc="-20" dirty="0"/>
              <a:t>Development-</a:t>
            </a:r>
            <a:r>
              <a:rPr dirty="0"/>
              <a:t>II</a:t>
            </a:r>
            <a:r>
              <a:rPr spc="10" dirty="0"/>
              <a:t> </a:t>
            </a:r>
            <a:r>
              <a:rPr dirty="0"/>
              <a:t>PPT|</a:t>
            </a:r>
            <a:r>
              <a:rPr spc="-20" dirty="0"/>
              <a:t> </a:t>
            </a:r>
            <a:r>
              <a:rPr dirty="0"/>
              <a:t>III</a:t>
            </a:r>
            <a:r>
              <a:rPr spc="-20" dirty="0"/>
              <a:t> Year</a:t>
            </a:r>
            <a:r>
              <a:rPr dirty="0"/>
              <a:t> </a:t>
            </a:r>
            <a:r>
              <a:rPr spc="-55" dirty="0"/>
              <a:t>B.Tech-</a:t>
            </a:r>
            <a:r>
              <a:rPr dirty="0"/>
              <a:t>II</a:t>
            </a:r>
            <a:r>
              <a:rPr spc="-15" dirty="0"/>
              <a:t> </a:t>
            </a:r>
            <a:r>
              <a:rPr spc="-10" dirty="0"/>
              <a:t>Semester</a:t>
            </a: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9/20/2026</a:t>
            </a:fld>
            <a:endParaRPr lang="en-US"/>
          </a:p>
        </p:txBody>
      </p:sp>
      <p:sp>
        <p:nvSpPr>
          <p:cNvPr id="6" name="Holder 6"/>
          <p:cNvSpPr>
            <a:spLocks noGrp="1"/>
          </p:cNvSpPr>
          <p:nvPr>
            <p:ph type="sldNum" sz="quarter" idx="7"/>
          </p:nvPr>
        </p:nvSpPr>
        <p:spPr>
          <a:xfrm>
            <a:off x="11603735" y="6284214"/>
            <a:ext cx="166370" cy="177800"/>
          </a:xfrm>
          <a:prstGeom prst="rect">
            <a:avLst/>
          </a:prstGeom>
        </p:spPr>
        <p:txBody>
          <a:bodyPr wrap="square" lIns="0" tIns="0" rIns="0" bIns="0">
            <a:spAutoFit/>
          </a:bodyPr>
          <a:lstStyle>
            <a:lvl1pPr>
              <a:defRPr sz="1200" b="1" i="0">
                <a:solidFill>
                  <a:srgbClr val="C00000"/>
                </a:solidFill>
                <a:latin typeface="Calibri"/>
                <a:cs typeface="Calibri"/>
              </a:defRPr>
            </a:lvl1pPr>
          </a:lstStyle>
          <a:p>
            <a:pPr marL="38100">
              <a:lnSpc>
                <a:spcPts val="1240"/>
              </a:lnSpc>
            </a:pPr>
            <a:fld id="{81D60167-4931-47E6-BA6A-407CBD079E47}" type="slidenum">
              <a:rPr spc="-50" dirty="0"/>
              <a:t>‹#›</a:t>
            </a:fld>
            <a:endParaRPr spc="-50"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1.jp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1.jp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1.jp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380" y="380"/>
            <a:ext cx="12192000" cy="241935"/>
          </a:xfrm>
          <a:custGeom>
            <a:avLst/>
            <a:gdLst/>
            <a:ahLst/>
            <a:cxnLst/>
            <a:rect l="l" t="t" r="r" b="b"/>
            <a:pathLst>
              <a:path w="12192000" h="241935">
                <a:moveTo>
                  <a:pt x="0" y="241553"/>
                </a:moveTo>
                <a:lnTo>
                  <a:pt x="12192000" y="241553"/>
                </a:lnTo>
                <a:lnTo>
                  <a:pt x="12192000" y="0"/>
                </a:lnTo>
                <a:lnTo>
                  <a:pt x="0" y="0"/>
                </a:lnTo>
                <a:lnTo>
                  <a:pt x="0" y="241553"/>
                </a:lnTo>
                <a:close/>
              </a:path>
            </a:pathLst>
          </a:custGeom>
          <a:ln w="12953">
            <a:solidFill>
              <a:srgbClr val="41709C"/>
            </a:solidFill>
          </a:ln>
        </p:spPr>
        <p:txBody>
          <a:bodyPr wrap="square" lIns="0" tIns="0" rIns="0" bIns="0" rtlCol="0"/>
          <a:lstStyle/>
          <a:p>
            <a:endParaRPr/>
          </a:p>
        </p:txBody>
      </p:sp>
      <p:sp>
        <p:nvSpPr>
          <p:cNvPr id="3" name="object 3"/>
          <p:cNvSpPr/>
          <p:nvPr/>
        </p:nvSpPr>
        <p:spPr>
          <a:xfrm>
            <a:off x="380" y="6553581"/>
            <a:ext cx="12192000" cy="304800"/>
          </a:xfrm>
          <a:custGeom>
            <a:avLst/>
            <a:gdLst/>
            <a:ahLst/>
            <a:cxnLst/>
            <a:rect l="l" t="t" r="r" b="b"/>
            <a:pathLst>
              <a:path w="12192000" h="304800">
                <a:moveTo>
                  <a:pt x="12191619" y="0"/>
                </a:moveTo>
                <a:lnTo>
                  <a:pt x="0" y="0"/>
                </a:lnTo>
                <a:lnTo>
                  <a:pt x="0" y="304419"/>
                </a:lnTo>
              </a:path>
            </a:pathLst>
          </a:custGeom>
          <a:ln w="12954">
            <a:solidFill>
              <a:srgbClr val="FFD966"/>
            </a:solidFill>
          </a:ln>
        </p:spPr>
        <p:txBody>
          <a:bodyPr wrap="square" lIns="0" tIns="0" rIns="0" bIns="0" rtlCol="0"/>
          <a:lstStyle/>
          <a:p>
            <a:endParaRPr/>
          </a:p>
        </p:txBody>
      </p:sp>
      <p:sp>
        <p:nvSpPr>
          <p:cNvPr id="4" name="object 4"/>
          <p:cNvSpPr txBox="1"/>
          <p:nvPr/>
        </p:nvSpPr>
        <p:spPr>
          <a:xfrm>
            <a:off x="1046988" y="6616445"/>
            <a:ext cx="10098405" cy="228600"/>
          </a:xfrm>
          <a:prstGeom prst="rect">
            <a:avLst/>
          </a:prstGeom>
        </p:spPr>
        <p:txBody>
          <a:bodyPr vert="horz" wrap="square" lIns="0" tIns="0" rIns="0" bIns="0" rtlCol="0">
            <a:spAutoFit/>
          </a:bodyPr>
          <a:lstStyle/>
          <a:p>
            <a:pPr>
              <a:lnSpc>
                <a:spcPts val="1710"/>
              </a:lnSpc>
            </a:pPr>
            <a:r>
              <a:rPr sz="1800" dirty="0">
                <a:latin typeface="Calibri"/>
                <a:cs typeface="Calibri"/>
              </a:rPr>
              <a:t>MRCET</a:t>
            </a:r>
            <a:r>
              <a:rPr sz="1800" spc="-15" dirty="0">
                <a:latin typeface="Calibri"/>
                <a:cs typeface="Calibri"/>
              </a:rPr>
              <a:t> </a:t>
            </a:r>
            <a:r>
              <a:rPr sz="1800" dirty="0">
                <a:latin typeface="Calibri"/>
                <a:cs typeface="Calibri"/>
              </a:rPr>
              <a:t>|</a:t>
            </a:r>
            <a:r>
              <a:rPr sz="1800" spc="-10" dirty="0">
                <a:latin typeface="Calibri"/>
                <a:cs typeface="Calibri"/>
              </a:rPr>
              <a:t> Department</a:t>
            </a:r>
            <a:r>
              <a:rPr sz="1800" dirty="0">
                <a:latin typeface="Calibri"/>
                <a:cs typeface="Calibri"/>
              </a:rPr>
              <a:t> of Emerging</a:t>
            </a:r>
            <a:r>
              <a:rPr sz="1800" spc="-5" dirty="0">
                <a:latin typeface="Calibri"/>
                <a:cs typeface="Calibri"/>
              </a:rPr>
              <a:t> </a:t>
            </a:r>
            <a:r>
              <a:rPr sz="1800" spc="-25" dirty="0">
                <a:latin typeface="Calibri"/>
                <a:cs typeface="Calibri"/>
              </a:rPr>
              <a:t>Technologies</a:t>
            </a:r>
            <a:r>
              <a:rPr sz="1800" spc="10" dirty="0">
                <a:latin typeface="Calibri"/>
                <a:cs typeface="Calibri"/>
              </a:rPr>
              <a:t> </a:t>
            </a:r>
            <a:r>
              <a:rPr sz="1800" dirty="0">
                <a:latin typeface="Calibri"/>
                <a:cs typeface="Calibri"/>
              </a:rPr>
              <a:t>|</a:t>
            </a:r>
            <a:r>
              <a:rPr sz="1800" spc="-10" dirty="0">
                <a:latin typeface="Calibri"/>
                <a:cs typeface="Calibri"/>
              </a:rPr>
              <a:t> Application </a:t>
            </a:r>
            <a:r>
              <a:rPr sz="1800" spc="-20" dirty="0">
                <a:latin typeface="Calibri"/>
                <a:cs typeface="Calibri"/>
              </a:rPr>
              <a:t>Development-</a:t>
            </a:r>
            <a:r>
              <a:rPr sz="1800" dirty="0">
                <a:latin typeface="Calibri"/>
                <a:cs typeface="Calibri"/>
              </a:rPr>
              <a:t>II</a:t>
            </a:r>
            <a:r>
              <a:rPr sz="1800" spc="10" dirty="0">
                <a:latin typeface="Calibri"/>
                <a:cs typeface="Calibri"/>
              </a:rPr>
              <a:t> </a:t>
            </a:r>
            <a:r>
              <a:rPr sz="1800" dirty="0">
                <a:latin typeface="Calibri"/>
                <a:cs typeface="Calibri"/>
              </a:rPr>
              <a:t>PPT|</a:t>
            </a:r>
            <a:r>
              <a:rPr sz="1800" spc="-20" dirty="0">
                <a:latin typeface="Calibri"/>
                <a:cs typeface="Calibri"/>
              </a:rPr>
              <a:t> </a:t>
            </a:r>
            <a:r>
              <a:rPr sz="1800" dirty="0">
                <a:latin typeface="Calibri"/>
                <a:cs typeface="Calibri"/>
              </a:rPr>
              <a:t>III</a:t>
            </a:r>
            <a:r>
              <a:rPr sz="1800" spc="-20" dirty="0">
                <a:latin typeface="Calibri"/>
                <a:cs typeface="Calibri"/>
              </a:rPr>
              <a:t> Year</a:t>
            </a:r>
            <a:r>
              <a:rPr sz="1800" spc="5" dirty="0">
                <a:latin typeface="Calibri"/>
                <a:cs typeface="Calibri"/>
              </a:rPr>
              <a:t> </a:t>
            </a:r>
            <a:r>
              <a:rPr sz="1800" spc="-55" dirty="0">
                <a:latin typeface="Calibri"/>
                <a:cs typeface="Calibri"/>
              </a:rPr>
              <a:t>B.Tech-</a:t>
            </a:r>
            <a:r>
              <a:rPr sz="1800" dirty="0">
                <a:latin typeface="Calibri"/>
                <a:cs typeface="Calibri"/>
              </a:rPr>
              <a:t>II</a:t>
            </a:r>
            <a:r>
              <a:rPr sz="1800" spc="-15" dirty="0">
                <a:latin typeface="Calibri"/>
                <a:cs typeface="Calibri"/>
              </a:rPr>
              <a:t> </a:t>
            </a:r>
            <a:r>
              <a:rPr sz="1800" spc="-10" dirty="0">
                <a:latin typeface="Calibri"/>
                <a:cs typeface="Calibri"/>
              </a:rPr>
              <a:t>Semester</a:t>
            </a:r>
            <a:endParaRPr sz="1800">
              <a:latin typeface="Calibri"/>
              <a:cs typeface="Calibri"/>
            </a:endParaRPr>
          </a:p>
        </p:txBody>
      </p:sp>
      <p:grpSp>
        <p:nvGrpSpPr>
          <p:cNvPr id="5" name="object 5"/>
          <p:cNvGrpSpPr/>
          <p:nvPr/>
        </p:nvGrpSpPr>
        <p:grpSpPr>
          <a:xfrm>
            <a:off x="-6095" y="-6095"/>
            <a:ext cx="12205335" cy="828675"/>
            <a:chOff x="-6095" y="-6095"/>
            <a:chExt cx="12205335" cy="828675"/>
          </a:xfrm>
        </p:grpSpPr>
        <p:pic>
          <p:nvPicPr>
            <p:cNvPr id="6" name="object 6"/>
            <p:cNvPicPr/>
            <p:nvPr/>
          </p:nvPicPr>
          <p:blipFill>
            <a:blip r:embed="rId2" cstate="print"/>
            <a:stretch>
              <a:fillRect/>
            </a:stretch>
          </p:blipFill>
          <p:spPr>
            <a:xfrm>
              <a:off x="11353799" y="0"/>
              <a:ext cx="822198" cy="822198"/>
            </a:xfrm>
            <a:prstGeom prst="rect">
              <a:avLst/>
            </a:prstGeom>
          </p:spPr>
        </p:pic>
        <p:sp>
          <p:nvSpPr>
            <p:cNvPr id="7" name="object 7"/>
            <p:cNvSpPr/>
            <p:nvPr/>
          </p:nvSpPr>
          <p:spPr>
            <a:xfrm>
              <a:off x="381" y="381"/>
              <a:ext cx="12192000" cy="241935"/>
            </a:xfrm>
            <a:custGeom>
              <a:avLst/>
              <a:gdLst/>
              <a:ahLst/>
              <a:cxnLst/>
              <a:rect l="l" t="t" r="r" b="b"/>
              <a:pathLst>
                <a:path w="12192000" h="241935">
                  <a:moveTo>
                    <a:pt x="0" y="241553"/>
                  </a:moveTo>
                  <a:lnTo>
                    <a:pt x="12192000" y="241553"/>
                  </a:lnTo>
                  <a:lnTo>
                    <a:pt x="12192000" y="0"/>
                  </a:lnTo>
                  <a:lnTo>
                    <a:pt x="0" y="0"/>
                  </a:lnTo>
                  <a:lnTo>
                    <a:pt x="0" y="241553"/>
                  </a:lnTo>
                  <a:close/>
                </a:path>
              </a:pathLst>
            </a:custGeom>
            <a:ln w="12953">
              <a:solidFill>
                <a:srgbClr val="41709C"/>
              </a:solidFill>
            </a:ln>
          </p:spPr>
          <p:txBody>
            <a:bodyPr wrap="square" lIns="0" tIns="0" rIns="0" bIns="0" rtlCol="0"/>
            <a:lstStyle/>
            <a:p>
              <a:endParaRPr/>
            </a:p>
          </p:txBody>
        </p:sp>
      </p:grpSp>
      <p:sp>
        <p:nvSpPr>
          <p:cNvPr id="8" name="object 8"/>
          <p:cNvSpPr/>
          <p:nvPr/>
        </p:nvSpPr>
        <p:spPr>
          <a:xfrm>
            <a:off x="380" y="6553581"/>
            <a:ext cx="12192000" cy="304800"/>
          </a:xfrm>
          <a:custGeom>
            <a:avLst/>
            <a:gdLst/>
            <a:ahLst/>
            <a:cxnLst/>
            <a:rect l="l" t="t" r="r" b="b"/>
            <a:pathLst>
              <a:path w="12192000" h="304800">
                <a:moveTo>
                  <a:pt x="12191619" y="0"/>
                </a:moveTo>
                <a:lnTo>
                  <a:pt x="0" y="0"/>
                </a:lnTo>
                <a:lnTo>
                  <a:pt x="0" y="304419"/>
                </a:lnTo>
              </a:path>
            </a:pathLst>
          </a:custGeom>
          <a:ln w="12954">
            <a:solidFill>
              <a:srgbClr val="FFD966"/>
            </a:solidFill>
          </a:ln>
        </p:spPr>
        <p:txBody>
          <a:bodyPr wrap="square" lIns="0" tIns="0" rIns="0" bIns="0" rtlCol="0"/>
          <a:lstStyle/>
          <a:p>
            <a:endParaRPr/>
          </a:p>
        </p:txBody>
      </p:sp>
      <p:sp>
        <p:nvSpPr>
          <p:cNvPr id="9" name="object 9"/>
          <p:cNvSpPr txBox="1"/>
          <p:nvPr/>
        </p:nvSpPr>
        <p:spPr>
          <a:xfrm>
            <a:off x="1046988" y="6616445"/>
            <a:ext cx="10098405" cy="228600"/>
          </a:xfrm>
          <a:prstGeom prst="rect">
            <a:avLst/>
          </a:prstGeom>
        </p:spPr>
        <p:txBody>
          <a:bodyPr vert="horz" wrap="square" lIns="0" tIns="0" rIns="0" bIns="0" rtlCol="0">
            <a:spAutoFit/>
          </a:bodyPr>
          <a:lstStyle/>
          <a:p>
            <a:pPr>
              <a:lnSpc>
                <a:spcPts val="1710"/>
              </a:lnSpc>
            </a:pPr>
            <a:r>
              <a:rPr sz="1800" dirty="0">
                <a:latin typeface="Calibri"/>
                <a:cs typeface="Calibri"/>
              </a:rPr>
              <a:t>MRCET</a:t>
            </a:r>
            <a:r>
              <a:rPr sz="1800" spc="-15" dirty="0">
                <a:latin typeface="Calibri"/>
                <a:cs typeface="Calibri"/>
              </a:rPr>
              <a:t> </a:t>
            </a:r>
            <a:r>
              <a:rPr sz="1800" dirty="0">
                <a:latin typeface="Calibri"/>
                <a:cs typeface="Calibri"/>
              </a:rPr>
              <a:t>|</a:t>
            </a:r>
            <a:r>
              <a:rPr sz="1800" spc="-10" dirty="0">
                <a:latin typeface="Calibri"/>
                <a:cs typeface="Calibri"/>
              </a:rPr>
              <a:t> Department</a:t>
            </a:r>
            <a:r>
              <a:rPr sz="1800" dirty="0">
                <a:latin typeface="Calibri"/>
                <a:cs typeface="Calibri"/>
              </a:rPr>
              <a:t> of Emerging</a:t>
            </a:r>
            <a:r>
              <a:rPr sz="1800" spc="-5" dirty="0">
                <a:latin typeface="Calibri"/>
                <a:cs typeface="Calibri"/>
              </a:rPr>
              <a:t> </a:t>
            </a:r>
            <a:r>
              <a:rPr sz="1800" spc="-25" dirty="0">
                <a:latin typeface="Calibri"/>
                <a:cs typeface="Calibri"/>
              </a:rPr>
              <a:t>Technologies</a:t>
            </a:r>
            <a:r>
              <a:rPr sz="1800" spc="10" dirty="0">
                <a:latin typeface="Calibri"/>
                <a:cs typeface="Calibri"/>
              </a:rPr>
              <a:t> </a:t>
            </a:r>
            <a:r>
              <a:rPr sz="1800" dirty="0">
                <a:latin typeface="Calibri"/>
                <a:cs typeface="Calibri"/>
              </a:rPr>
              <a:t>|</a:t>
            </a:r>
            <a:r>
              <a:rPr sz="1800" spc="-10" dirty="0">
                <a:latin typeface="Calibri"/>
                <a:cs typeface="Calibri"/>
              </a:rPr>
              <a:t> Application </a:t>
            </a:r>
            <a:r>
              <a:rPr sz="1800" spc="-20" dirty="0">
                <a:latin typeface="Calibri"/>
                <a:cs typeface="Calibri"/>
              </a:rPr>
              <a:t>Development-</a:t>
            </a:r>
            <a:r>
              <a:rPr sz="1800" dirty="0">
                <a:latin typeface="Calibri"/>
                <a:cs typeface="Calibri"/>
              </a:rPr>
              <a:t>II</a:t>
            </a:r>
            <a:r>
              <a:rPr sz="1800" spc="10" dirty="0">
                <a:latin typeface="Calibri"/>
                <a:cs typeface="Calibri"/>
              </a:rPr>
              <a:t> </a:t>
            </a:r>
            <a:r>
              <a:rPr sz="1800" dirty="0">
                <a:latin typeface="Calibri"/>
                <a:cs typeface="Calibri"/>
              </a:rPr>
              <a:t>PPT|</a:t>
            </a:r>
            <a:r>
              <a:rPr sz="1800" spc="-20" dirty="0">
                <a:latin typeface="Calibri"/>
                <a:cs typeface="Calibri"/>
              </a:rPr>
              <a:t> </a:t>
            </a:r>
            <a:r>
              <a:rPr sz="1800" dirty="0">
                <a:latin typeface="Calibri"/>
                <a:cs typeface="Calibri"/>
              </a:rPr>
              <a:t>III</a:t>
            </a:r>
            <a:r>
              <a:rPr sz="1800" spc="-20" dirty="0">
                <a:latin typeface="Calibri"/>
                <a:cs typeface="Calibri"/>
              </a:rPr>
              <a:t> Year</a:t>
            </a:r>
            <a:r>
              <a:rPr sz="1800" spc="5" dirty="0">
                <a:latin typeface="Calibri"/>
                <a:cs typeface="Calibri"/>
              </a:rPr>
              <a:t> </a:t>
            </a:r>
            <a:r>
              <a:rPr sz="1800" spc="-55" dirty="0">
                <a:latin typeface="Calibri"/>
                <a:cs typeface="Calibri"/>
              </a:rPr>
              <a:t>B.Tech-</a:t>
            </a:r>
            <a:r>
              <a:rPr sz="1800" dirty="0">
                <a:latin typeface="Calibri"/>
                <a:cs typeface="Calibri"/>
              </a:rPr>
              <a:t>II</a:t>
            </a:r>
            <a:r>
              <a:rPr sz="1800" spc="-15" dirty="0">
                <a:latin typeface="Calibri"/>
                <a:cs typeface="Calibri"/>
              </a:rPr>
              <a:t> </a:t>
            </a:r>
            <a:r>
              <a:rPr sz="1800" spc="-10" dirty="0">
                <a:latin typeface="Calibri"/>
                <a:cs typeface="Calibri"/>
              </a:rPr>
              <a:t>Semester</a:t>
            </a:r>
            <a:endParaRPr sz="1800">
              <a:latin typeface="Calibri"/>
              <a:cs typeface="Calibri"/>
            </a:endParaRPr>
          </a:p>
        </p:txBody>
      </p:sp>
      <p:grpSp>
        <p:nvGrpSpPr>
          <p:cNvPr id="10" name="object 10"/>
          <p:cNvGrpSpPr/>
          <p:nvPr/>
        </p:nvGrpSpPr>
        <p:grpSpPr>
          <a:xfrm>
            <a:off x="0" y="0"/>
            <a:ext cx="12192000" cy="1408430"/>
            <a:chOff x="0" y="0"/>
            <a:chExt cx="12192000" cy="1408430"/>
          </a:xfrm>
        </p:grpSpPr>
        <p:pic>
          <p:nvPicPr>
            <p:cNvPr id="11" name="object 11"/>
            <p:cNvPicPr/>
            <p:nvPr/>
          </p:nvPicPr>
          <p:blipFill>
            <a:blip r:embed="rId2" cstate="print"/>
            <a:stretch>
              <a:fillRect/>
            </a:stretch>
          </p:blipFill>
          <p:spPr>
            <a:xfrm>
              <a:off x="11353800" y="0"/>
              <a:ext cx="822198" cy="822198"/>
            </a:xfrm>
            <a:prstGeom prst="rect">
              <a:avLst/>
            </a:prstGeom>
          </p:spPr>
        </p:pic>
        <p:sp>
          <p:nvSpPr>
            <p:cNvPr id="12" name="object 12"/>
            <p:cNvSpPr/>
            <p:nvPr/>
          </p:nvSpPr>
          <p:spPr>
            <a:xfrm>
              <a:off x="0" y="0"/>
              <a:ext cx="12192000" cy="266065"/>
            </a:xfrm>
            <a:custGeom>
              <a:avLst/>
              <a:gdLst/>
              <a:ahLst/>
              <a:cxnLst/>
              <a:rect l="l" t="t" r="r" b="b"/>
              <a:pathLst>
                <a:path w="12192000" h="266065">
                  <a:moveTo>
                    <a:pt x="0" y="265556"/>
                  </a:moveTo>
                  <a:lnTo>
                    <a:pt x="12192000" y="265556"/>
                  </a:lnTo>
                  <a:lnTo>
                    <a:pt x="12192000" y="0"/>
                  </a:lnTo>
                  <a:lnTo>
                    <a:pt x="0" y="0"/>
                  </a:lnTo>
                  <a:lnTo>
                    <a:pt x="0" y="265556"/>
                  </a:lnTo>
                  <a:close/>
                </a:path>
              </a:pathLst>
            </a:custGeom>
            <a:solidFill>
              <a:srgbClr val="5B9BD4"/>
            </a:solidFill>
          </p:spPr>
          <p:txBody>
            <a:bodyPr wrap="square" lIns="0" tIns="0" rIns="0" bIns="0" rtlCol="0"/>
            <a:lstStyle/>
            <a:p>
              <a:endParaRPr/>
            </a:p>
          </p:txBody>
        </p:sp>
        <p:sp>
          <p:nvSpPr>
            <p:cNvPr id="13" name="object 13"/>
            <p:cNvSpPr/>
            <p:nvPr/>
          </p:nvSpPr>
          <p:spPr>
            <a:xfrm>
              <a:off x="0" y="259079"/>
              <a:ext cx="12192000" cy="13335"/>
            </a:xfrm>
            <a:custGeom>
              <a:avLst/>
              <a:gdLst/>
              <a:ahLst/>
              <a:cxnLst/>
              <a:rect l="l" t="t" r="r" b="b"/>
              <a:pathLst>
                <a:path w="12192000" h="13335">
                  <a:moveTo>
                    <a:pt x="0" y="12953"/>
                  </a:moveTo>
                  <a:lnTo>
                    <a:pt x="12192000" y="12953"/>
                  </a:lnTo>
                  <a:lnTo>
                    <a:pt x="12192000" y="0"/>
                  </a:lnTo>
                  <a:lnTo>
                    <a:pt x="0" y="0"/>
                  </a:lnTo>
                  <a:lnTo>
                    <a:pt x="0" y="12953"/>
                  </a:lnTo>
                  <a:close/>
                </a:path>
              </a:pathLst>
            </a:custGeom>
            <a:solidFill>
              <a:srgbClr val="41709C"/>
            </a:solidFill>
          </p:spPr>
          <p:txBody>
            <a:bodyPr wrap="square" lIns="0" tIns="0" rIns="0" bIns="0" rtlCol="0"/>
            <a:lstStyle/>
            <a:p>
              <a:endParaRPr/>
            </a:p>
          </p:txBody>
        </p:sp>
        <p:sp>
          <p:nvSpPr>
            <p:cNvPr id="14" name="object 14"/>
            <p:cNvSpPr/>
            <p:nvPr/>
          </p:nvSpPr>
          <p:spPr>
            <a:xfrm>
              <a:off x="11261979" y="270129"/>
              <a:ext cx="914400" cy="551180"/>
            </a:xfrm>
            <a:custGeom>
              <a:avLst/>
              <a:gdLst/>
              <a:ahLst/>
              <a:cxnLst/>
              <a:rect l="l" t="t" r="r" b="b"/>
              <a:pathLst>
                <a:path w="914400" h="551180">
                  <a:moveTo>
                    <a:pt x="914400" y="0"/>
                  </a:moveTo>
                  <a:lnTo>
                    <a:pt x="0" y="0"/>
                  </a:lnTo>
                  <a:lnTo>
                    <a:pt x="0" y="550926"/>
                  </a:lnTo>
                  <a:lnTo>
                    <a:pt x="914400" y="550926"/>
                  </a:lnTo>
                  <a:lnTo>
                    <a:pt x="914400" y="0"/>
                  </a:lnTo>
                  <a:close/>
                </a:path>
              </a:pathLst>
            </a:custGeom>
            <a:solidFill>
              <a:srgbClr val="FFFFFF"/>
            </a:solidFill>
          </p:spPr>
          <p:txBody>
            <a:bodyPr wrap="square" lIns="0" tIns="0" rIns="0" bIns="0" rtlCol="0"/>
            <a:lstStyle/>
            <a:p>
              <a:endParaRPr/>
            </a:p>
          </p:txBody>
        </p:sp>
        <p:sp>
          <p:nvSpPr>
            <p:cNvPr id="15" name="object 15"/>
            <p:cNvSpPr/>
            <p:nvPr/>
          </p:nvSpPr>
          <p:spPr>
            <a:xfrm>
              <a:off x="11261979" y="270129"/>
              <a:ext cx="914400" cy="551180"/>
            </a:xfrm>
            <a:custGeom>
              <a:avLst/>
              <a:gdLst/>
              <a:ahLst/>
              <a:cxnLst/>
              <a:rect l="l" t="t" r="r" b="b"/>
              <a:pathLst>
                <a:path w="914400" h="551180">
                  <a:moveTo>
                    <a:pt x="0" y="550926"/>
                  </a:moveTo>
                  <a:lnTo>
                    <a:pt x="914400" y="550926"/>
                  </a:lnTo>
                  <a:lnTo>
                    <a:pt x="914400" y="0"/>
                  </a:lnTo>
                  <a:lnTo>
                    <a:pt x="0" y="0"/>
                  </a:lnTo>
                  <a:lnTo>
                    <a:pt x="0" y="550926"/>
                  </a:lnTo>
                  <a:close/>
                </a:path>
              </a:pathLst>
            </a:custGeom>
            <a:ln w="12954">
              <a:solidFill>
                <a:srgbClr val="FFFFFF"/>
              </a:solidFill>
            </a:ln>
          </p:spPr>
          <p:txBody>
            <a:bodyPr wrap="square" lIns="0" tIns="0" rIns="0" bIns="0" rtlCol="0"/>
            <a:lstStyle/>
            <a:p>
              <a:endParaRPr/>
            </a:p>
          </p:txBody>
        </p:sp>
        <p:pic>
          <p:nvPicPr>
            <p:cNvPr id="16" name="object 16"/>
            <p:cNvPicPr/>
            <p:nvPr/>
          </p:nvPicPr>
          <p:blipFill>
            <a:blip r:embed="rId3" cstate="print"/>
            <a:stretch>
              <a:fillRect/>
            </a:stretch>
          </p:blipFill>
          <p:spPr>
            <a:xfrm>
              <a:off x="2138401" y="741426"/>
              <a:ext cx="8564420" cy="666750"/>
            </a:xfrm>
            <a:prstGeom prst="rect">
              <a:avLst/>
            </a:prstGeom>
          </p:spPr>
        </p:pic>
      </p:grpSp>
      <p:sp>
        <p:nvSpPr>
          <p:cNvPr id="17" name="object 17"/>
          <p:cNvSpPr txBox="1"/>
          <p:nvPr/>
        </p:nvSpPr>
        <p:spPr>
          <a:xfrm>
            <a:off x="11629135" y="6246114"/>
            <a:ext cx="102870" cy="208279"/>
          </a:xfrm>
          <a:prstGeom prst="rect">
            <a:avLst/>
          </a:prstGeom>
        </p:spPr>
        <p:txBody>
          <a:bodyPr vert="horz" wrap="square" lIns="0" tIns="12700" rIns="0" bIns="0" rtlCol="0">
            <a:spAutoFit/>
          </a:bodyPr>
          <a:lstStyle/>
          <a:p>
            <a:pPr marL="12700">
              <a:lnSpc>
                <a:spcPct val="100000"/>
              </a:lnSpc>
              <a:spcBef>
                <a:spcPts val="100"/>
              </a:spcBef>
            </a:pPr>
            <a:r>
              <a:rPr sz="1200" b="1" spc="-50" dirty="0">
                <a:solidFill>
                  <a:srgbClr val="C00000"/>
                </a:solidFill>
                <a:latin typeface="Calibri"/>
                <a:cs typeface="Calibri"/>
              </a:rPr>
              <a:t>1</a:t>
            </a:r>
            <a:endParaRPr sz="1200">
              <a:latin typeface="Calibri"/>
              <a:cs typeface="Calibri"/>
            </a:endParaRPr>
          </a:p>
        </p:txBody>
      </p:sp>
      <p:grpSp>
        <p:nvGrpSpPr>
          <p:cNvPr id="18" name="object 18"/>
          <p:cNvGrpSpPr/>
          <p:nvPr/>
        </p:nvGrpSpPr>
        <p:grpSpPr>
          <a:xfrm>
            <a:off x="-6095" y="6470903"/>
            <a:ext cx="12204700" cy="393700"/>
            <a:chOff x="-6095" y="6470903"/>
            <a:chExt cx="12204700" cy="393700"/>
          </a:xfrm>
        </p:grpSpPr>
        <p:sp>
          <p:nvSpPr>
            <p:cNvPr id="19" name="object 19"/>
            <p:cNvSpPr/>
            <p:nvPr/>
          </p:nvSpPr>
          <p:spPr>
            <a:xfrm>
              <a:off x="381" y="6477380"/>
              <a:ext cx="12192000" cy="381000"/>
            </a:xfrm>
            <a:custGeom>
              <a:avLst/>
              <a:gdLst/>
              <a:ahLst/>
              <a:cxnLst/>
              <a:rect l="l" t="t" r="r" b="b"/>
              <a:pathLst>
                <a:path w="12192000" h="381000">
                  <a:moveTo>
                    <a:pt x="12191619" y="0"/>
                  </a:moveTo>
                  <a:lnTo>
                    <a:pt x="0" y="0"/>
                  </a:lnTo>
                  <a:lnTo>
                    <a:pt x="0" y="380619"/>
                  </a:lnTo>
                  <a:lnTo>
                    <a:pt x="12191619" y="380619"/>
                  </a:lnTo>
                  <a:lnTo>
                    <a:pt x="12191619" y="0"/>
                  </a:lnTo>
                  <a:close/>
                </a:path>
              </a:pathLst>
            </a:custGeom>
            <a:solidFill>
              <a:srgbClr val="5B9BD4"/>
            </a:solidFill>
          </p:spPr>
          <p:txBody>
            <a:bodyPr wrap="square" lIns="0" tIns="0" rIns="0" bIns="0" rtlCol="0"/>
            <a:lstStyle/>
            <a:p>
              <a:endParaRPr/>
            </a:p>
          </p:txBody>
        </p:sp>
        <p:sp>
          <p:nvSpPr>
            <p:cNvPr id="20" name="object 20"/>
            <p:cNvSpPr/>
            <p:nvPr/>
          </p:nvSpPr>
          <p:spPr>
            <a:xfrm>
              <a:off x="381" y="6477380"/>
              <a:ext cx="12192000" cy="381000"/>
            </a:xfrm>
            <a:custGeom>
              <a:avLst/>
              <a:gdLst/>
              <a:ahLst/>
              <a:cxnLst/>
              <a:rect l="l" t="t" r="r" b="b"/>
              <a:pathLst>
                <a:path w="12192000" h="381000">
                  <a:moveTo>
                    <a:pt x="12191619" y="0"/>
                  </a:moveTo>
                  <a:lnTo>
                    <a:pt x="0" y="0"/>
                  </a:lnTo>
                  <a:lnTo>
                    <a:pt x="0" y="380619"/>
                  </a:lnTo>
                </a:path>
              </a:pathLst>
            </a:custGeom>
            <a:ln w="12953">
              <a:solidFill>
                <a:srgbClr val="41709C"/>
              </a:solidFill>
            </a:ln>
          </p:spPr>
          <p:txBody>
            <a:bodyPr wrap="square" lIns="0" tIns="0" rIns="0" bIns="0" rtlCol="0"/>
            <a:lstStyle/>
            <a:p>
              <a:endParaRPr/>
            </a:p>
          </p:txBody>
        </p:sp>
      </p:grpSp>
      <p:sp>
        <p:nvSpPr>
          <p:cNvPr id="21" name="object 21"/>
          <p:cNvSpPr txBox="1"/>
          <p:nvPr/>
        </p:nvSpPr>
        <p:spPr>
          <a:xfrm>
            <a:off x="3411982" y="6535673"/>
            <a:ext cx="5366385" cy="269875"/>
          </a:xfrm>
          <a:prstGeom prst="rect">
            <a:avLst/>
          </a:prstGeom>
        </p:spPr>
        <p:txBody>
          <a:bodyPr vert="horz" wrap="square" lIns="0" tIns="12700" rIns="0" bIns="0" rtlCol="0">
            <a:spAutoFit/>
          </a:bodyPr>
          <a:lstStyle/>
          <a:p>
            <a:pPr marL="12700">
              <a:lnSpc>
                <a:spcPct val="100000"/>
              </a:lnSpc>
              <a:spcBef>
                <a:spcPts val="100"/>
              </a:spcBef>
            </a:pPr>
            <a:r>
              <a:rPr sz="1600" b="1" spc="-10" dirty="0">
                <a:latin typeface="Arial"/>
                <a:cs typeface="Arial"/>
              </a:rPr>
              <a:t>B.Tech</a:t>
            </a:r>
            <a:r>
              <a:rPr sz="1600" b="1" spc="-35" dirty="0">
                <a:latin typeface="Arial"/>
                <a:cs typeface="Arial"/>
              </a:rPr>
              <a:t> </a:t>
            </a:r>
            <a:r>
              <a:rPr sz="1600" b="1" spc="50" dirty="0">
                <a:latin typeface="Arial"/>
                <a:cs typeface="Arial"/>
              </a:rPr>
              <a:t>II</a:t>
            </a:r>
            <a:r>
              <a:rPr sz="1600" b="1" spc="434" dirty="0">
                <a:latin typeface="Arial"/>
                <a:cs typeface="Arial"/>
              </a:rPr>
              <a:t> </a:t>
            </a:r>
            <a:r>
              <a:rPr sz="1600" b="1" dirty="0">
                <a:latin typeface="Arial"/>
                <a:cs typeface="Arial"/>
              </a:rPr>
              <a:t>Year</a:t>
            </a:r>
            <a:r>
              <a:rPr sz="1600" b="1" spc="-30" dirty="0">
                <a:latin typeface="Arial"/>
                <a:cs typeface="Arial"/>
              </a:rPr>
              <a:t> </a:t>
            </a:r>
            <a:r>
              <a:rPr sz="1600" b="1" spc="-95" dirty="0">
                <a:latin typeface="Arial"/>
                <a:cs typeface="Arial"/>
              </a:rPr>
              <a:t>–</a:t>
            </a:r>
            <a:r>
              <a:rPr sz="1600" b="1" spc="-15" dirty="0">
                <a:latin typeface="Arial"/>
                <a:cs typeface="Arial"/>
              </a:rPr>
              <a:t> </a:t>
            </a:r>
            <a:r>
              <a:rPr sz="1600" b="1" dirty="0">
                <a:latin typeface="Arial"/>
                <a:cs typeface="Arial"/>
              </a:rPr>
              <a:t>I</a:t>
            </a:r>
            <a:r>
              <a:rPr sz="1600" b="1" spc="-10" dirty="0">
                <a:latin typeface="Arial"/>
                <a:cs typeface="Arial"/>
              </a:rPr>
              <a:t> </a:t>
            </a:r>
            <a:r>
              <a:rPr sz="1600" b="1" dirty="0">
                <a:latin typeface="Arial"/>
                <a:cs typeface="Arial"/>
              </a:rPr>
              <a:t>Sem</a:t>
            </a:r>
            <a:r>
              <a:rPr sz="1600" b="1" spc="-25" dirty="0">
                <a:latin typeface="Arial"/>
                <a:cs typeface="Arial"/>
              </a:rPr>
              <a:t> </a:t>
            </a:r>
            <a:r>
              <a:rPr sz="1600" b="1" dirty="0">
                <a:latin typeface="Arial"/>
                <a:cs typeface="Arial"/>
              </a:rPr>
              <a:t>|</a:t>
            </a:r>
            <a:r>
              <a:rPr sz="1600" b="1" spc="-15" dirty="0">
                <a:latin typeface="Arial"/>
                <a:cs typeface="Arial"/>
              </a:rPr>
              <a:t> </a:t>
            </a:r>
            <a:r>
              <a:rPr sz="1600" b="1" dirty="0">
                <a:latin typeface="Arial"/>
                <a:cs typeface="Arial"/>
              </a:rPr>
              <a:t>Dept</a:t>
            </a:r>
            <a:r>
              <a:rPr sz="1600" b="1" spc="-30" dirty="0">
                <a:latin typeface="Arial"/>
                <a:cs typeface="Arial"/>
              </a:rPr>
              <a:t> </a:t>
            </a:r>
            <a:r>
              <a:rPr sz="1600" b="1" dirty="0">
                <a:latin typeface="Arial"/>
                <a:cs typeface="Arial"/>
              </a:rPr>
              <a:t>of</a:t>
            </a:r>
            <a:r>
              <a:rPr sz="1600" b="1" spc="190" dirty="0">
                <a:latin typeface="Arial"/>
                <a:cs typeface="Arial"/>
              </a:rPr>
              <a:t> </a:t>
            </a:r>
            <a:r>
              <a:rPr sz="1600" b="1" dirty="0">
                <a:latin typeface="Arial"/>
                <a:cs typeface="Arial"/>
              </a:rPr>
              <a:t>CS&amp;IT</a:t>
            </a:r>
            <a:r>
              <a:rPr sz="1600" b="1" spc="-30" dirty="0">
                <a:latin typeface="Arial"/>
                <a:cs typeface="Arial"/>
              </a:rPr>
              <a:t> </a:t>
            </a:r>
            <a:r>
              <a:rPr sz="1600" b="1" dirty="0">
                <a:latin typeface="Arial"/>
                <a:cs typeface="Arial"/>
              </a:rPr>
              <a:t>|</a:t>
            </a:r>
            <a:r>
              <a:rPr sz="1600" b="1" spc="-5" dirty="0">
                <a:latin typeface="Arial"/>
                <a:cs typeface="Arial"/>
              </a:rPr>
              <a:t> </a:t>
            </a:r>
            <a:r>
              <a:rPr sz="1600" b="1" dirty="0">
                <a:latin typeface="Arial"/>
                <a:cs typeface="Arial"/>
              </a:rPr>
              <a:t>Project</a:t>
            </a:r>
            <a:r>
              <a:rPr sz="1600" b="1" spc="-35" dirty="0">
                <a:latin typeface="Arial"/>
                <a:cs typeface="Arial"/>
              </a:rPr>
              <a:t> </a:t>
            </a:r>
            <a:r>
              <a:rPr sz="1600" b="1" spc="-10" dirty="0">
                <a:latin typeface="Arial"/>
                <a:cs typeface="Arial"/>
              </a:rPr>
              <a:t>Review</a:t>
            </a:r>
            <a:endParaRPr sz="1600">
              <a:latin typeface="Arial"/>
              <a:cs typeface="Arial"/>
            </a:endParaRPr>
          </a:p>
        </p:txBody>
      </p:sp>
      <p:sp>
        <p:nvSpPr>
          <p:cNvPr id="22" name="object 22" descr="$PPTXTitle"/>
          <p:cNvSpPr txBox="1">
            <a:spLocks noGrp="1"/>
          </p:cNvSpPr>
          <p:nvPr>
            <p:ph type="title"/>
          </p:nvPr>
        </p:nvSpPr>
        <p:spPr>
          <a:xfrm>
            <a:off x="3608578" y="1520697"/>
            <a:ext cx="5367655" cy="513080"/>
          </a:xfrm>
          <a:prstGeom prst="rect">
            <a:avLst/>
          </a:prstGeom>
        </p:spPr>
        <p:txBody>
          <a:bodyPr vert="horz" wrap="square" lIns="0" tIns="12065" rIns="0" bIns="0" rtlCol="0">
            <a:spAutoFit/>
          </a:bodyPr>
          <a:lstStyle/>
          <a:p>
            <a:pPr marL="12700">
              <a:lnSpc>
                <a:spcPct val="100000"/>
              </a:lnSpc>
              <a:spcBef>
                <a:spcPts val="95"/>
              </a:spcBef>
            </a:pPr>
            <a:r>
              <a:rPr sz="3200" spc="-85" dirty="0">
                <a:solidFill>
                  <a:srgbClr val="538235"/>
                </a:solidFill>
                <a:latin typeface="Calibri"/>
                <a:cs typeface="Calibri"/>
              </a:rPr>
              <a:t>RAILWAY</a:t>
            </a:r>
            <a:r>
              <a:rPr sz="3200" spc="-80" dirty="0">
                <a:solidFill>
                  <a:srgbClr val="538235"/>
                </a:solidFill>
                <a:latin typeface="Calibri"/>
                <a:cs typeface="Calibri"/>
              </a:rPr>
              <a:t> </a:t>
            </a:r>
            <a:r>
              <a:rPr sz="3200" spc="-50" dirty="0">
                <a:solidFill>
                  <a:srgbClr val="538235"/>
                </a:solidFill>
                <a:latin typeface="Calibri"/>
                <a:cs typeface="Calibri"/>
              </a:rPr>
              <a:t>RESERVATION</a:t>
            </a:r>
            <a:r>
              <a:rPr sz="3200" spc="-80" dirty="0">
                <a:solidFill>
                  <a:srgbClr val="538235"/>
                </a:solidFill>
                <a:latin typeface="Calibri"/>
                <a:cs typeface="Calibri"/>
              </a:rPr>
              <a:t> </a:t>
            </a:r>
            <a:r>
              <a:rPr sz="3200" spc="-10" dirty="0">
                <a:solidFill>
                  <a:srgbClr val="538235"/>
                </a:solidFill>
                <a:latin typeface="Calibri"/>
                <a:cs typeface="Calibri"/>
              </a:rPr>
              <a:t>SYSTEM</a:t>
            </a:r>
            <a:endParaRPr sz="3200">
              <a:latin typeface="Calibri"/>
              <a:cs typeface="Calibri"/>
            </a:endParaRPr>
          </a:p>
        </p:txBody>
      </p:sp>
      <p:sp>
        <p:nvSpPr>
          <p:cNvPr id="23" name="object 23"/>
          <p:cNvSpPr txBox="1"/>
          <p:nvPr/>
        </p:nvSpPr>
        <p:spPr>
          <a:xfrm>
            <a:off x="3703828" y="2105152"/>
            <a:ext cx="5179060" cy="3508375"/>
          </a:xfrm>
          <a:prstGeom prst="rect">
            <a:avLst/>
          </a:prstGeom>
        </p:spPr>
        <p:txBody>
          <a:bodyPr vert="horz" wrap="square" lIns="0" tIns="12700" rIns="0" bIns="0" rtlCol="0">
            <a:spAutoFit/>
          </a:bodyPr>
          <a:lstStyle/>
          <a:p>
            <a:pPr marL="1142365">
              <a:lnSpc>
                <a:spcPts val="2795"/>
              </a:lnSpc>
              <a:spcBef>
                <a:spcPts val="100"/>
              </a:spcBef>
            </a:pPr>
            <a:r>
              <a:rPr sz="2400" b="1" spc="-50" dirty="0">
                <a:solidFill>
                  <a:srgbClr val="FF0000"/>
                </a:solidFill>
                <a:latin typeface="Calibri"/>
                <a:cs typeface="Calibri"/>
              </a:rPr>
              <a:t>Team</a:t>
            </a:r>
            <a:r>
              <a:rPr sz="2400" b="1" spc="-80" dirty="0">
                <a:solidFill>
                  <a:srgbClr val="FF0000"/>
                </a:solidFill>
                <a:latin typeface="Calibri"/>
                <a:cs typeface="Calibri"/>
              </a:rPr>
              <a:t> </a:t>
            </a:r>
            <a:r>
              <a:rPr sz="2400" b="1" spc="-10" dirty="0">
                <a:solidFill>
                  <a:srgbClr val="FF0000"/>
                </a:solidFill>
                <a:latin typeface="Calibri"/>
                <a:cs typeface="Calibri"/>
              </a:rPr>
              <a:t>Members</a:t>
            </a:r>
            <a:r>
              <a:rPr sz="2400" b="1" spc="-70" dirty="0">
                <a:solidFill>
                  <a:srgbClr val="FF0000"/>
                </a:solidFill>
                <a:latin typeface="Calibri"/>
                <a:cs typeface="Calibri"/>
              </a:rPr>
              <a:t> </a:t>
            </a:r>
            <a:r>
              <a:rPr sz="2400" b="1" spc="-10" dirty="0">
                <a:solidFill>
                  <a:srgbClr val="FF0000"/>
                </a:solidFill>
                <a:latin typeface="Calibri"/>
                <a:cs typeface="Calibri"/>
              </a:rPr>
              <a:t>Details</a:t>
            </a:r>
            <a:endParaRPr sz="2400">
              <a:latin typeface="Calibri"/>
              <a:cs typeface="Calibri"/>
            </a:endParaRPr>
          </a:p>
          <a:p>
            <a:pPr marL="979805" indent="-238125">
              <a:lnSpc>
                <a:spcPts val="2575"/>
              </a:lnSpc>
              <a:buSzPct val="95833"/>
              <a:buAutoNum type="arabicPeriod"/>
              <a:tabLst>
                <a:tab pos="979805" algn="l"/>
              </a:tabLst>
            </a:pPr>
            <a:r>
              <a:rPr sz="2400" b="1" dirty="0">
                <a:latin typeface="Calibri"/>
                <a:cs typeface="Calibri"/>
              </a:rPr>
              <a:t>CH.</a:t>
            </a:r>
            <a:r>
              <a:rPr sz="2400" b="1" spc="-55" dirty="0">
                <a:latin typeface="Calibri"/>
                <a:cs typeface="Calibri"/>
              </a:rPr>
              <a:t> </a:t>
            </a:r>
            <a:r>
              <a:rPr sz="2400" b="1" dirty="0">
                <a:latin typeface="Calibri"/>
                <a:cs typeface="Calibri"/>
              </a:rPr>
              <a:t>Sai</a:t>
            </a:r>
            <a:r>
              <a:rPr sz="2400" b="1" spc="-45" dirty="0">
                <a:latin typeface="Calibri"/>
                <a:cs typeface="Calibri"/>
              </a:rPr>
              <a:t> </a:t>
            </a:r>
            <a:r>
              <a:rPr sz="2400" b="1" dirty="0">
                <a:latin typeface="Calibri"/>
                <a:cs typeface="Calibri"/>
              </a:rPr>
              <a:t>Rohit</a:t>
            </a:r>
            <a:r>
              <a:rPr sz="2400" b="1" spc="-45" dirty="0">
                <a:latin typeface="Calibri"/>
                <a:cs typeface="Calibri"/>
              </a:rPr>
              <a:t> </a:t>
            </a:r>
            <a:r>
              <a:rPr sz="2400" b="1" dirty="0">
                <a:latin typeface="Calibri"/>
                <a:cs typeface="Calibri"/>
              </a:rPr>
              <a:t>–</a:t>
            </a:r>
            <a:r>
              <a:rPr sz="2400" b="1" spc="-40" dirty="0">
                <a:latin typeface="Calibri"/>
                <a:cs typeface="Calibri"/>
              </a:rPr>
              <a:t> </a:t>
            </a:r>
            <a:r>
              <a:rPr sz="2400" b="1" spc="-10" dirty="0">
                <a:latin typeface="Calibri"/>
                <a:cs typeface="Calibri"/>
              </a:rPr>
              <a:t>2520090091</a:t>
            </a:r>
            <a:endParaRPr sz="2400">
              <a:latin typeface="Calibri"/>
              <a:cs typeface="Calibri"/>
            </a:endParaRPr>
          </a:p>
          <a:p>
            <a:pPr marL="1257935" indent="-238125">
              <a:lnSpc>
                <a:spcPts val="2440"/>
              </a:lnSpc>
              <a:buSzPct val="95833"/>
              <a:buAutoNum type="arabicPeriod"/>
              <a:tabLst>
                <a:tab pos="1257935" algn="l"/>
                <a:tab pos="2613660" algn="l"/>
              </a:tabLst>
            </a:pPr>
            <a:r>
              <a:rPr sz="2400" b="1" dirty="0">
                <a:latin typeface="Calibri"/>
                <a:cs typeface="Calibri"/>
              </a:rPr>
              <a:t>Akash</a:t>
            </a:r>
            <a:r>
              <a:rPr sz="2400" b="1" spc="-85" dirty="0">
                <a:latin typeface="Calibri"/>
                <a:cs typeface="Calibri"/>
              </a:rPr>
              <a:t> </a:t>
            </a:r>
            <a:r>
              <a:rPr sz="2400" b="1" spc="-25" dirty="0">
                <a:latin typeface="Calibri"/>
                <a:cs typeface="Calibri"/>
              </a:rPr>
              <a:t>K–</a:t>
            </a:r>
            <a:r>
              <a:rPr sz="2400" b="1" dirty="0">
                <a:latin typeface="Calibri"/>
                <a:cs typeface="Calibri"/>
              </a:rPr>
              <a:t>	</a:t>
            </a:r>
            <a:r>
              <a:rPr sz="2400" b="1" spc="-10" dirty="0">
                <a:latin typeface="Calibri"/>
                <a:cs typeface="Calibri"/>
              </a:rPr>
              <a:t>2520090127</a:t>
            </a:r>
            <a:endParaRPr sz="2400">
              <a:latin typeface="Calibri"/>
              <a:cs typeface="Calibri"/>
            </a:endParaRPr>
          </a:p>
          <a:p>
            <a:pPr marL="375285" indent="-238125">
              <a:lnSpc>
                <a:spcPts val="2660"/>
              </a:lnSpc>
              <a:buSzPct val="95833"/>
              <a:buAutoNum type="arabicPeriod"/>
              <a:tabLst>
                <a:tab pos="375285" algn="l"/>
                <a:tab pos="3494404" algn="l"/>
              </a:tabLst>
            </a:pPr>
            <a:r>
              <a:rPr sz="2400" b="1" spc="-10" dirty="0">
                <a:latin typeface="Calibri"/>
                <a:cs typeface="Calibri"/>
              </a:rPr>
              <a:t>Surendra</a:t>
            </a:r>
            <a:r>
              <a:rPr sz="2400" b="1" spc="-85" dirty="0">
                <a:latin typeface="Calibri"/>
                <a:cs typeface="Calibri"/>
              </a:rPr>
              <a:t> </a:t>
            </a:r>
            <a:r>
              <a:rPr sz="2400" b="1" dirty="0">
                <a:latin typeface="Calibri"/>
                <a:cs typeface="Calibri"/>
              </a:rPr>
              <a:t>Nath</a:t>
            </a:r>
            <a:r>
              <a:rPr sz="2400" b="1" spc="-75" dirty="0">
                <a:latin typeface="Calibri"/>
                <a:cs typeface="Calibri"/>
              </a:rPr>
              <a:t> </a:t>
            </a:r>
            <a:r>
              <a:rPr sz="2400" b="1" dirty="0">
                <a:latin typeface="Calibri"/>
                <a:cs typeface="Calibri"/>
              </a:rPr>
              <a:t>Reddy</a:t>
            </a:r>
            <a:r>
              <a:rPr sz="2400" b="1" spc="-90" dirty="0">
                <a:latin typeface="Calibri"/>
                <a:cs typeface="Calibri"/>
              </a:rPr>
              <a:t> </a:t>
            </a:r>
            <a:r>
              <a:rPr sz="2400" b="1" spc="-50" dirty="0">
                <a:latin typeface="Calibri"/>
                <a:cs typeface="Calibri"/>
              </a:rPr>
              <a:t>–</a:t>
            </a:r>
            <a:r>
              <a:rPr sz="2400" b="1" dirty="0">
                <a:latin typeface="Calibri"/>
                <a:cs typeface="Calibri"/>
              </a:rPr>
              <a:t>	</a:t>
            </a:r>
            <a:r>
              <a:rPr sz="2400" b="1" spc="-10" dirty="0">
                <a:latin typeface="Calibri"/>
                <a:cs typeface="Calibri"/>
              </a:rPr>
              <a:t>2520090142</a:t>
            </a:r>
            <a:endParaRPr sz="2400">
              <a:latin typeface="Calibri"/>
              <a:cs typeface="Calibri"/>
            </a:endParaRPr>
          </a:p>
          <a:p>
            <a:pPr marL="12700">
              <a:lnSpc>
                <a:spcPct val="100000"/>
              </a:lnSpc>
              <a:spcBef>
                <a:spcPts val="2875"/>
              </a:spcBef>
            </a:pPr>
            <a:r>
              <a:rPr sz="2400" dirty="0">
                <a:latin typeface="Calibri"/>
                <a:cs typeface="Calibri"/>
              </a:rPr>
              <a:t>III</a:t>
            </a:r>
            <a:r>
              <a:rPr sz="2400" spc="-45" dirty="0">
                <a:latin typeface="Calibri"/>
                <a:cs typeface="Calibri"/>
              </a:rPr>
              <a:t> </a:t>
            </a:r>
            <a:r>
              <a:rPr sz="2400" spc="-35" dirty="0">
                <a:latin typeface="Calibri"/>
                <a:cs typeface="Calibri"/>
              </a:rPr>
              <a:t>Year</a:t>
            </a:r>
            <a:r>
              <a:rPr sz="2400" spc="-15" dirty="0">
                <a:latin typeface="Calibri"/>
                <a:cs typeface="Calibri"/>
              </a:rPr>
              <a:t> </a:t>
            </a:r>
            <a:r>
              <a:rPr sz="2400" spc="-70" dirty="0">
                <a:latin typeface="Calibri"/>
                <a:cs typeface="Calibri"/>
              </a:rPr>
              <a:t>B.Tech-</a:t>
            </a:r>
            <a:r>
              <a:rPr sz="2400" dirty="0">
                <a:latin typeface="Calibri"/>
                <a:cs typeface="Calibri"/>
              </a:rPr>
              <a:t>II</a:t>
            </a:r>
            <a:r>
              <a:rPr sz="2400" spc="-35" dirty="0">
                <a:latin typeface="Calibri"/>
                <a:cs typeface="Calibri"/>
              </a:rPr>
              <a:t> </a:t>
            </a:r>
            <a:r>
              <a:rPr sz="2400" spc="-10" dirty="0">
                <a:latin typeface="Calibri"/>
                <a:cs typeface="Calibri"/>
              </a:rPr>
              <a:t>Semester</a:t>
            </a:r>
            <a:r>
              <a:rPr sz="2400" spc="-20" dirty="0">
                <a:latin typeface="Calibri"/>
                <a:cs typeface="Calibri"/>
              </a:rPr>
              <a:t> </a:t>
            </a:r>
            <a:r>
              <a:rPr sz="2400" dirty="0">
                <a:latin typeface="Calibri"/>
                <a:cs typeface="Calibri"/>
              </a:rPr>
              <a:t>–</a:t>
            </a:r>
            <a:r>
              <a:rPr sz="2400" spc="-20" dirty="0">
                <a:latin typeface="Calibri"/>
                <a:cs typeface="Calibri"/>
              </a:rPr>
              <a:t> </a:t>
            </a:r>
            <a:r>
              <a:rPr sz="2400" dirty="0">
                <a:latin typeface="Calibri"/>
                <a:cs typeface="Calibri"/>
              </a:rPr>
              <a:t>CS</a:t>
            </a:r>
            <a:r>
              <a:rPr sz="2400" spc="-35" dirty="0">
                <a:latin typeface="Calibri"/>
                <a:cs typeface="Calibri"/>
              </a:rPr>
              <a:t> </a:t>
            </a:r>
            <a:r>
              <a:rPr sz="2400" dirty="0">
                <a:latin typeface="Calibri"/>
                <a:cs typeface="Calibri"/>
              </a:rPr>
              <a:t>–</a:t>
            </a:r>
            <a:r>
              <a:rPr sz="2400" spc="-20" dirty="0">
                <a:latin typeface="Calibri"/>
                <a:cs typeface="Calibri"/>
              </a:rPr>
              <a:t> </a:t>
            </a:r>
            <a:r>
              <a:rPr sz="2400" dirty="0">
                <a:latin typeface="Calibri"/>
                <a:cs typeface="Calibri"/>
              </a:rPr>
              <a:t>IT</a:t>
            </a:r>
            <a:r>
              <a:rPr sz="2400" spc="-35" dirty="0">
                <a:latin typeface="Calibri"/>
                <a:cs typeface="Calibri"/>
              </a:rPr>
              <a:t> </a:t>
            </a:r>
            <a:r>
              <a:rPr sz="2400" spc="-10" dirty="0">
                <a:latin typeface="Calibri"/>
                <a:cs typeface="Calibri"/>
              </a:rPr>
              <a:t>(AIML)</a:t>
            </a:r>
            <a:endParaRPr sz="2400">
              <a:latin typeface="Calibri"/>
              <a:cs typeface="Calibri"/>
            </a:endParaRPr>
          </a:p>
          <a:p>
            <a:pPr>
              <a:lnSpc>
                <a:spcPct val="100000"/>
              </a:lnSpc>
              <a:spcBef>
                <a:spcPts val="944"/>
              </a:spcBef>
            </a:pPr>
            <a:endParaRPr sz="2400">
              <a:latin typeface="Calibri"/>
              <a:cs typeface="Calibri"/>
            </a:endParaRPr>
          </a:p>
          <a:p>
            <a:pPr marL="1155700" marR="1149985" algn="ctr">
              <a:lnSpc>
                <a:spcPts val="2440"/>
              </a:lnSpc>
            </a:pPr>
            <a:r>
              <a:rPr sz="2400" b="1" dirty="0">
                <a:latin typeface="Calibri"/>
                <a:cs typeface="Calibri"/>
              </a:rPr>
              <a:t>Under</a:t>
            </a:r>
            <a:r>
              <a:rPr sz="2400" b="1" spc="-40" dirty="0">
                <a:latin typeface="Calibri"/>
                <a:cs typeface="Calibri"/>
              </a:rPr>
              <a:t> </a:t>
            </a:r>
            <a:r>
              <a:rPr sz="2400" b="1" dirty="0">
                <a:latin typeface="Calibri"/>
                <a:cs typeface="Calibri"/>
              </a:rPr>
              <a:t>the</a:t>
            </a:r>
            <a:r>
              <a:rPr sz="2400" b="1" spc="-35" dirty="0">
                <a:latin typeface="Calibri"/>
                <a:cs typeface="Calibri"/>
              </a:rPr>
              <a:t> </a:t>
            </a:r>
            <a:r>
              <a:rPr sz="2400" b="1" dirty="0">
                <a:latin typeface="Calibri"/>
                <a:cs typeface="Calibri"/>
              </a:rPr>
              <a:t>Guidance</a:t>
            </a:r>
            <a:r>
              <a:rPr sz="2400" b="1" spc="-45" dirty="0">
                <a:latin typeface="Calibri"/>
                <a:cs typeface="Calibri"/>
              </a:rPr>
              <a:t> </a:t>
            </a:r>
            <a:r>
              <a:rPr sz="2400" b="1" spc="-25" dirty="0">
                <a:latin typeface="Calibri"/>
                <a:cs typeface="Calibri"/>
              </a:rPr>
              <a:t>of </a:t>
            </a:r>
            <a:r>
              <a:rPr sz="2400" b="1" spc="-50" dirty="0">
                <a:solidFill>
                  <a:srgbClr val="FF0000"/>
                </a:solidFill>
                <a:latin typeface="Calibri"/>
                <a:cs typeface="Calibri"/>
              </a:rPr>
              <a:t>Dr.M</a:t>
            </a:r>
            <a:r>
              <a:rPr sz="2400" b="1" spc="-65" dirty="0">
                <a:solidFill>
                  <a:srgbClr val="FF0000"/>
                </a:solidFill>
                <a:latin typeface="Calibri"/>
                <a:cs typeface="Calibri"/>
              </a:rPr>
              <a:t> </a:t>
            </a:r>
            <a:r>
              <a:rPr sz="2400" b="1" spc="-10" dirty="0">
                <a:solidFill>
                  <a:srgbClr val="FF0000"/>
                </a:solidFill>
                <a:latin typeface="Calibri"/>
                <a:cs typeface="Calibri"/>
              </a:rPr>
              <a:t>Gayatri</a:t>
            </a:r>
            <a:endParaRPr sz="2400">
              <a:latin typeface="Calibri"/>
              <a:cs typeface="Calibri"/>
            </a:endParaRPr>
          </a:p>
          <a:p>
            <a:pPr marL="1270" algn="ctr">
              <a:lnSpc>
                <a:spcPts val="2435"/>
              </a:lnSpc>
            </a:pPr>
            <a:r>
              <a:rPr sz="2400" dirty="0">
                <a:latin typeface="Calibri"/>
                <a:cs typeface="Calibri"/>
              </a:rPr>
              <a:t>Associate</a:t>
            </a:r>
            <a:r>
              <a:rPr sz="2400" spc="-95" dirty="0">
                <a:latin typeface="Calibri"/>
                <a:cs typeface="Calibri"/>
              </a:rPr>
              <a:t> </a:t>
            </a:r>
            <a:r>
              <a:rPr sz="2400" spc="-10" dirty="0">
                <a:latin typeface="Calibri"/>
                <a:cs typeface="Calibri"/>
              </a:rPr>
              <a:t>Professor</a:t>
            </a:r>
            <a:endParaRPr sz="2400">
              <a:latin typeface="Calibri"/>
              <a:cs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0" y="0"/>
            <a:ext cx="12192000" cy="1000760"/>
            <a:chOff x="0" y="0"/>
            <a:chExt cx="12192000" cy="1000760"/>
          </a:xfrm>
        </p:grpSpPr>
        <p:pic>
          <p:nvPicPr>
            <p:cNvPr id="3" name="object 3"/>
            <p:cNvPicPr/>
            <p:nvPr/>
          </p:nvPicPr>
          <p:blipFill>
            <a:blip r:embed="rId2" cstate="print"/>
            <a:stretch>
              <a:fillRect/>
            </a:stretch>
          </p:blipFill>
          <p:spPr>
            <a:xfrm>
              <a:off x="11353800" y="0"/>
              <a:ext cx="822198" cy="822198"/>
            </a:xfrm>
            <a:prstGeom prst="rect">
              <a:avLst/>
            </a:prstGeom>
          </p:spPr>
        </p:pic>
        <p:pic>
          <p:nvPicPr>
            <p:cNvPr id="4" name="object 4"/>
            <p:cNvPicPr/>
            <p:nvPr/>
          </p:nvPicPr>
          <p:blipFill>
            <a:blip r:embed="rId3" cstate="print"/>
            <a:stretch>
              <a:fillRect/>
            </a:stretch>
          </p:blipFill>
          <p:spPr>
            <a:xfrm>
              <a:off x="11290554" y="0"/>
              <a:ext cx="901446" cy="993648"/>
            </a:xfrm>
            <a:prstGeom prst="rect">
              <a:avLst/>
            </a:prstGeom>
          </p:spPr>
        </p:pic>
        <p:sp>
          <p:nvSpPr>
            <p:cNvPr id="5" name="object 5"/>
            <p:cNvSpPr/>
            <p:nvPr/>
          </p:nvSpPr>
          <p:spPr>
            <a:xfrm>
              <a:off x="0" y="0"/>
              <a:ext cx="12192000" cy="285115"/>
            </a:xfrm>
            <a:custGeom>
              <a:avLst/>
              <a:gdLst/>
              <a:ahLst/>
              <a:cxnLst/>
              <a:rect l="l" t="t" r="r" b="b"/>
              <a:pathLst>
                <a:path w="12192000" h="285115">
                  <a:moveTo>
                    <a:pt x="0" y="284606"/>
                  </a:moveTo>
                  <a:lnTo>
                    <a:pt x="12192000" y="284606"/>
                  </a:lnTo>
                  <a:lnTo>
                    <a:pt x="12192000" y="0"/>
                  </a:lnTo>
                  <a:lnTo>
                    <a:pt x="0" y="0"/>
                  </a:lnTo>
                  <a:lnTo>
                    <a:pt x="0" y="284606"/>
                  </a:lnTo>
                  <a:close/>
                </a:path>
              </a:pathLst>
            </a:custGeom>
            <a:solidFill>
              <a:srgbClr val="5B9BD4"/>
            </a:solidFill>
          </p:spPr>
          <p:txBody>
            <a:bodyPr wrap="square" lIns="0" tIns="0" rIns="0" bIns="0" rtlCol="0"/>
            <a:lstStyle/>
            <a:p>
              <a:endParaRPr/>
            </a:p>
          </p:txBody>
        </p:sp>
        <p:sp>
          <p:nvSpPr>
            <p:cNvPr id="6" name="object 6"/>
            <p:cNvSpPr/>
            <p:nvPr/>
          </p:nvSpPr>
          <p:spPr>
            <a:xfrm>
              <a:off x="0" y="284606"/>
              <a:ext cx="12192000" cy="0"/>
            </a:xfrm>
            <a:custGeom>
              <a:avLst/>
              <a:gdLst/>
              <a:ahLst/>
              <a:cxnLst/>
              <a:rect l="l" t="t" r="r" b="b"/>
              <a:pathLst>
                <a:path w="12192000">
                  <a:moveTo>
                    <a:pt x="0" y="0"/>
                  </a:moveTo>
                  <a:lnTo>
                    <a:pt x="11261979" y="0"/>
                  </a:lnTo>
                </a:path>
                <a:path w="12192000">
                  <a:moveTo>
                    <a:pt x="12176379" y="0"/>
                  </a:moveTo>
                  <a:lnTo>
                    <a:pt x="12192000" y="0"/>
                  </a:lnTo>
                </a:path>
              </a:pathLst>
            </a:custGeom>
            <a:ln w="12953">
              <a:solidFill>
                <a:srgbClr val="41709C"/>
              </a:solidFill>
            </a:ln>
          </p:spPr>
          <p:txBody>
            <a:bodyPr wrap="square" lIns="0" tIns="0" rIns="0" bIns="0" rtlCol="0"/>
            <a:lstStyle/>
            <a:p>
              <a:endParaRPr/>
            </a:p>
          </p:txBody>
        </p:sp>
        <p:sp>
          <p:nvSpPr>
            <p:cNvPr id="7" name="object 7"/>
            <p:cNvSpPr/>
            <p:nvPr/>
          </p:nvSpPr>
          <p:spPr>
            <a:xfrm>
              <a:off x="11261979" y="270129"/>
              <a:ext cx="914400" cy="723900"/>
            </a:xfrm>
            <a:custGeom>
              <a:avLst/>
              <a:gdLst/>
              <a:ahLst/>
              <a:cxnLst/>
              <a:rect l="l" t="t" r="r" b="b"/>
              <a:pathLst>
                <a:path w="914400" h="723900">
                  <a:moveTo>
                    <a:pt x="914400" y="0"/>
                  </a:moveTo>
                  <a:lnTo>
                    <a:pt x="0" y="0"/>
                  </a:lnTo>
                  <a:lnTo>
                    <a:pt x="0" y="723900"/>
                  </a:lnTo>
                  <a:lnTo>
                    <a:pt x="914400" y="723900"/>
                  </a:lnTo>
                  <a:lnTo>
                    <a:pt x="914400" y="0"/>
                  </a:lnTo>
                  <a:close/>
                </a:path>
              </a:pathLst>
            </a:custGeom>
            <a:solidFill>
              <a:srgbClr val="FFFFFF"/>
            </a:solidFill>
          </p:spPr>
          <p:txBody>
            <a:bodyPr wrap="square" lIns="0" tIns="0" rIns="0" bIns="0" rtlCol="0"/>
            <a:lstStyle/>
            <a:p>
              <a:endParaRPr/>
            </a:p>
          </p:txBody>
        </p:sp>
        <p:sp>
          <p:nvSpPr>
            <p:cNvPr id="8" name="object 8"/>
            <p:cNvSpPr/>
            <p:nvPr/>
          </p:nvSpPr>
          <p:spPr>
            <a:xfrm>
              <a:off x="11261979" y="270129"/>
              <a:ext cx="914400" cy="723900"/>
            </a:xfrm>
            <a:custGeom>
              <a:avLst/>
              <a:gdLst/>
              <a:ahLst/>
              <a:cxnLst/>
              <a:rect l="l" t="t" r="r" b="b"/>
              <a:pathLst>
                <a:path w="914400" h="723900">
                  <a:moveTo>
                    <a:pt x="0" y="723900"/>
                  </a:moveTo>
                  <a:lnTo>
                    <a:pt x="914400" y="723900"/>
                  </a:lnTo>
                  <a:lnTo>
                    <a:pt x="914400" y="0"/>
                  </a:lnTo>
                  <a:lnTo>
                    <a:pt x="0" y="0"/>
                  </a:lnTo>
                  <a:lnTo>
                    <a:pt x="0" y="723900"/>
                  </a:lnTo>
                  <a:close/>
                </a:path>
              </a:pathLst>
            </a:custGeom>
            <a:ln w="12954">
              <a:solidFill>
                <a:srgbClr val="FFFFFF"/>
              </a:solidFill>
            </a:ln>
          </p:spPr>
          <p:txBody>
            <a:bodyPr wrap="square" lIns="0" tIns="0" rIns="0" bIns="0" rtlCol="0"/>
            <a:lstStyle/>
            <a:p>
              <a:endParaRPr/>
            </a:p>
          </p:txBody>
        </p:sp>
        <p:pic>
          <p:nvPicPr>
            <p:cNvPr id="9" name="object 9"/>
            <p:cNvPicPr/>
            <p:nvPr/>
          </p:nvPicPr>
          <p:blipFill>
            <a:blip r:embed="rId4" cstate="print"/>
            <a:stretch>
              <a:fillRect/>
            </a:stretch>
          </p:blipFill>
          <p:spPr>
            <a:xfrm>
              <a:off x="10493502" y="0"/>
              <a:ext cx="1466850" cy="898398"/>
            </a:xfrm>
            <a:prstGeom prst="rect">
              <a:avLst/>
            </a:prstGeom>
          </p:spPr>
        </p:pic>
      </p:grpSp>
      <p:sp>
        <p:nvSpPr>
          <p:cNvPr id="10" name="object 10" descr="$PPTXTitle"/>
          <p:cNvSpPr txBox="1">
            <a:spLocks noGrp="1"/>
          </p:cNvSpPr>
          <p:nvPr>
            <p:ph type="title"/>
          </p:nvPr>
        </p:nvSpPr>
        <p:spPr>
          <a:xfrm>
            <a:off x="930874" y="337014"/>
            <a:ext cx="2816861" cy="689291"/>
          </a:xfrm>
          <a:prstGeom prst="rect">
            <a:avLst/>
          </a:prstGeom>
        </p:spPr>
        <p:txBody>
          <a:bodyPr vert="horz" wrap="square" lIns="0" tIns="12065" rIns="0" bIns="0" rtlCol="0">
            <a:spAutoFit/>
          </a:bodyPr>
          <a:lstStyle/>
          <a:p>
            <a:pPr marL="12700">
              <a:lnSpc>
                <a:spcPct val="100000"/>
              </a:lnSpc>
              <a:spcBef>
                <a:spcPts val="95"/>
              </a:spcBef>
            </a:pPr>
            <a:r>
              <a:rPr lang="en-IN" spc="-10" dirty="0" smtClean="0">
                <a:solidFill>
                  <a:srgbClr val="00AFEF"/>
                </a:solidFill>
              </a:rPr>
              <a:t>Contents</a:t>
            </a:r>
            <a:endParaRPr spc="-10" dirty="0">
              <a:solidFill>
                <a:srgbClr val="00AFEF"/>
              </a:solidFill>
            </a:endParaRPr>
          </a:p>
        </p:txBody>
      </p:sp>
      <p:sp>
        <p:nvSpPr>
          <p:cNvPr id="11" name="object 11"/>
          <p:cNvSpPr txBox="1"/>
          <p:nvPr/>
        </p:nvSpPr>
        <p:spPr>
          <a:xfrm>
            <a:off x="686978" y="955930"/>
            <a:ext cx="11105135" cy="5362365"/>
          </a:xfrm>
          <a:prstGeom prst="rect">
            <a:avLst/>
          </a:prstGeom>
        </p:spPr>
        <p:txBody>
          <a:bodyPr vert="horz" wrap="square" lIns="0" tIns="103505" rIns="0" bIns="0" rtlCol="0">
            <a:spAutoFit/>
          </a:bodyPr>
          <a:lstStyle/>
          <a:p>
            <a:pPr marL="240029" indent="-227329">
              <a:lnSpc>
                <a:spcPct val="100000"/>
              </a:lnSpc>
              <a:spcBef>
                <a:spcPts val="815"/>
              </a:spcBef>
              <a:buFont typeface="Arial MT"/>
              <a:buChar char="•"/>
              <a:tabLst>
                <a:tab pos="240029" algn="l"/>
              </a:tabLst>
            </a:pPr>
            <a:r>
              <a:rPr lang="en-IN" sz="2500" dirty="0" smtClean="0">
                <a:latin typeface="Times New Roman"/>
                <a:cs typeface="Times New Roman"/>
              </a:rPr>
              <a:t>Project Title and Team Members</a:t>
            </a:r>
          </a:p>
          <a:p>
            <a:pPr marL="240029" indent="-227329">
              <a:lnSpc>
                <a:spcPct val="100000"/>
              </a:lnSpc>
              <a:spcBef>
                <a:spcPts val="815"/>
              </a:spcBef>
              <a:buFont typeface="Arial MT"/>
              <a:buChar char="•"/>
              <a:tabLst>
                <a:tab pos="240029" algn="l"/>
              </a:tabLst>
            </a:pPr>
            <a:r>
              <a:rPr lang="en-IN" sz="2500" dirty="0" smtClean="0">
                <a:latin typeface="Times New Roman"/>
                <a:cs typeface="Times New Roman"/>
              </a:rPr>
              <a:t>Abstract</a:t>
            </a:r>
          </a:p>
          <a:p>
            <a:pPr marL="240029" indent="-227329">
              <a:lnSpc>
                <a:spcPct val="100000"/>
              </a:lnSpc>
              <a:spcBef>
                <a:spcPts val="815"/>
              </a:spcBef>
              <a:buFont typeface="Arial MT"/>
              <a:buChar char="•"/>
              <a:tabLst>
                <a:tab pos="240029" algn="l"/>
              </a:tabLst>
            </a:pPr>
            <a:r>
              <a:rPr lang="en-IN" sz="2500" dirty="0" smtClean="0">
                <a:latin typeface="Times New Roman"/>
                <a:cs typeface="Times New Roman"/>
              </a:rPr>
              <a:t>Problem Statement</a:t>
            </a:r>
          </a:p>
          <a:p>
            <a:pPr marL="240029" indent="-227329">
              <a:lnSpc>
                <a:spcPct val="100000"/>
              </a:lnSpc>
              <a:spcBef>
                <a:spcPts val="815"/>
              </a:spcBef>
              <a:buFont typeface="Arial MT"/>
              <a:buChar char="•"/>
              <a:tabLst>
                <a:tab pos="240029" algn="l"/>
              </a:tabLst>
            </a:pPr>
            <a:r>
              <a:rPr lang="en-IN" sz="2500" dirty="0" smtClean="0">
                <a:latin typeface="Times New Roman"/>
                <a:cs typeface="Times New Roman"/>
              </a:rPr>
              <a:t>Motivation</a:t>
            </a:r>
          </a:p>
          <a:p>
            <a:pPr marL="240029" indent="-227329">
              <a:lnSpc>
                <a:spcPct val="100000"/>
              </a:lnSpc>
              <a:spcBef>
                <a:spcPts val="815"/>
              </a:spcBef>
              <a:buFont typeface="Arial MT"/>
              <a:buChar char="•"/>
              <a:tabLst>
                <a:tab pos="240029" algn="l"/>
              </a:tabLst>
            </a:pPr>
            <a:r>
              <a:rPr lang="en-IN" sz="2500" dirty="0" smtClean="0">
                <a:latin typeface="Times New Roman"/>
                <a:cs typeface="Times New Roman"/>
              </a:rPr>
              <a:t>Objectives</a:t>
            </a:r>
          </a:p>
          <a:p>
            <a:pPr marL="240029" indent="-227329">
              <a:lnSpc>
                <a:spcPct val="100000"/>
              </a:lnSpc>
              <a:spcBef>
                <a:spcPts val="815"/>
              </a:spcBef>
              <a:buFont typeface="Arial MT"/>
              <a:buChar char="•"/>
              <a:tabLst>
                <a:tab pos="240029" algn="l"/>
              </a:tabLst>
            </a:pPr>
            <a:r>
              <a:rPr lang="en-IN" sz="2500" dirty="0" smtClean="0">
                <a:latin typeface="Times New Roman"/>
                <a:cs typeface="Times New Roman"/>
              </a:rPr>
              <a:t>Literature Survey</a:t>
            </a:r>
          </a:p>
          <a:p>
            <a:pPr marL="240029" indent="-227329">
              <a:lnSpc>
                <a:spcPct val="100000"/>
              </a:lnSpc>
              <a:spcBef>
                <a:spcPts val="815"/>
              </a:spcBef>
              <a:buFont typeface="Arial MT"/>
              <a:buChar char="•"/>
              <a:tabLst>
                <a:tab pos="240029" algn="l"/>
              </a:tabLst>
            </a:pPr>
            <a:r>
              <a:rPr lang="en-IN" sz="2500" dirty="0" smtClean="0">
                <a:latin typeface="Times New Roman"/>
                <a:cs typeface="Times New Roman"/>
              </a:rPr>
              <a:t>Research Gap</a:t>
            </a:r>
          </a:p>
          <a:p>
            <a:pPr marL="240029" indent="-227329">
              <a:lnSpc>
                <a:spcPct val="100000"/>
              </a:lnSpc>
              <a:spcBef>
                <a:spcPts val="815"/>
              </a:spcBef>
              <a:buFont typeface="Arial MT"/>
              <a:buChar char="•"/>
              <a:tabLst>
                <a:tab pos="240029" algn="l"/>
              </a:tabLst>
            </a:pPr>
            <a:r>
              <a:rPr lang="en-IN" sz="2500" dirty="0" smtClean="0">
                <a:latin typeface="Times New Roman"/>
                <a:cs typeface="Times New Roman"/>
              </a:rPr>
              <a:t>Proposed Methodology</a:t>
            </a:r>
          </a:p>
          <a:p>
            <a:pPr marL="240029" indent="-227329">
              <a:lnSpc>
                <a:spcPct val="100000"/>
              </a:lnSpc>
              <a:spcBef>
                <a:spcPts val="815"/>
              </a:spcBef>
              <a:buFont typeface="Arial MT"/>
              <a:buChar char="•"/>
              <a:tabLst>
                <a:tab pos="240029" algn="l"/>
              </a:tabLst>
            </a:pPr>
            <a:r>
              <a:rPr lang="en-IN" sz="2500" dirty="0" smtClean="0">
                <a:latin typeface="Times New Roman"/>
                <a:cs typeface="Times New Roman"/>
              </a:rPr>
              <a:t>System Architecture</a:t>
            </a:r>
          </a:p>
          <a:p>
            <a:pPr marL="240029" indent="-227329">
              <a:lnSpc>
                <a:spcPct val="100000"/>
              </a:lnSpc>
              <a:spcBef>
                <a:spcPts val="815"/>
              </a:spcBef>
              <a:buFont typeface="Arial MT"/>
              <a:buChar char="•"/>
              <a:tabLst>
                <a:tab pos="240029" algn="l"/>
              </a:tabLst>
            </a:pPr>
            <a:r>
              <a:rPr lang="en-IN" sz="2500" dirty="0" smtClean="0">
                <a:latin typeface="Times New Roman"/>
                <a:cs typeface="Times New Roman"/>
              </a:rPr>
              <a:t>Technologies Used</a:t>
            </a:r>
          </a:p>
          <a:p>
            <a:pPr marL="240029" indent="-227329">
              <a:lnSpc>
                <a:spcPct val="100000"/>
              </a:lnSpc>
              <a:spcBef>
                <a:spcPts val="815"/>
              </a:spcBef>
              <a:buFont typeface="Arial MT"/>
              <a:buChar char="•"/>
              <a:tabLst>
                <a:tab pos="240029" algn="l"/>
              </a:tabLst>
            </a:pPr>
            <a:r>
              <a:rPr lang="en-IN" sz="2500" dirty="0" smtClean="0">
                <a:latin typeface="Times New Roman"/>
                <a:cs typeface="Times New Roman"/>
              </a:rPr>
              <a:t>Dataset / Input Details</a:t>
            </a:r>
          </a:p>
        </p:txBody>
      </p:sp>
      <p:grpSp>
        <p:nvGrpSpPr>
          <p:cNvPr id="12" name="object 12"/>
          <p:cNvGrpSpPr/>
          <p:nvPr/>
        </p:nvGrpSpPr>
        <p:grpSpPr>
          <a:xfrm>
            <a:off x="-6095" y="6470903"/>
            <a:ext cx="12204700" cy="393700"/>
            <a:chOff x="-6095" y="6470903"/>
            <a:chExt cx="12204700" cy="393700"/>
          </a:xfrm>
        </p:grpSpPr>
        <p:sp>
          <p:nvSpPr>
            <p:cNvPr id="13" name="object 13"/>
            <p:cNvSpPr/>
            <p:nvPr/>
          </p:nvSpPr>
          <p:spPr>
            <a:xfrm>
              <a:off x="381" y="6477380"/>
              <a:ext cx="12192000" cy="381000"/>
            </a:xfrm>
            <a:custGeom>
              <a:avLst/>
              <a:gdLst/>
              <a:ahLst/>
              <a:cxnLst/>
              <a:rect l="l" t="t" r="r" b="b"/>
              <a:pathLst>
                <a:path w="12192000" h="381000">
                  <a:moveTo>
                    <a:pt x="12191619" y="0"/>
                  </a:moveTo>
                  <a:lnTo>
                    <a:pt x="0" y="0"/>
                  </a:lnTo>
                  <a:lnTo>
                    <a:pt x="0" y="380619"/>
                  </a:lnTo>
                  <a:lnTo>
                    <a:pt x="12191619" y="380619"/>
                  </a:lnTo>
                  <a:lnTo>
                    <a:pt x="12191619" y="0"/>
                  </a:lnTo>
                  <a:close/>
                </a:path>
              </a:pathLst>
            </a:custGeom>
            <a:solidFill>
              <a:srgbClr val="5B9BD4"/>
            </a:solidFill>
          </p:spPr>
          <p:txBody>
            <a:bodyPr wrap="square" lIns="0" tIns="0" rIns="0" bIns="0" rtlCol="0"/>
            <a:lstStyle/>
            <a:p>
              <a:endParaRPr/>
            </a:p>
          </p:txBody>
        </p:sp>
        <p:sp>
          <p:nvSpPr>
            <p:cNvPr id="14" name="object 14"/>
            <p:cNvSpPr/>
            <p:nvPr/>
          </p:nvSpPr>
          <p:spPr>
            <a:xfrm>
              <a:off x="381" y="6477380"/>
              <a:ext cx="12192000" cy="381000"/>
            </a:xfrm>
            <a:custGeom>
              <a:avLst/>
              <a:gdLst/>
              <a:ahLst/>
              <a:cxnLst/>
              <a:rect l="l" t="t" r="r" b="b"/>
              <a:pathLst>
                <a:path w="12192000" h="381000">
                  <a:moveTo>
                    <a:pt x="12191619" y="0"/>
                  </a:moveTo>
                  <a:lnTo>
                    <a:pt x="0" y="0"/>
                  </a:lnTo>
                  <a:lnTo>
                    <a:pt x="0" y="380619"/>
                  </a:lnTo>
                </a:path>
              </a:pathLst>
            </a:custGeom>
            <a:ln w="12953">
              <a:solidFill>
                <a:srgbClr val="41709C"/>
              </a:solidFill>
            </a:ln>
          </p:spPr>
          <p:txBody>
            <a:bodyPr wrap="square" lIns="0" tIns="0" rIns="0" bIns="0" rtlCol="0"/>
            <a:lstStyle/>
            <a:p>
              <a:endParaRPr/>
            </a:p>
          </p:txBody>
        </p:sp>
      </p:grpSp>
      <p:sp>
        <p:nvSpPr>
          <p:cNvPr id="15" name="object 15"/>
          <p:cNvSpPr txBox="1">
            <a:spLocks noGrp="1"/>
          </p:cNvSpPr>
          <p:nvPr>
            <p:ph type="ftr" sz="quarter" idx="5"/>
          </p:nvPr>
        </p:nvSpPr>
        <p:spPr>
          <a:prstGeom prst="rect">
            <a:avLst/>
          </a:prstGeom>
        </p:spPr>
        <p:txBody>
          <a:bodyPr vert="horz" wrap="square" lIns="0" tIns="0" rIns="0" bIns="0" rtlCol="0">
            <a:spAutoFit/>
          </a:bodyPr>
          <a:lstStyle/>
          <a:p>
            <a:pPr marL="12700">
              <a:lnSpc>
                <a:spcPts val="1710"/>
              </a:lnSpc>
            </a:pPr>
            <a:r>
              <a:rPr dirty="0"/>
              <a:t>MRCET</a:t>
            </a:r>
            <a:r>
              <a:rPr spc="-15" dirty="0"/>
              <a:t> </a:t>
            </a:r>
            <a:r>
              <a:rPr dirty="0"/>
              <a:t>|</a:t>
            </a:r>
            <a:r>
              <a:rPr spc="-15" dirty="0"/>
              <a:t> </a:t>
            </a:r>
            <a:r>
              <a:rPr spc="-10" dirty="0"/>
              <a:t>Department</a:t>
            </a:r>
            <a:r>
              <a:rPr dirty="0"/>
              <a:t> of Emerging</a:t>
            </a:r>
            <a:r>
              <a:rPr spc="-5" dirty="0"/>
              <a:t> </a:t>
            </a:r>
            <a:r>
              <a:rPr spc="-25" dirty="0"/>
              <a:t>Technologies</a:t>
            </a:r>
            <a:r>
              <a:rPr spc="5" dirty="0"/>
              <a:t> </a:t>
            </a:r>
            <a:r>
              <a:rPr dirty="0"/>
              <a:t>|</a:t>
            </a:r>
            <a:r>
              <a:rPr spc="-5" dirty="0"/>
              <a:t> </a:t>
            </a:r>
            <a:r>
              <a:rPr spc="-10" dirty="0"/>
              <a:t>Application</a:t>
            </a:r>
            <a:r>
              <a:rPr spc="-15" dirty="0"/>
              <a:t> </a:t>
            </a:r>
            <a:r>
              <a:rPr spc="-20" dirty="0"/>
              <a:t>Development-</a:t>
            </a:r>
            <a:r>
              <a:rPr dirty="0"/>
              <a:t>II</a:t>
            </a:r>
            <a:r>
              <a:rPr spc="10" dirty="0"/>
              <a:t> </a:t>
            </a:r>
            <a:r>
              <a:rPr dirty="0"/>
              <a:t>PPT|</a:t>
            </a:r>
            <a:r>
              <a:rPr spc="-20" dirty="0"/>
              <a:t> </a:t>
            </a:r>
            <a:r>
              <a:rPr dirty="0"/>
              <a:t>III</a:t>
            </a:r>
            <a:r>
              <a:rPr spc="-20" dirty="0"/>
              <a:t> Year</a:t>
            </a:r>
            <a:r>
              <a:rPr dirty="0"/>
              <a:t> </a:t>
            </a:r>
            <a:r>
              <a:rPr spc="-55" dirty="0"/>
              <a:t>B.Tech-</a:t>
            </a:r>
            <a:r>
              <a:rPr dirty="0"/>
              <a:t>II</a:t>
            </a:r>
            <a:r>
              <a:rPr spc="-15" dirty="0"/>
              <a:t> </a:t>
            </a:r>
            <a:r>
              <a:rPr spc="-10" dirty="0"/>
              <a:t>Semester</a:t>
            </a:r>
          </a:p>
        </p:txBody>
      </p:sp>
      <p:sp>
        <p:nvSpPr>
          <p:cNvPr id="16" name="object 16"/>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spc="-50" dirty="0"/>
              <a:t>2</a:t>
            </a:fld>
            <a:endParaRPr spc="-50" dirty="0"/>
          </a:p>
        </p:txBody>
      </p:sp>
      <p:sp>
        <p:nvSpPr>
          <p:cNvPr id="17" name="object 17"/>
          <p:cNvSpPr txBox="1"/>
          <p:nvPr/>
        </p:nvSpPr>
        <p:spPr>
          <a:xfrm>
            <a:off x="919988" y="6546615"/>
            <a:ext cx="10353040" cy="261620"/>
          </a:xfrm>
          <a:prstGeom prst="rect">
            <a:avLst/>
          </a:prstGeom>
        </p:spPr>
        <p:txBody>
          <a:bodyPr vert="horz" wrap="square" lIns="0" tIns="1905" rIns="0" bIns="0" rtlCol="0">
            <a:spAutoFit/>
          </a:bodyPr>
          <a:lstStyle/>
          <a:p>
            <a:pPr marL="12700">
              <a:lnSpc>
                <a:spcPct val="100000"/>
              </a:lnSpc>
              <a:spcBef>
                <a:spcPts val="15"/>
              </a:spcBef>
            </a:pPr>
            <a:r>
              <a:rPr sz="1600" b="1" spc="-10" dirty="0">
                <a:latin typeface="Arial"/>
                <a:cs typeface="Arial"/>
              </a:rPr>
              <a:t>B.Tech</a:t>
            </a:r>
            <a:r>
              <a:rPr sz="1600" b="1" spc="-30" dirty="0">
                <a:latin typeface="Arial"/>
                <a:cs typeface="Arial"/>
              </a:rPr>
              <a:t> </a:t>
            </a:r>
            <a:r>
              <a:rPr sz="1600" b="1" spc="50" dirty="0">
                <a:latin typeface="Arial"/>
                <a:cs typeface="Arial"/>
              </a:rPr>
              <a:t>III</a:t>
            </a:r>
            <a:r>
              <a:rPr sz="1600" b="1" spc="-20" dirty="0">
                <a:latin typeface="Arial"/>
                <a:cs typeface="Arial"/>
              </a:rPr>
              <a:t> </a:t>
            </a:r>
            <a:r>
              <a:rPr sz="1600" b="1" dirty="0">
                <a:latin typeface="Arial"/>
                <a:cs typeface="Arial"/>
              </a:rPr>
              <a:t>Year</a:t>
            </a:r>
            <a:r>
              <a:rPr sz="1600" b="1" spc="-25" dirty="0">
                <a:latin typeface="Arial"/>
                <a:cs typeface="Arial"/>
              </a:rPr>
              <a:t> </a:t>
            </a:r>
            <a:r>
              <a:rPr sz="1600" b="1" spc="-95" dirty="0">
                <a:latin typeface="Arial"/>
                <a:cs typeface="Arial"/>
              </a:rPr>
              <a:t>–</a:t>
            </a:r>
            <a:r>
              <a:rPr sz="1600" b="1" spc="-5" dirty="0">
                <a:latin typeface="Arial"/>
                <a:cs typeface="Arial"/>
              </a:rPr>
              <a:t> </a:t>
            </a:r>
            <a:r>
              <a:rPr sz="1600" b="1" spc="50" dirty="0">
                <a:latin typeface="Arial"/>
                <a:cs typeface="Arial"/>
              </a:rPr>
              <a:t>II</a:t>
            </a:r>
            <a:r>
              <a:rPr sz="1600" b="1" spc="-20" dirty="0">
                <a:latin typeface="Arial"/>
                <a:cs typeface="Arial"/>
              </a:rPr>
              <a:t> </a:t>
            </a:r>
            <a:r>
              <a:rPr sz="1600" b="1" dirty="0">
                <a:latin typeface="Arial"/>
                <a:cs typeface="Arial"/>
              </a:rPr>
              <a:t>Sem</a:t>
            </a:r>
            <a:r>
              <a:rPr sz="1600" b="1" spc="-25" dirty="0">
                <a:latin typeface="Arial"/>
                <a:cs typeface="Arial"/>
              </a:rPr>
              <a:t> </a:t>
            </a:r>
            <a:r>
              <a:rPr sz="1600" b="1" dirty="0">
                <a:latin typeface="Arial"/>
                <a:cs typeface="Arial"/>
              </a:rPr>
              <a:t>|</a:t>
            </a:r>
            <a:r>
              <a:rPr sz="1600" b="1" spc="-15" dirty="0">
                <a:latin typeface="Arial"/>
                <a:cs typeface="Arial"/>
              </a:rPr>
              <a:t> </a:t>
            </a:r>
            <a:r>
              <a:rPr sz="1600" b="1" dirty="0">
                <a:latin typeface="Arial"/>
                <a:cs typeface="Arial"/>
              </a:rPr>
              <a:t>Dept</a:t>
            </a:r>
            <a:r>
              <a:rPr sz="1600" b="1" spc="-20" dirty="0">
                <a:latin typeface="Arial"/>
                <a:cs typeface="Arial"/>
              </a:rPr>
              <a:t> </a:t>
            </a:r>
            <a:r>
              <a:rPr sz="1600" b="1" dirty="0">
                <a:latin typeface="Arial"/>
                <a:cs typeface="Arial"/>
              </a:rPr>
              <a:t>of</a:t>
            </a:r>
            <a:r>
              <a:rPr sz="1600" b="1" spc="190" dirty="0">
                <a:latin typeface="Arial"/>
                <a:cs typeface="Arial"/>
              </a:rPr>
              <a:t> </a:t>
            </a:r>
            <a:r>
              <a:rPr sz="1600" b="1" dirty="0">
                <a:latin typeface="Arial"/>
                <a:cs typeface="Arial"/>
              </a:rPr>
              <a:t>Computational</a:t>
            </a:r>
            <a:r>
              <a:rPr sz="1600" b="1" spc="-25" dirty="0">
                <a:latin typeface="Arial"/>
                <a:cs typeface="Arial"/>
              </a:rPr>
              <a:t> </a:t>
            </a:r>
            <a:r>
              <a:rPr sz="1600" b="1" dirty="0">
                <a:latin typeface="Arial"/>
                <a:cs typeface="Arial"/>
              </a:rPr>
              <a:t>Intelligence|</a:t>
            </a:r>
            <a:r>
              <a:rPr sz="1600" b="1" spc="-25" dirty="0">
                <a:latin typeface="Arial"/>
                <a:cs typeface="Arial"/>
              </a:rPr>
              <a:t> </a:t>
            </a:r>
            <a:r>
              <a:rPr sz="1600" b="1" dirty="0">
                <a:latin typeface="Arial"/>
                <a:cs typeface="Arial"/>
              </a:rPr>
              <a:t>Application</a:t>
            </a:r>
            <a:r>
              <a:rPr sz="1600" b="1" spc="-35" dirty="0">
                <a:latin typeface="Arial"/>
                <a:cs typeface="Arial"/>
              </a:rPr>
              <a:t> </a:t>
            </a:r>
            <a:r>
              <a:rPr sz="1600" b="1" dirty="0">
                <a:latin typeface="Arial"/>
                <a:cs typeface="Arial"/>
              </a:rPr>
              <a:t>Development</a:t>
            </a:r>
            <a:r>
              <a:rPr sz="1600" b="1" spc="5" dirty="0">
                <a:latin typeface="Arial"/>
                <a:cs typeface="Arial"/>
              </a:rPr>
              <a:t> </a:t>
            </a:r>
            <a:r>
              <a:rPr sz="1600" b="1" spc="-95" dirty="0">
                <a:latin typeface="Arial"/>
                <a:cs typeface="Arial"/>
              </a:rPr>
              <a:t>–</a:t>
            </a:r>
            <a:r>
              <a:rPr sz="1600" b="1" spc="-10" dirty="0">
                <a:latin typeface="Arial"/>
                <a:cs typeface="Arial"/>
              </a:rPr>
              <a:t> </a:t>
            </a:r>
            <a:r>
              <a:rPr sz="1600" b="1" spc="50" dirty="0">
                <a:latin typeface="Arial"/>
                <a:cs typeface="Arial"/>
              </a:rPr>
              <a:t>II</a:t>
            </a:r>
            <a:r>
              <a:rPr sz="1600" b="1" spc="-15" dirty="0">
                <a:latin typeface="Arial"/>
                <a:cs typeface="Arial"/>
              </a:rPr>
              <a:t> </a:t>
            </a:r>
            <a:r>
              <a:rPr sz="1600" b="1" dirty="0">
                <a:latin typeface="Arial"/>
                <a:cs typeface="Arial"/>
              </a:rPr>
              <a:t>|</a:t>
            </a:r>
            <a:r>
              <a:rPr sz="1600" b="1" spc="-5" dirty="0">
                <a:latin typeface="Arial"/>
                <a:cs typeface="Arial"/>
              </a:rPr>
              <a:t> </a:t>
            </a:r>
            <a:r>
              <a:rPr sz="1600" b="1" dirty="0">
                <a:latin typeface="Arial"/>
                <a:cs typeface="Arial"/>
              </a:rPr>
              <a:t>Project</a:t>
            </a:r>
            <a:r>
              <a:rPr sz="1600" b="1" spc="-30" dirty="0">
                <a:latin typeface="Arial"/>
                <a:cs typeface="Arial"/>
              </a:rPr>
              <a:t> </a:t>
            </a:r>
            <a:r>
              <a:rPr sz="1600" b="1" spc="-10" dirty="0">
                <a:latin typeface="Arial"/>
                <a:cs typeface="Arial"/>
              </a:rPr>
              <a:t>Review</a:t>
            </a:r>
            <a:endParaRPr sz="1600">
              <a:latin typeface="Arial"/>
              <a:cs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0" y="0"/>
            <a:ext cx="12192000" cy="1000760"/>
            <a:chOff x="0" y="0"/>
            <a:chExt cx="12192000" cy="1000760"/>
          </a:xfrm>
        </p:grpSpPr>
        <p:pic>
          <p:nvPicPr>
            <p:cNvPr id="3" name="object 3"/>
            <p:cNvPicPr/>
            <p:nvPr/>
          </p:nvPicPr>
          <p:blipFill>
            <a:blip r:embed="rId2" cstate="print"/>
            <a:stretch>
              <a:fillRect/>
            </a:stretch>
          </p:blipFill>
          <p:spPr>
            <a:xfrm>
              <a:off x="11353800" y="0"/>
              <a:ext cx="822198" cy="822198"/>
            </a:xfrm>
            <a:prstGeom prst="rect">
              <a:avLst/>
            </a:prstGeom>
          </p:spPr>
        </p:pic>
        <p:pic>
          <p:nvPicPr>
            <p:cNvPr id="4" name="object 4"/>
            <p:cNvPicPr/>
            <p:nvPr/>
          </p:nvPicPr>
          <p:blipFill>
            <a:blip r:embed="rId3" cstate="print"/>
            <a:stretch>
              <a:fillRect/>
            </a:stretch>
          </p:blipFill>
          <p:spPr>
            <a:xfrm>
              <a:off x="11290554" y="0"/>
              <a:ext cx="901446" cy="993648"/>
            </a:xfrm>
            <a:prstGeom prst="rect">
              <a:avLst/>
            </a:prstGeom>
          </p:spPr>
        </p:pic>
        <p:sp>
          <p:nvSpPr>
            <p:cNvPr id="5" name="object 5"/>
            <p:cNvSpPr/>
            <p:nvPr/>
          </p:nvSpPr>
          <p:spPr>
            <a:xfrm>
              <a:off x="0" y="0"/>
              <a:ext cx="12192000" cy="285115"/>
            </a:xfrm>
            <a:custGeom>
              <a:avLst/>
              <a:gdLst/>
              <a:ahLst/>
              <a:cxnLst/>
              <a:rect l="l" t="t" r="r" b="b"/>
              <a:pathLst>
                <a:path w="12192000" h="285115">
                  <a:moveTo>
                    <a:pt x="0" y="284606"/>
                  </a:moveTo>
                  <a:lnTo>
                    <a:pt x="12192000" y="284606"/>
                  </a:lnTo>
                  <a:lnTo>
                    <a:pt x="12192000" y="0"/>
                  </a:lnTo>
                  <a:lnTo>
                    <a:pt x="0" y="0"/>
                  </a:lnTo>
                  <a:lnTo>
                    <a:pt x="0" y="284606"/>
                  </a:lnTo>
                  <a:close/>
                </a:path>
              </a:pathLst>
            </a:custGeom>
            <a:solidFill>
              <a:srgbClr val="5B9BD4"/>
            </a:solidFill>
          </p:spPr>
          <p:txBody>
            <a:bodyPr wrap="square" lIns="0" tIns="0" rIns="0" bIns="0" rtlCol="0"/>
            <a:lstStyle/>
            <a:p>
              <a:endParaRPr/>
            </a:p>
          </p:txBody>
        </p:sp>
        <p:sp>
          <p:nvSpPr>
            <p:cNvPr id="6" name="object 6"/>
            <p:cNvSpPr/>
            <p:nvPr/>
          </p:nvSpPr>
          <p:spPr>
            <a:xfrm>
              <a:off x="0" y="284606"/>
              <a:ext cx="12192000" cy="0"/>
            </a:xfrm>
            <a:custGeom>
              <a:avLst/>
              <a:gdLst/>
              <a:ahLst/>
              <a:cxnLst/>
              <a:rect l="l" t="t" r="r" b="b"/>
              <a:pathLst>
                <a:path w="12192000">
                  <a:moveTo>
                    <a:pt x="0" y="0"/>
                  </a:moveTo>
                  <a:lnTo>
                    <a:pt x="11261979" y="0"/>
                  </a:lnTo>
                </a:path>
                <a:path w="12192000">
                  <a:moveTo>
                    <a:pt x="12176379" y="0"/>
                  </a:moveTo>
                  <a:lnTo>
                    <a:pt x="12192000" y="0"/>
                  </a:lnTo>
                </a:path>
              </a:pathLst>
            </a:custGeom>
            <a:ln w="12953">
              <a:solidFill>
                <a:srgbClr val="41709C"/>
              </a:solidFill>
            </a:ln>
          </p:spPr>
          <p:txBody>
            <a:bodyPr wrap="square" lIns="0" tIns="0" rIns="0" bIns="0" rtlCol="0"/>
            <a:lstStyle/>
            <a:p>
              <a:endParaRPr/>
            </a:p>
          </p:txBody>
        </p:sp>
        <p:sp>
          <p:nvSpPr>
            <p:cNvPr id="7" name="object 7"/>
            <p:cNvSpPr/>
            <p:nvPr/>
          </p:nvSpPr>
          <p:spPr>
            <a:xfrm>
              <a:off x="11261979" y="270129"/>
              <a:ext cx="914400" cy="723900"/>
            </a:xfrm>
            <a:custGeom>
              <a:avLst/>
              <a:gdLst/>
              <a:ahLst/>
              <a:cxnLst/>
              <a:rect l="l" t="t" r="r" b="b"/>
              <a:pathLst>
                <a:path w="914400" h="723900">
                  <a:moveTo>
                    <a:pt x="914400" y="0"/>
                  </a:moveTo>
                  <a:lnTo>
                    <a:pt x="0" y="0"/>
                  </a:lnTo>
                  <a:lnTo>
                    <a:pt x="0" y="723900"/>
                  </a:lnTo>
                  <a:lnTo>
                    <a:pt x="914400" y="723900"/>
                  </a:lnTo>
                  <a:lnTo>
                    <a:pt x="914400" y="0"/>
                  </a:lnTo>
                  <a:close/>
                </a:path>
              </a:pathLst>
            </a:custGeom>
            <a:solidFill>
              <a:srgbClr val="FFFFFF"/>
            </a:solidFill>
          </p:spPr>
          <p:txBody>
            <a:bodyPr wrap="square" lIns="0" tIns="0" rIns="0" bIns="0" rtlCol="0"/>
            <a:lstStyle/>
            <a:p>
              <a:endParaRPr/>
            </a:p>
          </p:txBody>
        </p:sp>
        <p:sp>
          <p:nvSpPr>
            <p:cNvPr id="8" name="object 8"/>
            <p:cNvSpPr/>
            <p:nvPr/>
          </p:nvSpPr>
          <p:spPr>
            <a:xfrm>
              <a:off x="11261979" y="270129"/>
              <a:ext cx="914400" cy="723900"/>
            </a:xfrm>
            <a:custGeom>
              <a:avLst/>
              <a:gdLst/>
              <a:ahLst/>
              <a:cxnLst/>
              <a:rect l="l" t="t" r="r" b="b"/>
              <a:pathLst>
                <a:path w="914400" h="723900">
                  <a:moveTo>
                    <a:pt x="0" y="723900"/>
                  </a:moveTo>
                  <a:lnTo>
                    <a:pt x="914400" y="723900"/>
                  </a:lnTo>
                  <a:lnTo>
                    <a:pt x="914400" y="0"/>
                  </a:lnTo>
                  <a:lnTo>
                    <a:pt x="0" y="0"/>
                  </a:lnTo>
                  <a:lnTo>
                    <a:pt x="0" y="723900"/>
                  </a:lnTo>
                  <a:close/>
                </a:path>
              </a:pathLst>
            </a:custGeom>
            <a:ln w="12954">
              <a:solidFill>
                <a:srgbClr val="FFFFFF"/>
              </a:solidFill>
            </a:ln>
          </p:spPr>
          <p:txBody>
            <a:bodyPr wrap="square" lIns="0" tIns="0" rIns="0" bIns="0" rtlCol="0"/>
            <a:lstStyle/>
            <a:p>
              <a:endParaRPr/>
            </a:p>
          </p:txBody>
        </p:sp>
        <p:pic>
          <p:nvPicPr>
            <p:cNvPr id="9" name="object 9"/>
            <p:cNvPicPr/>
            <p:nvPr/>
          </p:nvPicPr>
          <p:blipFill>
            <a:blip r:embed="rId4" cstate="print"/>
            <a:stretch>
              <a:fillRect/>
            </a:stretch>
          </p:blipFill>
          <p:spPr>
            <a:xfrm>
              <a:off x="10493502" y="0"/>
              <a:ext cx="1466850" cy="898398"/>
            </a:xfrm>
            <a:prstGeom prst="rect">
              <a:avLst/>
            </a:prstGeom>
          </p:spPr>
        </p:pic>
      </p:grpSp>
      <p:sp>
        <p:nvSpPr>
          <p:cNvPr id="11" name="object 11"/>
          <p:cNvSpPr txBox="1"/>
          <p:nvPr/>
        </p:nvSpPr>
        <p:spPr>
          <a:xfrm>
            <a:off x="686978" y="955930"/>
            <a:ext cx="11105135" cy="4875053"/>
          </a:xfrm>
          <a:prstGeom prst="rect">
            <a:avLst/>
          </a:prstGeom>
        </p:spPr>
        <p:txBody>
          <a:bodyPr vert="horz" wrap="square" lIns="0" tIns="103505" rIns="0" bIns="0" rtlCol="0">
            <a:spAutoFit/>
          </a:bodyPr>
          <a:lstStyle/>
          <a:p>
            <a:pPr marL="240029" indent="-227329">
              <a:lnSpc>
                <a:spcPct val="100000"/>
              </a:lnSpc>
              <a:spcBef>
                <a:spcPts val="815"/>
              </a:spcBef>
              <a:buFont typeface="Arial MT"/>
              <a:buChar char="•"/>
              <a:tabLst>
                <a:tab pos="240029" algn="l"/>
              </a:tabLst>
            </a:pPr>
            <a:r>
              <a:rPr lang="en-IN" sz="2500" dirty="0" smtClean="0">
                <a:latin typeface="Times New Roman"/>
                <a:cs typeface="Times New Roman"/>
              </a:rPr>
              <a:t>Implementation – Module 1</a:t>
            </a:r>
          </a:p>
          <a:p>
            <a:pPr marL="240029" indent="-227329">
              <a:lnSpc>
                <a:spcPct val="100000"/>
              </a:lnSpc>
              <a:spcBef>
                <a:spcPts val="815"/>
              </a:spcBef>
              <a:buFont typeface="Arial MT"/>
              <a:buChar char="•"/>
              <a:tabLst>
                <a:tab pos="240029" algn="l"/>
              </a:tabLst>
            </a:pPr>
            <a:r>
              <a:rPr lang="en-IN" sz="2500" dirty="0" smtClean="0">
                <a:latin typeface="Times New Roman"/>
                <a:cs typeface="Times New Roman"/>
              </a:rPr>
              <a:t>Implementation – Module 2</a:t>
            </a:r>
          </a:p>
          <a:p>
            <a:pPr marL="240029" indent="-227329">
              <a:lnSpc>
                <a:spcPct val="100000"/>
              </a:lnSpc>
              <a:spcBef>
                <a:spcPts val="815"/>
              </a:spcBef>
              <a:buFont typeface="Arial MT"/>
              <a:buChar char="•"/>
              <a:tabLst>
                <a:tab pos="240029" algn="l"/>
              </a:tabLst>
            </a:pPr>
            <a:r>
              <a:rPr lang="en-IN" sz="2500" dirty="0" smtClean="0">
                <a:latin typeface="Times New Roman"/>
                <a:cs typeface="Times New Roman"/>
              </a:rPr>
              <a:t>Implementation – Module 3</a:t>
            </a:r>
          </a:p>
          <a:p>
            <a:pPr marL="240029" indent="-227329">
              <a:lnSpc>
                <a:spcPct val="100000"/>
              </a:lnSpc>
              <a:spcBef>
                <a:spcPts val="815"/>
              </a:spcBef>
              <a:buFont typeface="Arial MT"/>
              <a:buChar char="•"/>
              <a:tabLst>
                <a:tab pos="240029" algn="l"/>
              </a:tabLst>
            </a:pPr>
            <a:r>
              <a:rPr lang="en-IN" sz="2500" dirty="0" smtClean="0">
                <a:latin typeface="Times New Roman"/>
                <a:cs typeface="Times New Roman"/>
              </a:rPr>
              <a:t>Experimental Setup</a:t>
            </a:r>
          </a:p>
          <a:p>
            <a:pPr marL="240029" indent="-227329">
              <a:lnSpc>
                <a:spcPct val="100000"/>
              </a:lnSpc>
              <a:spcBef>
                <a:spcPts val="815"/>
              </a:spcBef>
              <a:buFont typeface="Arial MT"/>
              <a:buChar char="•"/>
              <a:tabLst>
                <a:tab pos="240029" algn="l"/>
              </a:tabLst>
            </a:pPr>
            <a:r>
              <a:rPr lang="en-IN" sz="2500" dirty="0" smtClean="0">
                <a:latin typeface="Times New Roman"/>
                <a:cs typeface="Times New Roman"/>
              </a:rPr>
              <a:t>Results</a:t>
            </a:r>
          </a:p>
          <a:p>
            <a:pPr marL="240029" indent="-227329">
              <a:lnSpc>
                <a:spcPct val="100000"/>
              </a:lnSpc>
              <a:spcBef>
                <a:spcPts val="815"/>
              </a:spcBef>
              <a:buFont typeface="Arial MT"/>
              <a:buChar char="•"/>
              <a:tabLst>
                <a:tab pos="240029" algn="l"/>
              </a:tabLst>
            </a:pPr>
            <a:r>
              <a:rPr lang="en-IN" sz="2500" dirty="0" smtClean="0">
                <a:latin typeface="Times New Roman"/>
                <a:cs typeface="Times New Roman"/>
              </a:rPr>
              <a:t>Performance Evaluation</a:t>
            </a:r>
          </a:p>
          <a:p>
            <a:pPr marL="240029" indent="-227329">
              <a:lnSpc>
                <a:spcPct val="100000"/>
              </a:lnSpc>
              <a:spcBef>
                <a:spcPts val="815"/>
              </a:spcBef>
              <a:buFont typeface="Arial MT"/>
              <a:buChar char="•"/>
              <a:tabLst>
                <a:tab pos="240029" algn="l"/>
              </a:tabLst>
            </a:pPr>
            <a:r>
              <a:rPr lang="en-IN" sz="2500" dirty="0" smtClean="0">
                <a:latin typeface="Times New Roman"/>
                <a:cs typeface="Times New Roman"/>
              </a:rPr>
              <a:t>Screenshots / Working Demo</a:t>
            </a:r>
          </a:p>
          <a:p>
            <a:pPr marL="240029" indent="-227329">
              <a:lnSpc>
                <a:spcPct val="100000"/>
              </a:lnSpc>
              <a:spcBef>
                <a:spcPts val="815"/>
              </a:spcBef>
              <a:buFont typeface="Arial MT"/>
              <a:buChar char="•"/>
              <a:tabLst>
                <a:tab pos="240029" algn="l"/>
              </a:tabLst>
            </a:pPr>
            <a:r>
              <a:rPr lang="en-IN" sz="2500" dirty="0" smtClean="0">
                <a:latin typeface="Times New Roman"/>
                <a:cs typeface="Times New Roman"/>
              </a:rPr>
              <a:t>Comparison with Existing System</a:t>
            </a:r>
          </a:p>
          <a:p>
            <a:pPr marL="240029" indent="-227329">
              <a:lnSpc>
                <a:spcPct val="100000"/>
              </a:lnSpc>
              <a:spcBef>
                <a:spcPts val="815"/>
              </a:spcBef>
              <a:buFont typeface="Arial MT"/>
              <a:buChar char="•"/>
              <a:tabLst>
                <a:tab pos="240029" algn="l"/>
              </a:tabLst>
            </a:pPr>
            <a:r>
              <a:rPr lang="en-IN" sz="2500" dirty="0" smtClean="0">
                <a:latin typeface="Times New Roman"/>
                <a:cs typeface="Times New Roman"/>
              </a:rPr>
              <a:t>Challenges and Solutions</a:t>
            </a:r>
          </a:p>
          <a:p>
            <a:pPr marL="240029" indent="-227329">
              <a:lnSpc>
                <a:spcPct val="100000"/>
              </a:lnSpc>
              <a:spcBef>
                <a:spcPts val="815"/>
              </a:spcBef>
              <a:buFont typeface="Arial MT"/>
              <a:buChar char="•"/>
              <a:tabLst>
                <a:tab pos="240029" algn="l"/>
              </a:tabLst>
            </a:pPr>
            <a:r>
              <a:rPr lang="en-IN" sz="2500" dirty="0" smtClean="0">
                <a:latin typeface="Times New Roman"/>
                <a:cs typeface="Times New Roman"/>
              </a:rPr>
              <a:t>Future Work</a:t>
            </a:r>
          </a:p>
        </p:txBody>
      </p:sp>
      <p:grpSp>
        <p:nvGrpSpPr>
          <p:cNvPr id="12" name="object 12"/>
          <p:cNvGrpSpPr/>
          <p:nvPr/>
        </p:nvGrpSpPr>
        <p:grpSpPr>
          <a:xfrm>
            <a:off x="-6095" y="6470903"/>
            <a:ext cx="12204700" cy="393700"/>
            <a:chOff x="-6095" y="6470903"/>
            <a:chExt cx="12204700" cy="393700"/>
          </a:xfrm>
        </p:grpSpPr>
        <p:sp>
          <p:nvSpPr>
            <p:cNvPr id="13" name="object 13"/>
            <p:cNvSpPr/>
            <p:nvPr/>
          </p:nvSpPr>
          <p:spPr>
            <a:xfrm>
              <a:off x="381" y="6477380"/>
              <a:ext cx="12192000" cy="381000"/>
            </a:xfrm>
            <a:custGeom>
              <a:avLst/>
              <a:gdLst/>
              <a:ahLst/>
              <a:cxnLst/>
              <a:rect l="l" t="t" r="r" b="b"/>
              <a:pathLst>
                <a:path w="12192000" h="381000">
                  <a:moveTo>
                    <a:pt x="12191619" y="0"/>
                  </a:moveTo>
                  <a:lnTo>
                    <a:pt x="0" y="0"/>
                  </a:lnTo>
                  <a:lnTo>
                    <a:pt x="0" y="380619"/>
                  </a:lnTo>
                  <a:lnTo>
                    <a:pt x="12191619" y="380619"/>
                  </a:lnTo>
                  <a:lnTo>
                    <a:pt x="12191619" y="0"/>
                  </a:lnTo>
                  <a:close/>
                </a:path>
              </a:pathLst>
            </a:custGeom>
            <a:solidFill>
              <a:srgbClr val="5B9BD4"/>
            </a:solidFill>
          </p:spPr>
          <p:txBody>
            <a:bodyPr wrap="square" lIns="0" tIns="0" rIns="0" bIns="0" rtlCol="0"/>
            <a:lstStyle/>
            <a:p>
              <a:endParaRPr/>
            </a:p>
          </p:txBody>
        </p:sp>
        <p:sp>
          <p:nvSpPr>
            <p:cNvPr id="14" name="object 14"/>
            <p:cNvSpPr/>
            <p:nvPr/>
          </p:nvSpPr>
          <p:spPr>
            <a:xfrm>
              <a:off x="381" y="6477380"/>
              <a:ext cx="12192000" cy="381000"/>
            </a:xfrm>
            <a:custGeom>
              <a:avLst/>
              <a:gdLst/>
              <a:ahLst/>
              <a:cxnLst/>
              <a:rect l="l" t="t" r="r" b="b"/>
              <a:pathLst>
                <a:path w="12192000" h="381000">
                  <a:moveTo>
                    <a:pt x="12191619" y="0"/>
                  </a:moveTo>
                  <a:lnTo>
                    <a:pt x="0" y="0"/>
                  </a:lnTo>
                  <a:lnTo>
                    <a:pt x="0" y="380619"/>
                  </a:lnTo>
                </a:path>
              </a:pathLst>
            </a:custGeom>
            <a:ln w="12953">
              <a:solidFill>
                <a:srgbClr val="41709C"/>
              </a:solidFill>
            </a:ln>
          </p:spPr>
          <p:txBody>
            <a:bodyPr wrap="square" lIns="0" tIns="0" rIns="0" bIns="0" rtlCol="0"/>
            <a:lstStyle/>
            <a:p>
              <a:endParaRPr/>
            </a:p>
          </p:txBody>
        </p:sp>
      </p:grpSp>
      <p:sp>
        <p:nvSpPr>
          <p:cNvPr id="15" name="object 15"/>
          <p:cNvSpPr txBox="1">
            <a:spLocks noGrp="1"/>
          </p:cNvSpPr>
          <p:nvPr>
            <p:ph type="ftr" sz="quarter" idx="5"/>
          </p:nvPr>
        </p:nvSpPr>
        <p:spPr>
          <a:prstGeom prst="rect">
            <a:avLst/>
          </a:prstGeom>
        </p:spPr>
        <p:txBody>
          <a:bodyPr vert="horz" wrap="square" lIns="0" tIns="0" rIns="0" bIns="0" rtlCol="0">
            <a:spAutoFit/>
          </a:bodyPr>
          <a:lstStyle/>
          <a:p>
            <a:pPr marL="12700">
              <a:lnSpc>
                <a:spcPts val="1710"/>
              </a:lnSpc>
            </a:pPr>
            <a:r>
              <a:rPr dirty="0"/>
              <a:t>MRCET</a:t>
            </a:r>
            <a:r>
              <a:rPr spc="-15" dirty="0"/>
              <a:t> </a:t>
            </a:r>
            <a:r>
              <a:rPr dirty="0"/>
              <a:t>|</a:t>
            </a:r>
            <a:r>
              <a:rPr spc="-15" dirty="0"/>
              <a:t> </a:t>
            </a:r>
            <a:r>
              <a:rPr spc="-10" dirty="0"/>
              <a:t>Department</a:t>
            </a:r>
            <a:r>
              <a:rPr dirty="0"/>
              <a:t> of Emerging</a:t>
            </a:r>
            <a:r>
              <a:rPr spc="-5" dirty="0"/>
              <a:t> </a:t>
            </a:r>
            <a:r>
              <a:rPr spc="-25" dirty="0"/>
              <a:t>Technologies</a:t>
            </a:r>
            <a:r>
              <a:rPr spc="5" dirty="0"/>
              <a:t> </a:t>
            </a:r>
            <a:r>
              <a:rPr dirty="0"/>
              <a:t>|</a:t>
            </a:r>
            <a:r>
              <a:rPr spc="-5" dirty="0"/>
              <a:t> </a:t>
            </a:r>
            <a:r>
              <a:rPr spc="-10" dirty="0"/>
              <a:t>Application</a:t>
            </a:r>
            <a:r>
              <a:rPr spc="-15" dirty="0"/>
              <a:t> </a:t>
            </a:r>
            <a:r>
              <a:rPr spc="-20" dirty="0"/>
              <a:t>Development-</a:t>
            </a:r>
            <a:r>
              <a:rPr dirty="0"/>
              <a:t>II</a:t>
            </a:r>
            <a:r>
              <a:rPr spc="10" dirty="0"/>
              <a:t> </a:t>
            </a:r>
            <a:r>
              <a:rPr dirty="0"/>
              <a:t>PPT|</a:t>
            </a:r>
            <a:r>
              <a:rPr spc="-20" dirty="0"/>
              <a:t> </a:t>
            </a:r>
            <a:r>
              <a:rPr dirty="0"/>
              <a:t>III</a:t>
            </a:r>
            <a:r>
              <a:rPr spc="-20" dirty="0"/>
              <a:t> Year</a:t>
            </a:r>
            <a:r>
              <a:rPr dirty="0"/>
              <a:t> </a:t>
            </a:r>
            <a:r>
              <a:rPr spc="-55" dirty="0"/>
              <a:t>B.Tech-</a:t>
            </a:r>
            <a:r>
              <a:rPr dirty="0"/>
              <a:t>II</a:t>
            </a:r>
            <a:r>
              <a:rPr spc="-15" dirty="0"/>
              <a:t> </a:t>
            </a:r>
            <a:r>
              <a:rPr spc="-10" dirty="0"/>
              <a:t>Semester</a:t>
            </a:r>
          </a:p>
        </p:txBody>
      </p:sp>
      <p:sp>
        <p:nvSpPr>
          <p:cNvPr id="16" name="object 16"/>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spc="-50" dirty="0"/>
              <a:t>3</a:t>
            </a:fld>
            <a:endParaRPr spc="-50" dirty="0"/>
          </a:p>
        </p:txBody>
      </p:sp>
      <p:sp>
        <p:nvSpPr>
          <p:cNvPr id="17" name="object 17"/>
          <p:cNvSpPr txBox="1"/>
          <p:nvPr/>
        </p:nvSpPr>
        <p:spPr>
          <a:xfrm>
            <a:off x="919988" y="6546615"/>
            <a:ext cx="10353040" cy="261620"/>
          </a:xfrm>
          <a:prstGeom prst="rect">
            <a:avLst/>
          </a:prstGeom>
        </p:spPr>
        <p:txBody>
          <a:bodyPr vert="horz" wrap="square" lIns="0" tIns="1905" rIns="0" bIns="0" rtlCol="0">
            <a:spAutoFit/>
          </a:bodyPr>
          <a:lstStyle/>
          <a:p>
            <a:pPr marL="12700">
              <a:lnSpc>
                <a:spcPct val="100000"/>
              </a:lnSpc>
              <a:spcBef>
                <a:spcPts val="15"/>
              </a:spcBef>
            </a:pPr>
            <a:r>
              <a:rPr sz="1600" b="1" spc="-10" dirty="0">
                <a:latin typeface="Arial"/>
                <a:cs typeface="Arial"/>
              </a:rPr>
              <a:t>B.Tech</a:t>
            </a:r>
            <a:r>
              <a:rPr sz="1600" b="1" spc="-30" dirty="0">
                <a:latin typeface="Arial"/>
                <a:cs typeface="Arial"/>
              </a:rPr>
              <a:t> </a:t>
            </a:r>
            <a:r>
              <a:rPr sz="1600" b="1" spc="50" dirty="0">
                <a:latin typeface="Arial"/>
                <a:cs typeface="Arial"/>
              </a:rPr>
              <a:t>III</a:t>
            </a:r>
            <a:r>
              <a:rPr sz="1600" b="1" spc="-20" dirty="0">
                <a:latin typeface="Arial"/>
                <a:cs typeface="Arial"/>
              </a:rPr>
              <a:t> </a:t>
            </a:r>
            <a:r>
              <a:rPr sz="1600" b="1" dirty="0">
                <a:latin typeface="Arial"/>
                <a:cs typeface="Arial"/>
              </a:rPr>
              <a:t>Year</a:t>
            </a:r>
            <a:r>
              <a:rPr sz="1600" b="1" spc="-25" dirty="0">
                <a:latin typeface="Arial"/>
                <a:cs typeface="Arial"/>
              </a:rPr>
              <a:t> </a:t>
            </a:r>
            <a:r>
              <a:rPr sz="1600" b="1" spc="-95" dirty="0">
                <a:latin typeface="Arial"/>
                <a:cs typeface="Arial"/>
              </a:rPr>
              <a:t>–</a:t>
            </a:r>
            <a:r>
              <a:rPr sz="1600" b="1" spc="-5" dirty="0">
                <a:latin typeface="Arial"/>
                <a:cs typeface="Arial"/>
              </a:rPr>
              <a:t> </a:t>
            </a:r>
            <a:r>
              <a:rPr sz="1600" b="1" spc="50" dirty="0">
                <a:latin typeface="Arial"/>
                <a:cs typeface="Arial"/>
              </a:rPr>
              <a:t>II</a:t>
            </a:r>
            <a:r>
              <a:rPr sz="1600" b="1" spc="-20" dirty="0">
                <a:latin typeface="Arial"/>
                <a:cs typeface="Arial"/>
              </a:rPr>
              <a:t> </a:t>
            </a:r>
            <a:r>
              <a:rPr sz="1600" b="1" dirty="0">
                <a:latin typeface="Arial"/>
                <a:cs typeface="Arial"/>
              </a:rPr>
              <a:t>Sem</a:t>
            </a:r>
            <a:r>
              <a:rPr sz="1600" b="1" spc="-25" dirty="0">
                <a:latin typeface="Arial"/>
                <a:cs typeface="Arial"/>
              </a:rPr>
              <a:t> </a:t>
            </a:r>
            <a:r>
              <a:rPr sz="1600" b="1" dirty="0">
                <a:latin typeface="Arial"/>
                <a:cs typeface="Arial"/>
              </a:rPr>
              <a:t>|</a:t>
            </a:r>
            <a:r>
              <a:rPr sz="1600" b="1" spc="-15" dirty="0">
                <a:latin typeface="Arial"/>
                <a:cs typeface="Arial"/>
              </a:rPr>
              <a:t> </a:t>
            </a:r>
            <a:r>
              <a:rPr sz="1600" b="1" dirty="0">
                <a:latin typeface="Arial"/>
                <a:cs typeface="Arial"/>
              </a:rPr>
              <a:t>Dept</a:t>
            </a:r>
            <a:r>
              <a:rPr sz="1600" b="1" spc="-20" dirty="0">
                <a:latin typeface="Arial"/>
                <a:cs typeface="Arial"/>
              </a:rPr>
              <a:t> </a:t>
            </a:r>
            <a:r>
              <a:rPr sz="1600" b="1" dirty="0">
                <a:latin typeface="Arial"/>
                <a:cs typeface="Arial"/>
              </a:rPr>
              <a:t>of</a:t>
            </a:r>
            <a:r>
              <a:rPr sz="1600" b="1" spc="190" dirty="0">
                <a:latin typeface="Arial"/>
                <a:cs typeface="Arial"/>
              </a:rPr>
              <a:t> </a:t>
            </a:r>
            <a:r>
              <a:rPr sz="1600" b="1" dirty="0">
                <a:latin typeface="Arial"/>
                <a:cs typeface="Arial"/>
              </a:rPr>
              <a:t>Computational</a:t>
            </a:r>
            <a:r>
              <a:rPr sz="1600" b="1" spc="-25" dirty="0">
                <a:latin typeface="Arial"/>
                <a:cs typeface="Arial"/>
              </a:rPr>
              <a:t> </a:t>
            </a:r>
            <a:r>
              <a:rPr sz="1600" b="1" dirty="0">
                <a:latin typeface="Arial"/>
                <a:cs typeface="Arial"/>
              </a:rPr>
              <a:t>Intelligence|</a:t>
            </a:r>
            <a:r>
              <a:rPr sz="1600" b="1" spc="-25" dirty="0">
                <a:latin typeface="Arial"/>
                <a:cs typeface="Arial"/>
              </a:rPr>
              <a:t> </a:t>
            </a:r>
            <a:r>
              <a:rPr sz="1600" b="1" dirty="0">
                <a:latin typeface="Arial"/>
                <a:cs typeface="Arial"/>
              </a:rPr>
              <a:t>Application</a:t>
            </a:r>
            <a:r>
              <a:rPr sz="1600" b="1" spc="-35" dirty="0">
                <a:latin typeface="Arial"/>
                <a:cs typeface="Arial"/>
              </a:rPr>
              <a:t> </a:t>
            </a:r>
            <a:r>
              <a:rPr sz="1600" b="1" dirty="0">
                <a:latin typeface="Arial"/>
                <a:cs typeface="Arial"/>
              </a:rPr>
              <a:t>Development</a:t>
            </a:r>
            <a:r>
              <a:rPr sz="1600" b="1" spc="5" dirty="0">
                <a:latin typeface="Arial"/>
                <a:cs typeface="Arial"/>
              </a:rPr>
              <a:t> </a:t>
            </a:r>
            <a:r>
              <a:rPr sz="1600" b="1" spc="-95" dirty="0">
                <a:latin typeface="Arial"/>
                <a:cs typeface="Arial"/>
              </a:rPr>
              <a:t>–</a:t>
            </a:r>
            <a:r>
              <a:rPr sz="1600" b="1" spc="-10" dirty="0">
                <a:latin typeface="Arial"/>
                <a:cs typeface="Arial"/>
              </a:rPr>
              <a:t> </a:t>
            </a:r>
            <a:r>
              <a:rPr sz="1600" b="1" spc="50" dirty="0">
                <a:latin typeface="Arial"/>
                <a:cs typeface="Arial"/>
              </a:rPr>
              <a:t>II</a:t>
            </a:r>
            <a:r>
              <a:rPr sz="1600" b="1" spc="-15" dirty="0">
                <a:latin typeface="Arial"/>
                <a:cs typeface="Arial"/>
              </a:rPr>
              <a:t> </a:t>
            </a:r>
            <a:r>
              <a:rPr sz="1600" b="1" dirty="0">
                <a:latin typeface="Arial"/>
                <a:cs typeface="Arial"/>
              </a:rPr>
              <a:t>|</a:t>
            </a:r>
            <a:r>
              <a:rPr sz="1600" b="1" spc="-5" dirty="0">
                <a:latin typeface="Arial"/>
                <a:cs typeface="Arial"/>
              </a:rPr>
              <a:t> </a:t>
            </a:r>
            <a:r>
              <a:rPr sz="1600" b="1" dirty="0">
                <a:latin typeface="Arial"/>
                <a:cs typeface="Arial"/>
              </a:rPr>
              <a:t>Project</a:t>
            </a:r>
            <a:r>
              <a:rPr sz="1600" b="1" spc="-30" dirty="0">
                <a:latin typeface="Arial"/>
                <a:cs typeface="Arial"/>
              </a:rPr>
              <a:t> </a:t>
            </a:r>
            <a:r>
              <a:rPr sz="1600" b="1" spc="-10" dirty="0">
                <a:latin typeface="Arial"/>
                <a:cs typeface="Arial"/>
              </a:rPr>
              <a:t>Review</a:t>
            </a:r>
            <a:endParaRPr sz="1600">
              <a:latin typeface="Arial"/>
              <a:cs typeface="Arial"/>
            </a:endParaRPr>
          </a:p>
        </p:txBody>
      </p:sp>
    </p:spTree>
    <p:extLst>
      <p:ext uri="{BB962C8B-B14F-4D97-AF65-F5344CB8AC3E}">
        <p14:creationId xmlns:p14="http://schemas.microsoft.com/office/powerpoint/2010/main" val="11783842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0" y="0"/>
            <a:ext cx="12192000" cy="1000760"/>
            <a:chOff x="0" y="0"/>
            <a:chExt cx="12192000" cy="1000760"/>
          </a:xfrm>
        </p:grpSpPr>
        <p:pic>
          <p:nvPicPr>
            <p:cNvPr id="3" name="object 3"/>
            <p:cNvPicPr/>
            <p:nvPr/>
          </p:nvPicPr>
          <p:blipFill>
            <a:blip r:embed="rId2" cstate="print"/>
            <a:stretch>
              <a:fillRect/>
            </a:stretch>
          </p:blipFill>
          <p:spPr>
            <a:xfrm>
              <a:off x="11353800" y="0"/>
              <a:ext cx="822198" cy="822198"/>
            </a:xfrm>
            <a:prstGeom prst="rect">
              <a:avLst/>
            </a:prstGeom>
          </p:spPr>
        </p:pic>
        <p:pic>
          <p:nvPicPr>
            <p:cNvPr id="4" name="object 4"/>
            <p:cNvPicPr/>
            <p:nvPr/>
          </p:nvPicPr>
          <p:blipFill>
            <a:blip r:embed="rId3" cstate="print"/>
            <a:stretch>
              <a:fillRect/>
            </a:stretch>
          </p:blipFill>
          <p:spPr>
            <a:xfrm>
              <a:off x="11290554" y="0"/>
              <a:ext cx="901446" cy="993648"/>
            </a:xfrm>
            <a:prstGeom prst="rect">
              <a:avLst/>
            </a:prstGeom>
          </p:spPr>
        </p:pic>
        <p:sp>
          <p:nvSpPr>
            <p:cNvPr id="5" name="object 5"/>
            <p:cNvSpPr/>
            <p:nvPr/>
          </p:nvSpPr>
          <p:spPr>
            <a:xfrm>
              <a:off x="0" y="0"/>
              <a:ext cx="12192000" cy="285115"/>
            </a:xfrm>
            <a:custGeom>
              <a:avLst/>
              <a:gdLst/>
              <a:ahLst/>
              <a:cxnLst/>
              <a:rect l="l" t="t" r="r" b="b"/>
              <a:pathLst>
                <a:path w="12192000" h="285115">
                  <a:moveTo>
                    <a:pt x="0" y="284606"/>
                  </a:moveTo>
                  <a:lnTo>
                    <a:pt x="12192000" y="284606"/>
                  </a:lnTo>
                  <a:lnTo>
                    <a:pt x="12192000" y="0"/>
                  </a:lnTo>
                  <a:lnTo>
                    <a:pt x="0" y="0"/>
                  </a:lnTo>
                  <a:lnTo>
                    <a:pt x="0" y="284606"/>
                  </a:lnTo>
                  <a:close/>
                </a:path>
              </a:pathLst>
            </a:custGeom>
            <a:solidFill>
              <a:srgbClr val="5B9BD4"/>
            </a:solidFill>
          </p:spPr>
          <p:txBody>
            <a:bodyPr wrap="square" lIns="0" tIns="0" rIns="0" bIns="0" rtlCol="0"/>
            <a:lstStyle/>
            <a:p>
              <a:endParaRPr/>
            </a:p>
          </p:txBody>
        </p:sp>
        <p:sp>
          <p:nvSpPr>
            <p:cNvPr id="6" name="object 6"/>
            <p:cNvSpPr/>
            <p:nvPr/>
          </p:nvSpPr>
          <p:spPr>
            <a:xfrm>
              <a:off x="0" y="284606"/>
              <a:ext cx="12192000" cy="0"/>
            </a:xfrm>
            <a:custGeom>
              <a:avLst/>
              <a:gdLst/>
              <a:ahLst/>
              <a:cxnLst/>
              <a:rect l="l" t="t" r="r" b="b"/>
              <a:pathLst>
                <a:path w="12192000">
                  <a:moveTo>
                    <a:pt x="0" y="0"/>
                  </a:moveTo>
                  <a:lnTo>
                    <a:pt x="11261979" y="0"/>
                  </a:lnTo>
                </a:path>
                <a:path w="12192000">
                  <a:moveTo>
                    <a:pt x="12176379" y="0"/>
                  </a:moveTo>
                  <a:lnTo>
                    <a:pt x="12192000" y="0"/>
                  </a:lnTo>
                </a:path>
              </a:pathLst>
            </a:custGeom>
            <a:ln w="12953">
              <a:solidFill>
                <a:srgbClr val="41709C"/>
              </a:solidFill>
            </a:ln>
          </p:spPr>
          <p:txBody>
            <a:bodyPr wrap="square" lIns="0" tIns="0" rIns="0" bIns="0" rtlCol="0"/>
            <a:lstStyle/>
            <a:p>
              <a:endParaRPr/>
            </a:p>
          </p:txBody>
        </p:sp>
        <p:sp>
          <p:nvSpPr>
            <p:cNvPr id="7" name="object 7"/>
            <p:cNvSpPr/>
            <p:nvPr/>
          </p:nvSpPr>
          <p:spPr>
            <a:xfrm>
              <a:off x="11261979" y="270129"/>
              <a:ext cx="914400" cy="723900"/>
            </a:xfrm>
            <a:custGeom>
              <a:avLst/>
              <a:gdLst/>
              <a:ahLst/>
              <a:cxnLst/>
              <a:rect l="l" t="t" r="r" b="b"/>
              <a:pathLst>
                <a:path w="914400" h="723900">
                  <a:moveTo>
                    <a:pt x="914400" y="0"/>
                  </a:moveTo>
                  <a:lnTo>
                    <a:pt x="0" y="0"/>
                  </a:lnTo>
                  <a:lnTo>
                    <a:pt x="0" y="723900"/>
                  </a:lnTo>
                  <a:lnTo>
                    <a:pt x="914400" y="723900"/>
                  </a:lnTo>
                  <a:lnTo>
                    <a:pt x="914400" y="0"/>
                  </a:lnTo>
                  <a:close/>
                </a:path>
              </a:pathLst>
            </a:custGeom>
            <a:solidFill>
              <a:srgbClr val="FFFFFF"/>
            </a:solidFill>
          </p:spPr>
          <p:txBody>
            <a:bodyPr wrap="square" lIns="0" tIns="0" rIns="0" bIns="0" rtlCol="0"/>
            <a:lstStyle/>
            <a:p>
              <a:endParaRPr/>
            </a:p>
          </p:txBody>
        </p:sp>
        <p:sp>
          <p:nvSpPr>
            <p:cNvPr id="8" name="object 8"/>
            <p:cNvSpPr/>
            <p:nvPr/>
          </p:nvSpPr>
          <p:spPr>
            <a:xfrm>
              <a:off x="11261979" y="270129"/>
              <a:ext cx="914400" cy="723900"/>
            </a:xfrm>
            <a:custGeom>
              <a:avLst/>
              <a:gdLst/>
              <a:ahLst/>
              <a:cxnLst/>
              <a:rect l="l" t="t" r="r" b="b"/>
              <a:pathLst>
                <a:path w="914400" h="723900">
                  <a:moveTo>
                    <a:pt x="0" y="723900"/>
                  </a:moveTo>
                  <a:lnTo>
                    <a:pt x="914400" y="723900"/>
                  </a:lnTo>
                  <a:lnTo>
                    <a:pt x="914400" y="0"/>
                  </a:lnTo>
                  <a:lnTo>
                    <a:pt x="0" y="0"/>
                  </a:lnTo>
                  <a:lnTo>
                    <a:pt x="0" y="723900"/>
                  </a:lnTo>
                  <a:close/>
                </a:path>
              </a:pathLst>
            </a:custGeom>
            <a:ln w="12954">
              <a:solidFill>
                <a:srgbClr val="FFFFFF"/>
              </a:solidFill>
            </a:ln>
          </p:spPr>
          <p:txBody>
            <a:bodyPr wrap="square" lIns="0" tIns="0" rIns="0" bIns="0" rtlCol="0"/>
            <a:lstStyle/>
            <a:p>
              <a:endParaRPr/>
            </a:p>
          </p:txBody>
        </p:sp>
        <p:pic>
          <p:nvPicPr>
            <p:cNvPr id="9" name="object 9"/>
            <p:cNvPicPr/>
            <p:nvPr/>
          </p:nvPicPr>
          <p:blipFill>
            <a:blip r:embed="rId4" cstate="print"/>
            <a:stretch>
              <a:fillRect/>
            </a:stretch>
          </p:blipFill>
          <p:spPr>
            <a:xfrm>
              <a:off x="10493502" y="0"/>
              <a:ext cx="1466850" cy="898398"/>
            </a:xfrm>
            <a:prstGeom prst="rect">
              <a:avLst/>
            </a:prstGeom>
          </p:spPr>
        </p:pic>
      </p:grpSp>
      <p:sp>
        <p:nvSpPr>
          <p:cNvPr id="11" name="object 11"/>
          <p:cNvSpPr txBox="1"/>
          <p:nvPr/>
        </p:nvSpPr>
        <p:spPr>
          <a:xfrm>
            <a:off x="686978" y="955930"/>
            <a:ext cx="11105135" cy="976549"/>
          </a:xfrm>
          <a:prstGeom prst="rect">
            <a:avLst/>
          </a:prstGeom>
        </p:spPr>
        <p:txBody>
          <a:bodyPr vert="horz" wrap="square" lIns="0" tIns="103505" rIns="0" bIns="0" rtlCol="0">
            <a:spAutoFit/>
          </a:bodyPr>
          <a:lstStyle/>
          <a:p>
            <a:pPr marL="240029" indent="-227329">
              <a:lnSpc>
                <a:spcPct val="100000"/>
              </a:lnSpc>
              <a:spcBef>
                <a:spcPts val="815"/>
              </a:spcBef>
              <a:buFont typeface="Arial MT"/>
              <a:buChar char="•"/>
              <a:tabLst>
                <a:tab pos="240029" algn="l"/>
              </a:tabLst>
            </a:pPr>
            <a:r>
              <a:rPr lang="en-IN" sz="2500" dirty="0" smtClean="0">
                <a:latin typeface="Times New Roman"/>
                <a:cs typeface="Times New Roman"/>
              </a:rPr>
              <a:t>Conclusion</a:t>
            </a:r>
          </a:p>
          <a:p>
            <a:pPr marL="240029" indent="-227329">
              <a:lnSpc>
                <a:spcPct val="100000"/>
              </a:lnSpc>
              <a:spcBef>
                <a:spcPts val="815"/>
              </a:spcBef>
              <a:buFont typeface="Arial MT"/>
              <a:buChar char="•"/>
              <a:tabLst>
                <a:tab pos="240029" algn="l"/>
              </a:tabLst>
            </a:pPr>
            <a:r>
              <a:rPr lang="en-IN" sz="2500" dirty="0" smtClean="0">
                <a:latin typeface="Times New Roman"/>
                <a:cs typeface="Times New Roman"/>
              </a:rPr>
              <a:t>References</a:t>
            </a:r>
          </a:p>
        </p:txBody>
      </p:sp>
      <p:grpSp>
        <p:nvGrpSpPr>
          <p:cNvPr id="12" name="object 12"/>
          <p:cNvGrpSpPr/>
          <p:nvPr/>
        </p:nvGrpSpPr>
        <p:grpSpPr>
          <a:xfrm>
            <a:off x="-6095" y="6470903"/>
            <a:ext cx="12204700" cy="393700"/>
            <a:chOff x="-6095" y="6470903"/>
            <a:chExt cx="12204700" cy="393700"/>
          </a:xfrm>
        </p:grpSpPr>
        <p:sp>
          <p:nvSpPr>
            <p:cNvPr id="13" name="object 13"/>
            <p:cNvSpPr/>
            <p:nvPr/>
          </p:nvSpPr>
          <p:spPr>
            <a:xfrm>
              <a:off x="381" y="6477380"/>
              <a:ext cx="12192000" cy="381000"/>
            </a:xfrm>
            <a:custGeom>
              <a:avLst/>
              <a:gdLst/>
              <a:ahLst/>
              <a:cxnLst/>
              <a:rect l="l" t="t" r="r" b="b"/>
              <a:pathLst>
                <a:path w="12192000" h="381000">
                  <a:moveTo>
                    <a:pt x="12191619" y="0"/>
                  </a:moveTo>
                  <a:lnTo>
                    <a:pt x="0" y="0"/>
                  </a:lnTo>
                  <a:lnTo>
                    <a:pt x="0" y="380619"/>
                  </a:lnTo>
                  <a:lnTo>
                    <a:pt x="12191619" y="380619"/>
                  </a:lnTo>
                  <a:lnTo>
                    <a:pt x="12191619" y="0"/>
                  </a:lnTo>
                  <a:close/>
                </a:path>
              </a:pathLst>
            </a:custGeom>
            <a:solidFill>
              <a:srgbClr val="5B9BD4"/>
            </a:solidFill>
          </p:spPr>
          <p:txBody>
            <a:bodyPr wrap="square" lIns="0" tIns="0" rIns="0" bIns="0" rtlCol="0"/>
            <a:lstStyle/>
            <a:p>
              <a:endParaRPr/>
            </a:p>
          </p:txBody>
        </p:sp>
        <p:sp>
          <p:nvSpPr>
            <p:cNvPr id="14" name="object 14"/>
            <p:cNvSpPr/>
            <p:nvPr/>
          </p:nvSpPr>
          <p:spPr>
            <a:xfrm>
              <a:off x="381" y="6477380"/>
              <a:ext cx="12192000" cy="381000"/>
            </a:xfrm>
            <a:custGeom>
              <a:avLst/>
              <a:gdLst/>
              <a:ahLst/>
              <a:cxnLst/>
              <a:rect l="l" t="t" r="r" b="b"/>
              <a:pathLst>
                <a:path w="12192000" h="381000">
                  <a:moveTo>
                    <a:pt x="12191619" y="0"/>
                  </a:moveTo>
                  <a:lnTo>
                    <a:pt x="0" y="0"/>
                  </a:lnTo>
                  <a:lnTo>
                    <a:pt x="0" y="380619"/>
                  </a:lnTo>
                </a:path>
              </a:pathLst>
            </a:custGeom>
            <a:ln w="12953">
              <a:solidFill>
                <a:srgbClr val="41709C"/>
              </a:solidFill>
            </a:ln>
          </p:spPr>
          <p:txBody>
            <a:bodyPr wrap="square" lIns="0" tIns="0" rIns="0" bIns="0" rtlCol="0"/>
            <a:lstStyle/>
            <a:p>
              <a:endParaRPr/>
            </a:p>
          </p:txBody>
        </p:sp>
      </p:grpSp>
      <p:sp>
        <p:nvSpPr>
          <p:cNvPr id="15" name="object 15"/>
          <p:cNvSpPr txBox="1">
            <a:spLocks noGrp="1"/>
          </p:cNvSpPr>
          <p:nvPr>
            <p:ph type="ftr" sz="quarter" idx="5"/>
          </p:nvPr>
        </p:nvSpPr>
        <p:spPr>
          <a:prstGeom prst="rect">
            <a:avLst/>
          </a:prstGeom>
        </p:spPr>
        <p:txBody>
          <a:bodyPr vert="horz" wrap="square" lIns="0" tIns="0" rIns="0" bIns="0" rtlCol="0">
            <a:spAutoFit/>
          </a:bodyPr>
          <a:lstStyle/>
          <a:p>
            <a:pPr marL="12700">
              <a:lnSpc>
                <a:spcPts val="1710"/>
              </a:lnSpc>
            </a:pPr>
            <a:r>
              <a:rPr dirty="0"/>
              <a:t>MRCET</a:t>
            </a:r>
            <a:r>
              <a:rPr spc="-15" dirty="0"/>
              <a:t> </a:t>
            </a:r>
            <a:r>
              <a:rPr dirty="0"/>
              <a:t>|</a:t>
            </a:r>
            <a:r>
              <a:rPr spc="-15" dirty="0"/>
              <a:t> </a:t>
            </a:r>
            <a:r>
              <a:rPr spc="-10" dirty="0"/>
              <a:t>Department</a:t>
            </a:r>
            <a:r>
              <a:rPr dirty="0"/>
              <a:t> of Emerging</a:t>
            </a:r>
            <a:r>
              <a:rPr spc="-5" dirty="0"/>
              <a:t> </a:t>
            </a:r>
            <a:r>
              <a:rPr spc="-25" dirty="0"/>
              <a:t>Technologies</a:t>
            </a:r>
            <a:r>
              <a:rPr spc="5" dirty="0"/>
              <a:t> </a:t>
            </a:r>
            <a:r>
              <a:rPr dirty="0"/>
              <a:t>|</a:t>
            </a:r>
            <a:r>
              <a:rPr spc="-5" dirty="0"/>
              <a:t> </a:t>
            </a:r>
            <a:r>
              <a:rPr spc="-10" dirty="0"/>
              <a:t>Application</a:t>
            </a:r>
            <a:r>
              <a:rPr spc="-15" dirty="0"/>
              <a:t> </a:t>
            </a:r>
            <a:r>
              <a:rPr spc="-20" dirty="0"/>
              <a:t>Development-</a:t>
            </a:r>
            <a:r>
              <a:rPr dirty="0"/>
              <a:t>II</a:t>
            </a:r>
            <a:r>
              <a:rPr spc="10" dirty="0"/>
              <a:t> </a:t>
            </a:r>
            <a:r>
              <a:rPr dirty="0"/>
              <a:t>PPT|</a:t>
            </a:r>
            <a:r>
              <a:rPr spc="-20" dirty="0"/>
              <a:t> </a:t>
            </a:r>
            <a:r>
              <a:rPr dirty="0"/>
              <a:t>III</a:t>
            </a:r>
            <a:r>
              <a:rPr spc="-20" dirty="0"/>
              <a:t> Year</a:t>
            </a:r>
            <a:r>
              <a:rPr dirty="0"/>
              <a:t> </a:t>
            </a:r>
            <a:r>
              <a:rPr spc="-55" dirty="0"/>
              <a:t>B.Tech-</a:t>
            </a:r>
            <a:r>
              <a:rPr dirty="0"/>
              <a:t>II</a:t>
            </a:r>
            <a:r>
              <a:rPr spc="-15" dirty="0"/>
              <a:t> </a:t>
            </a:r>
            <a:r>
              <a:rPr spc="-10" dirty="0"/>
              <a:t>Semester</a:t>
            </a:r>
          </a:p>
        </p:txBody>
      </p:sp>
      <p:sp>
        <p:nvSpPr>
          <p:cNvPr id="16" name="object 16"/>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spc="-50" dirty="0"/>
              <a:t>4</a:t>
            </a:fld>
            <a:endParaRPr spc="-50" dirty="0"/>
          </a:p>
        </p:txBody>
      </p:sp>
      <p:sp>
        <p:nvSpPr>
          <p:cNvPr id="17" name="object 17"/>
          <p:cNvSpPr txBox="1"/>
          <p:nvPr/>
        </p:nvSpPr>
        <p:spPr>
          <a:xfrm>
            <a:off x="919988" y="6546615"/>
            <a:ext cx="10353040" cy="261620"/>
          </a:xfrm>
          <a:prstGeom prst="rect">
            <a:avLst/>
          </a:prstGeom>
        </p:spPr>
        <p:txBody>
          <a:bodyPr vert="horz" wrap="square" lIns="0" tIns="1905" rIns="0" bIns="0" rtlCol="0">
            <a:spAutoFit/>
          </a:bodyPr>
          <a:lstStyle/>
          <a:p>
            <a:pPr marL="12700">
              <a:lnSpc>
                <a:spcPct val="100000"/>
              </a:lnSpc>
              <a:spcBef>
                <a:spcPts val="15"/>
              </a:spcBef>
            </a:pPr>
            <a:r>
              <a:rPr sz="1600" b="1" spc="-10" dirty="0">
                <a:latin typeface="Arial"/>
                <a:cs typeface="Arial"/>
              </a:rPr>
              <a:t>B.Tech</a:t>
            </a:r>
            <a:r>
              <a:rPr sz="1600" b="1" spc="-30" dirty="0">
                <a:latin typeface="Arial"/>
                <a:cs typeface="Arial"/>
              </a:rPr>
              <a:t> </a:t>
            </a:r>
            <a:r>
              <a:rPr sz="1600" b="1" spc="50" dirty="0">
                <a:latin typeface="Arial"/>
                <a:cs typeface="Arial"/>
              </a:rPr>
              <a:t>III</a:t>
            </a:r>
            <a:r>
              <a:rPr sz="1600" b="1" spc="-20" dirty="0">
                <a:latin typeface="Arial"/>
                <a:cs typeface="Arial"/>
              </a:rPr>
              <a:t> </a:t>
            </a:r>
            <a:r>
              <a:rPr sz="1600" b="1" dirty="0">
                <a:latin typeface="Arial"/>
                <a:cs typeface="Arial"/>
              </a:rPr>
              <a:t>Year</a:t>
            </a:r>
            <a:r>
              <a:rPr sz="1600" b="1" spc="-25" dirty="0">
                <a:latin typeface="Arial"/>
                <a:cs typeface="Arial"/>
              </a:rPr>
              <a:t> </a:t>
            </a:r>
            <a:r>
              <a:rPr sz="1600" b="1" spc="-95" dirty="0">
                <a:latin typeface="Arial"/>
                <a:cs typeface="Arial"/>
              </a:rPr>
              <a:t>–</a:t>
            </a:r>
            <a:r>
              <a:rPr sz="1600" b="1" spc="-5" dirty="0">
                <a:latin typeface="Arial"/>
                <a:cs typeface="Arial"/>
              </a:rPr>
              <a:t> </a:t>
            </a:r>
            <a:r>
              <a:rPr sz="1600" b="1" spc="50" dirty="0">
                <a:latin typeface="Arial"/>
                <a:cs typeface="Arial"/>
              </a:rPr>
              <a:t>II</a:t>
            </a:r>
            <a:r>
              <a:rPr sz="1600" b="1" spc="-20" dirty="0">
                <a:latin typeface="Arial"/>
                <a:cs typeface="Arial"/>
              </a:rPr>
              <a:t> </a:t>
            </a:r>
            <a:r>
              <a:rPr sz="1600" b="1" dirty="0">
                <a:latin typeface="Arial"/>
                <a:cs typeface="Arial"/>
              </a:rPr>
              <a:t>Sem</a:t>
            </a:r>
            <a:r>
              <a:rPr sz="1600" b="1" spc="-25" dirty="0">
                <a:latin typeface="Arial"/>
                <a:cs typeface="Arial"/>
              </a:rPr>
              <a:t> </a:t>
            </a:r>
            <a:r>
              <a:rPr sz="1600" b="1" dirty="0">
                <a:latin typeface="Arial"/>
                <a:cs typeface="Arial"/>
              </a:rPr>
              <a:t>|</a:t>
            </a:r>
            <a:r>
              <a:rPr sz="1600" b="1" spc="-15" dirty="0">
                <a:latin typeface="Arial"/>
                <a:cs typeface="Arial"/>
              </a:rPr>
              <a:t> </a:t>
            </a:r>
            <a:r>
              <a:rPr sz="1600" b="1" dirty="0">
                <a:latin typeface="Arial"/>
                <a:cs typeface="Arial"/>
              </a:rPr>
              <a:t>Dept</a:t>
            </a:r>
            <a:r>
              <a:rPr sz="1600" b="1" spc="-20" dirty="0">
                <a:latin typeface="Arial"/>
                <a:cs typeface="Arial"/>
              </a:rPr>
              <a:t> </a:t>
            </a:r>
            <a:r>
              <a:rPr sz="1600" b="1" dirty="0">
                <a:latin typeface="Arial"/>
                <a:cs typeface="Arial"/>
              </a:rPr>
              <a:t>of</a:t>
            </a:r>
            <a:r>
              <a:rPr sz="1600" b="1" spc="190" dirty="0">
                <a:latin typeface="Arial"/>
                <a:cs typeface="Arial"/>
              </a:rPr>
              <a:t> </a:t>
            </a:r>
            <a:r>
              <a:rPr sz="1600" b="1" dirty="0">
                <a:latin typeface="Arial"/>
                <a:cs typeface="Arial"/>
              </a:rPr>
              <a:t>Computational</a:t>
            </a:r>
            <a:r>
              <a:rPr sz="1600" b="1" spc="-25" dirty="0">
                <a:latin typeface="Arial"/>
                <a:cs typeface="Arial"/>
              </a:rPr>
              <a:t> </a:t>
            </a:r>
            <a:r>
              <a:rPr sz="1600" b="1" dirty="0">
                <a:latin typeface="Arial"/>
                <a:cs typeface="Arial"/>
              </a:rPr>
              <a:t>Intelligence|</a:t>
            </a:r>
            <a:r>
              <a:rPr sz="1600" b="1" spc="-25" dirty="0">
                <a:latin typeface="Arial"/>
                <a:cs typeface="Arial"/>
              </a:rPr>
              <a:t> </a:t>
            </a:r>
            <a:r>
              <a:rPr sz="1600" b="1" dirty="0">
                <a:latin typeface="Arial"/>
                <a:cs typeface="Arial"/>
              </a:rPr>
              <a:t>Application</a:t>
            </a:r>
            <a:r>
              <a:rPr sz="1600" b="1" spc="-35" dirty="0">
                <a:latin typeface="Arial"/>
                <a:cs typeface="Arial"/>
              </a:rPr>
              <a:t> </a:t>
            </a:r>
            <a:r>
              <a:rPr sz="1600" b="1" dirty="0">
                <a:latin typeface="Arial"/>
                <a:cs typeface="Arial"/>
              </a:rPr>
              <a:t>Development</a:t>
            </a:r>
            <a:r>
              <a:rPr sz="1600" b="1" spc="5" dirty="0">
                <a:latin typeface="Arial"/>
                <a:cs typeface="Arial"/>
              </a:rPr>
              <a:t> </a:t>
            </a:r>
            <a:r>
              <a:rPr sz="1600" b="1" spc="-95" dirty="0">
                <a:latin typeface="Arial"/>
                <a:cs typeface="Arial"/>
              </a:rPr>
              <a:t>–</a:t>
            </a:r>
            <a:r>
              <a:rPr sz="1600" b="1" spc="-10" dirty="0">
                <a:latin typeface="Arial"/>
                <a:cs typeface="Arial"/>
              </a:rPr>
              <a:t> </a:t>
            </a:r>
            <a:r>
              <a:rPr sz="1600" b="1" spc="50" dirty="0">
                <a:latin typeface="Arial"/>
                <a:cs typeface="Arial"/>
              </a:rPr>
              <a:t>II</a:t>
            </a:r>
            <a:r>
              <a:rPr sz="1600" b="1" spc="-15" dirty="0">
                <a:latin typeface="Arial"/>
                <a:cs typeface="Arial"/>
              </a:rPr>
              <a:t> </a:t>
            </a:r>
            <a:r>
              <a:rPr sz="1600" b="1" dirty="0">
                <a:latin typeface="Arial"/>
                <a:cs typeface="Arial"/>
              </a:rPr>
              <a:t>|</a:t>
            </a:r>
            <a:r>
              <a:rPr sz="1600" b="1" spc="-5" dirty="0">
                <a:latin typeface="Arial"/>
                <a:cs typeface="Arial"/>
              </a:rPr>
              <a:t> </a:t>
            </a:r>
            <a:r>
              <a:rPr sz="1600" b="1" dirty="0">
                <a:latin typeface="Arial"/>
                <a:cs typeface="Arial"/>
              </a:rPr>
              <a:t>Project</a:t>
            </a:r>
            <a:r>
              <a:rPr sz="1600" b="1" spc="-30" dirty="0">
                <a:latin typeface="Arial"/>
                <a:cs typeface="Arial"/>
              </a:rPr>
              <a:t> </a:t>
            </a:r>
            <a:r>
              <a:rPr sz="1600" b="1" spc="-10" dirty="0">
                <a:latin typeface="Arial"/>
                <a:cs typeface="Arial"/>
              </a:rPr>
              <a:t>Review</a:t>
            </a:r>
            <a:endParaRPr sz="1600">
              <a:latin typeface="Arial"/>
              <a:cs typeface="Arial"/>
            </a:endParaRPr>
          </a:p>
        </p:txBody>
      </p:sp>
    </p:spTree>
    <p:extLst>
      <p:ext uri="{BB962C8B-B14F-4D97-AF65-F5344CB8AC3E}">
        <p14:creationId xmlns:p14="http://schemas.microsoft.com/office/powerpoint/2010/main" val="37561559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10493502" y="0"/>
            <a:ext cx="1698625" cy="898525"/>
            <a:chOff x="10493502" y="0"/>
            <a:chExt cx="1698625" cy="898525"/>
          </a:xfrm>
        </p:grpSpPr>
        <p:pic>
          <p:nvPicPr>
            <p:cNvPr id="3" name="object 3"/>
            <p:cNvPicPr/>
            <p:nvPr/>
          </p:nvPicPr>
          <p:blipFill>
            <a:blip r:embed="rId2" cstate="print"/>
            <a:stretch>
              <a:fillRect/>
            </a:stretch>
          </p:blipFill>
          <p:spPr>
            <a:xfrm>
              <a:off x="11353800" y="0"/>
              <a:ext cx="822198" cy="822198"/>
            </a:xfrm>
            <a:prstGeom prst="rect">
              <a:avLst/>
            </a:prstGeom>
          </p:spPr>
        </p:pic>
        <p:pic>
          <p:nvPicPr>
            <p:cNvPr id="4" name="object 4"/>
            <p:cNvPicPr/>
            <p:nvPr/>
          </p:nvPicPr>
          <p:blipFill>
            <a:blip r:embed="rId3" cstate="print"/>
            <a:stretch>
              <a:fillRect/>
            </a:stretch>
          </p:blipFill>
          <p:spPr>
            <a:xfrm>
              <a:off x="10493502" y="0"/>
              <a:ext cx="1698498" cy="898398"/>
            </a:xfrm>
            <a:prstGeom prst="rect">
              <a:avLst/>
            </a:prstGeom>
          </p:spPr>
        </p:pic>
      </p:grpSp>
      <p:sp>
        <p:nvSpPr>
          <p:cNvPr id="5" name="object 5" descr="$PPTXTitle"/>
          <p:cNvSpPr txBox="1">
            <a:spLocks noGrp="1"/>
          </p:cNvSpPr>
          <p:nvPr>
            <p:ph type="title"/>
          </p:nvPr>
        </p:nvSpPr>
        <p:spPr>
          <a:xfrm>
            <a:off x="916939" y="381000"/>
            <a:ext cx="2105025" cy="695960"/>
          </a:xfrm>
          <a:prstGeom prst="rect">
            <a:avLst/>
          </a:prstGeom>
        </p:spPr>
        <p:txBody>
          <a:bodyPr vert="horz" wrap="square" lIns="0" tIns="12700" rIns="0" bIns="0" rtlCol="0">
            <a:spAutoFit/>
          </a:bodyPr>
          <a:lstStyle/>
          <a:p>
            <a:pPr marL="12700">
              <a:lnSpc>
                <a:spcPct val="100000"/>
              </a:lnSpc>
              <a:spcBef>
                <a:spcPts val="100"/>
              </a:spcBef>
            </a:pPr>
            <a:r>
              <a:rPr spc="-10" dirty="0"/>
              <a:t>Abstract</a:t>
            </a:r>
          </a:p>
        </p:txBody>
      </p:sp>
      <p:sp>
        <p:nvSpPr>
          <p:cNvPr id="6" name="object 6"/>
          <p:cNvSpPr txBox="1"/>
          <p:nvPr/>
        </p:nvSpPr>
        <p:spPr>
          <a:xfrm>
            <a:off x="916939" y="1030478"/>
            <a:ext cx="10360025" cy="5607304"/>
          </a:xfrm>
          <a:prstGeom prst="rect">
            <a:avLst/>
          </a:prstGeom>
        </p:spPr>
        <p:txBody>
          <a:bodyPr vert="horz" wrap="square" lIns="0" tIns="66675" rIns="0" bIns="0" rtlCol="0">
            <a:spAutoFit/>
          </a:bodyPr>
          <a:lstStyle/>
          <a:p>
            <a:pPr marL="12700" marR="5080" algn="just">
              <a:lnSpc>
                <a:spcPct val="90100"/>
              </a:lnSpc>
              <a:spcBef>
                <a:spcPts val="525"/>
              </a:spcBef>
            </a:pPr>
            <a:r>
              <a:rPr sz="4000" dirty="0">
                <a:latin typeface="Times New Roman" panose="02020603050405020304" pitchFamily="18" charset="0"/>
                <a:cs typeface="Times New Roman" panose="02020603050405020304" pitchFamily="18" charset="0"/>
              </a:rPr>
              <a:t>The</a:t>
            </a:r>
            <a:r>
              <a:rPr sz="4000" spc="630" dirty="0">
                <a:latin typeface="Times New Roman" panose="02020603050405020304" pitchFamily="18" charset="0"/>
                <a:cs typeface="Times New Roman" panose="02020603050405020304" pitchFamily="18" charset="0"/>
              </a:rPr>
              <a:t> </a:t>
            </a:r>
            <a:r>
              <a:rPr sz="4000" dirty="0">
                <a:latin typeface="Times New Roman" panose="02020603050405020304" pitchFamily="18" charset="0"/>
                <a:cs typeface="Times New Roman" panose="02020603050405020304" pitchFamily="18" charset="0"/>
              </a:rPr>
              <a:t>system</a:t>
            </a:r>
            <a:r>
              <a:rPr sz="4000" spc="640" dirty="0">
                <a:latin typeface="Times New Roman" panose="02020603050405020304" pitchFamily="18" charset="0"/>
                <a:cs typeface="Times New Roman" panose="02020603050405020304" pitchFamily="18" charset="0"/>
              </a:rPr>
              <a:t> </a:t>
            </a:r>
            <a:r>
              <a:rPr sz="4000" dirty="0">
                <a:latin typeface="Times New Roman" panose="02020603050405020304" pitchFamily="18" charset="0"/>
                <a:cs typeface="Times New Roman" panose="02020603050405020304" pitchFamily="18" charset="0"/>
              </a:rPr>
              <a:t>streamlines</a:t>
            </a:r>
            <a:r>
              <a:rPr sz="4000" spc="630" dirty="0">
                <a:latin typeface="Times New Roman" panose="02020603050405020304" pitchFamily="18" charset="0"/>
                <a:cs typeface="Times New Roman" panose="02020603050405020304" pitchFamily="18" charset="0"/>
              </a:rPr>
              <a:t> </a:t>
            </a:r>
            <a:r>
              <a:rPr sz="4000" dirty="0">
                <a:latin typeface="Times New Roman" panose="02020603050405020304" pitchFamily="18" charset="0"/>
                <a:cs typeface="Times New Roman" panose="02020603050405020304" pitchFamily="18" charset="0"/>
              </a:rPr>
              <a:t>ticket</a:t>
            </a:r>
            <a:r>
              <a:rPr sz="4000" spc="635" dirty="0">
                <a:latin typeface="Times New Roman" panose="02020603050405020304" pitchFamily="18" charset="0"/>
                <a:cs typeface="Times New Roman" panose="02020603050405020304" pitchFamily="18" charset="0"/>
              </a:rPr>
              <a:t> </a:t>
            </a:r>
            <a:r>
              <a:rPr sz="4000" dirty="0">
                <a:latin typeface="Times New Roman" panose="02020603050405020304" pitchFamily="18" charset="0"/>
                <a:cs typeface="Times New Roman" panose="02020603050405020304" pitchFamily="18" charset="0"/>
              </a:rPr>
              <a:t>booking</a:t>
            </a:r>
            <a:r>
              <a:rPr sz="4000" spc="640" dirty="0">
                <a:latin typeface="Times New Roman" panose="02020603050405020304" pitchFamily="18" charset="0"/>
                <a:cs typeface="Times New Roman" panose="02020603050405020304" pitchFamily="18" charset="0"/>
              </a:rPr>
              <a:t> </a:t>
            </a:r>
            <a:r>
              <a:rPr sz="4000" dirty="0">
                <a:latin typeface="Times New Roman" panose="02020603050405020304" pitchFamily="18" charset="0"/>
                <a:cs typeface="Times New Roman" panose="02020603050405020304" pitchFamily="18" charset="0"/>
              </a:rPr>
              <a:t>with</a:t>
            </a:r>
            <a:r>
              <a:rPr sz="4000" spc="635" dirty="0">
                <a:latin typeface="Times New Roman" panose="02020603050405020304" pitchFamily="18" charset="0"/>
                <a:cs typeface="Times New Roman" panose="02020603050405020304" pitchFamily="18" charset="0"/>
              </a:rPr>
              <a:t> </a:t>
            </a:r>
            <a:r>
              <a:rPr sz="4000" spc="-15" dirty="0">
                <a:latin typeface="Times New Roman" panose="02020603050405020304" pitchFamily="18" charset="0"/>
                <a:cs typeface="Times New Roman" panose="02020603050405020304" pitchFamily="18" charset="0"/>
              </a:rPr>
              <a:t>real-</a:t>
            </a:r>
            <a:r>
              <a:rPr sz="4000" spc="-20" dirty="0">
                <a:latin typeface="Times New Roman" panose="02020603050405020304" pitchFamily="18" charset="0"/>
                <a:cs typeface="Times New Roman" panose="02020603050405020304" pitchFamily="18" charset="0"/>
              </a:rPr>
              <a:t>time </a:t>
            </a:r>
            <a:r>
              <a:rPr sz="4000" dirty="0">
                <a:latin typeface="Times New Roman" panose="02020603050405020304" pitchFamily="18" charset="0"/>
                <a:cs typeface="Times New Roman" panose="02020603050405020304" pitchFamily="18" charset="0"/>
              </a:rPr>
              <a:t>seat availability, secure online payments, instant </a:t>
            </a:r>
            <a:r>
              <a:rPr sz="4000" spc="-25" dirty="0">
                <a:latin typeface="Times New Roman" panose="02020603050405020304" pitchFamily="18" charset="0"/>
                <a:cs typeface="Times New Roman" panose="02020603050405020304" pitchFamily="18" charset="0"/>
              </a:rPr>
              <a:t>e-</a:t>
            </a:r>
            <a:r>
              <a:rPr sz="4000" dirty="0">
                <a:latin typeface="Times New Roman" panose="02020603050405020304" pitchFamily="18" charset="0"/>
                <a:cs typeface="Times New Roman" panose="02020603050405020304" pitchFamily="18" charset="0"/>
              </a:rPr>
              <a:t>ticket</a:t>
            </a:r>
            <a:r>
              <a:rPr sz="4000" spc="615" dirty="0">
                <a:latin typeface="Times New Roman" panose="02020603050405020304" pitchFamily="18" charset="0"/>
                <a:cs typeface="Times New Roman" panose="02020603050405020304" pitchFamily="18" charset="0"/>
              </a:rPr>
              <a:t> </a:t>
            </a:r>
            <a:r>
              <a:rPr sz="4000" dirty="0">
                <a:latin typeface="Times New Roman" panose="02020603050405020304" pitchFamily="18" charset="0"/>
                <a:cs typeface="Times New Roman" panose="02020603050405020304" pitchFamily="18" charset="0"/>
              </a:rPr>
              <a:t>generation,</a:t>
            </a:r>
            <a:r>
              <a:rPr sz="4000" spc="615" dirty="0">
                <a:latin typeface="Times New Roman" panose="02020603050405020304" pitchFamily="18" charset="0"/>
                <a:cs typeface="Times New Roman" panose="02020603050405020304" pitchFamily="18" charset="0"/>
              </a:rPr>
              <a:t> </a:t>
            </a:r>
            <a:r>
              <a:rPr sz="4000" dirty="0">
                <a:latin typeface="Times New Roman" panose="02020603050405020304" pitchFamily="18" charset="0"/>
                <a:cs typeface="Times New Roman" panose="02020603050405020304" pitchFamily="18" charset="0"/>
              </a:rPr>
              <a:t>and</a:t>
            </a:r>
            <a:r>
              <a:rPr sz="4000" spc="625" dirty="0">
                <a:latin typeface="Times New Roman" panose="02020603050405020304" pitchFamily="18" charset="0"/>
                <a:cs typeface="Times New Roman" panose="02020603050405020304" pitchFamily="18" charset="0"/>
              </a:rPr>
              <a:t> </a:t>
            </a:r>
            <a:r>
              <a:rPr sz="4000" dirty="0">
                <a:latin typeface="Times New Roman" panose="02020603050405020304" pitchFamily="18" charset="0"/>
                <a:cs typeface="Times New Roman" panose="02020603050405020304" pitchFamily="18" charset="0"/>
              </a:rPr>
              <a:t>automated</a:t>
            </a:r>
            <a:r>
              <a:rPr sz="4000" spc="610" dirty="0">
                <a:latin typeface="Times New Roman" panose="02020603050405020304" pitchFamily="18" charset="0"/>
                <a:cs typeface="Times New Roman" panose="02020603050405020304" pitchFamily="18" charset="0"/>
              </a:rPr>
              <a:t> </a:t>
            </a:r>
            <a:r>
              <a:rPr sz="4000" spc="-10" dirty="0">
                <a:latin typeface="Times New Roman" panose="02020603050405020304" pitchFamily="18" charset="0"/>
                <a:cs typeface="Times New Roman" panose="02020603050405020304" pitchFamily="18" charset="0"/>
              </a:rPr>
              <a:t>cancellation/refund </a:t>
            </a:r>
            <a:r>
              <a:rPr sz="4000" dirty="0">
                <a:latin typeface="Times New Roman" panose="02020603050405020304" pitchFamily="18" charset="0"/>
                <a:cs typeface="Times New Roman" panose="02020603050405020304" pitchFamily="18" charset="0"/>
              </a:rPr>
              <a:t>processing,</a:t>
            </a:r>
            <a:r>
              <a:rPr sz="4000" spc="229" dirty="0">
                <a:latin typeface="Times New Roman" panose="02020603050405020304" pitchFamily="18" charset="0"/>
                <a:cs typeface="Times New Roman" panose="02020603050405020304" pitchFamily="18" charset="0"/>
              </a:rPr>
              <a:t> </a:t>
            </a:r>
            <a:r>
              <a:rPr sz="4000" dirty="0">
                <a:latin typeface="Times New Roman" panose="02020603050405020304" pitchFamily="18" charset="0"/>
                <a:cs typeface="Times New Roman" panose="02020603050405020304" pitchFamily="18" charset="0"/>
              </a:rPr>
              <a:t>making</a:t>
            </a:r>
            <a:r>
              <a:rPr sz="4000" spc="215" dirty="0">
                <a:latin typeface="Times New Roman" panose="02020603050405020304" pitchFamily="18" charset="0"/>
                <a:cs typeface="Times New Roman" panose="02020603050405020304" pitchFamily="18" charset="0"/>
              </a:rPr>
              <a:t> </a:t>
            </a:r>
            <a:r>
              <a:rPr sz="4000" dirty="0">
                <a:latin typeface="Times New Roman" panose="02020603050405020304" pitchFamily="18" charset="0"/>
                <a:cs typeface="Times New Roman" panose="02020603050405020304" pitchFamily="18" charset="0"/>
              </a:rPr>
              <a:t>the</a:t>
            </a:r>
            <a:r>
              <a:rPr sz="4000" spc="220" dirty="0">
                <a:latin typeface="Times New Roman" panose="02020603050405020304" pitchFamily="18" charset="0"/>
                <a:cs typeface="Times New Roman" panose="02020603050405020304" pitchFamily="18" charset="0"/>
              </a:rPr>
              <a:t> </a:t>
            </a:r>
            <a:r>
              <a:rPr sz="4000" dirty="0">
                <a:latin typeface="Times New Roman" panose="02020603050405020304" pitchFamily="18" charset="0"/>
                <a:cs typeface="Times New Roman" panose="02020603050405020304" pitchFamily="18" charset="0"/>
              </a:rPr>
              <a:t>entire</a:t>
            </a:r>
            <a:r>
              <a:rPr sz="4000" spc="225" dirty="0">
                <a:latin typeface="Times New Roman" panose="02020603050405020304" pitchFamily="18" charset="0"/>
                <a:cs typeface="Times New Roman" panose="02020603050405020304" pitchFamily="18" charset="0"/>
              </a:rPr>
              <a:t> </a:t>
            </a:r>
            <a:r>
              <a:rPr sz="4000" dirty="0">
                <a:latin typeface="Times New Roman" panose="02020603050405020304" pitchFamily="18" charset="0"/>
                <a:cs typeface="Times New Roman" panose="02020603050405020304" pitchFamily="18" charset="0"/>
              </a:rPr>
              <a:t>process</a:t>
            </a:r>
            <a:r>
              <a:rPr sz="4000" spc="235" dirty="0">
                <a:latin typeface="Times New Roman" panose="02020603050405020304" pitchFamily="18" charset="0"/>
                <a:cs typeface="Times New Roman" panose="02020603050405020304" pitchFamily="18" charset="0"/>
              </a:rPr>
              <a:t> </a:t>
            </a:r>
            <a:r>
              <a:rPr sz="4000" dirty="0">
                <a:latin typeface="Times New Roman" panose="02020603050405020304" pitchFamily="18" charset="0"/>
                <a:cs typeface="Times New Roman" panose="02020603050405020304" pitchFamily="18" charset="0"/>
              </a:rPr>
              <a:t>faster</a:t>
            </a:r>
            <a:r>
              <a:rPr sz="4000" spc="215" dirty="0">
                <a:latin typeface="Times New Roman" panose="02020603050405020304" pitchFamily="18" charset="0"/>
                <a:cs typeface="Times New Roman" panose="02020603050405020304" pitchFamily="18" charset="0"/>
              </a:rPr>
              <a:t> </a:t>
            </a:r>
            <a:r>
              <a:rPr sz="4000" dirty="0">
                <a:latin typeface="Times New Roman" panose="02020603050405020304" pitchFamily="18" charset="0"/>
                <a:cs typeface="Times New Roman" panose="02020603050405020304" pitchFamily="18" charset="0"/>
              </a:rPr>
              <a:t>and</a:t>
            </a:r>
            <a:r>
              <a:rPr sz="4000" spc="229" dirty="0">
                <a:latin typeface="Times New Roman" panose="02020603050405020304" pitchFamily="18" charset="0"/>
                <a:cs typeface="Times New Roman" panose="02020603050405020304" pitchFamily="18" charset="0"/>
              </a:rPr>
              <a:t> </a:t>
            </a:r>
            <a:r>
              <a:rPr sz="4000" spc="-20" dirty="0">
                <a:latin typeface="Times New Roman" panose="02020603050405020304" pitchFamily="18" charset="0"/>
                <a:cs typeface="Times New Roman" panose="02020603050405020304" pitchFamily="18" charset="0"/>
              </a:rPr>
              <a:t>more </a:t>
            </a:r>
            <a:r>
              <a:rPr sz="4000" spc="-10" dirty="0">
                <a:latin typeface="Times New Roman" panose="02020603050405020304" pitchFamily="18" charset="0"/>
                <a:cs typeface="Times New Roman" panose="02020603050405020304" pitchFamily="18" charset="0"/>
              </a:rPr>
              <a:t>user-</a:t>
            </a:r>
            <a:r>
              <a:rPr sz="4000" dirty="0">
                <a:latin typeface="Times New Roman" panose="02020603050405020304" pitchFamily="18" charset="0"/>
                <a:cs typeface="Times New Roman" panose="02020603050405020304" pitchFamily="18" charset="0"/>
              </a:rPr>
              <a:t>friendly.Built</a:t>
            </a:r>
            <a:r>
              <a:rPr sz="4000" spc="500" dirty="0">
                <a:latin typeface="Times New Roman" panose="02020603050405020304" pitchFamily="18" charset="0"/>
                <a:cs typeface="Times New Roman" panose="02020603050405020304" pitchFamily="18" charset="0"/>
              </a:rPr>
              <a:t> </a:t>
            </a:r>
            <a:r>
              <a:rPr sz="4000" dirty="0">
                <a:latin typeface="Times New Roman" panose="02020603050405020304" pitchFamily="18" charset="0"/>
                <a:cs typeface="Times New Roman" panose="02020603050405020304" pitchFamily="18" charset="0"/>
              </a:rPr>
              <a:t>on</a:t>
            </a:r>
            <a:r>
              <a:rPr sz="4000" spc="509" dirty="0">
                <a:latin typeface="Times New Roman" panose="02020603050405020304" pitchFamily="18" charset="0"/>
                <a:cs typeface="Times New Roman" panose="02020603050405020304" pitchFamily="18" charset="0"/>
              </a:rPr>
              <a:t> </a:t>
            </a:r>
            <a:r>
              <a:rPr sz="4000" dirty="0">
                <a:latin typeface="Times New Roman" panose="02020603050405020304" pitchFamily="18" charset="0"/>
                <a:cs typeface="Times New Roman" panose="02020603050405020304" pitchFamily="18" charset="0"/>
              </a:rPr>
              <a:t>a</a:t>
            </a:r>
            <a:r>
              <a:rPr sz="4000" spc="520" dirty="0">
                <a:latin typeface="Times New Roman" panose="02020603050405020304" pitchFamily="18" charset="0"/>
                <a:cs typeface="Times New Roman" panose="02020603050405020304" pitchFamily="18" charset="0"/>
              </a:rPr>
              <a:t> </a:t>
            </a:r>
            <a:r>
              <a:rPr sz="4000" dirty="0">
                <a:latin typeface="Times New Roman" panose="02020603050405020304" pitchFamily="18" charset="0"/>
                <a:cs typeface="Times New Roman" panose="02020603050405020304" pitchFamily="18" charset="0"/>
              </a:rPr>
              <a:t>scalable</a:t>
            </a:r>
            <a:r>
              <a:rPr sz="4000" spc="495" dirty="0">
                <a:latin typeface="Times New Roman" panose="02020603050405020304" pitchFamily="18" charset="0"/>
                <a:cs typeface="Times New Roman" panose="02020603050405020304" pitchFamily="18" charset="0"/>
              </a:rPr>
              <a:t> </a:t>
            </a:r>
            <a:r>
              <a:rPr sz="4000" spc="-10" dirty="0">
                <a:latin typeface="Times New Roman" panose="02020603050405020304" pitchFamily="18" charset="0"/>
                <a:cs typeface="Times New Roman" panose="02020603050405020304" pitchFamily="18" charset="0"/>
              </a:rPr>
              <a:t>multi-</a:t>
            </a:r>
            <a:r>
              <a:rPr sz="4000" dirty="0">
                <a:latin typeface="Times New Roman" panose="02020603050405020304" pitchFamily="18" charset="0"/>
                <a:cs typeface="Times New Roman" panose="02020603050405020304" pitchFamily="18" charset="0"/>
              </a:rPr>
              <a:t>tier</a:t>
            </a:r>
            <a:r>
              <a:rPr sz="4000" spc="500" dirty="0">
                <a:latin typeface="Times New Roman" panose="02020603050405020304" pitchFamily="18" charset="0"/>
                <a:cs typeface="Times New Roman" panose="02020603050405020304" pitchFamily="18" charset="0"/>
              </a:rPr>
              <a:t> </a:t>
            </a:r>
            <a:r>
              <a:rPr sz="4000" dirty="0">
                <a:latin typeface="Times New Roman" panose="02020603050405020304" pitchFamily="18" charset="0"/>
                <a:cs typeface="Times New Roman" panose="02020603050405020304" pitchFamily="18" charset="0"/>
              </a:rPr>
              <a:t>design</a:t>
            </a:r>
            <a:r>
              <a:rPr sz="4000" spc="515" dirty="0">
                <a:latin typeface="Times New Roman" panose="02020603050405020304" pitchFamily="18" charset="0"/>
                <a:cs typeface="Times New Roman" panose="02020603050405020304" pitchFamily="18" charset="0"/>
              </a:rPr>
              <a:t> </a:t>
            </a:r>
            <a:r>
              <a:rPr sz="4000" spc="-20" dirty="0">
                <a:latin typeface="Times New Roman" panose="02020603050405020304" pitchFamily="18" charset="0"/>
                <a:cs typeface="Times New Roman" panose="02020603050405020304" pitchFamily="18" charset="0"/>
              </a:rPr>
              <a:t>with </a:t>
            </a:r>
            <a:r>
              <a:rPr sz="4000" dirty="0">
                <a:latin typeface="Times New Roman" panose="02020603050405020304" pitchFamily="18" charset="0"/>
                <a:cs typeface="Times New Roman" panose="02020603050405020304" pitchFamily="18" charset="0"/>
              </a:rPr>
              <a:t>RDBMS</a:t>
            </a:r>
            <a:r>
              <a:rPr sz="4000" spc="550" dirty="0">
                <a:latin typeface="Times New Roman" panose="02020603050405020304" pitchFamily="18" charset="0"/>
                <a:cs typeface="Times New Roman" panose="02020603050405020304" pitchFamily="18" charset="0"/>
              </a:rPr>
              <a:t>    </a:t>
            </a:r>
            <a:r>
              <a:rPr sz="4000" dirty="0">
                <a:latin typeface="Times New Roman" panose="02020603050405020304" pitchFamily="18" charset="0"/>
                <a:cs typeface="Times New Roman" panose="02020603050405020304" pitchFamily="18" charset="0"/>
              </a:rPr>
              <a:t>support,</a:t>
            </a:r>
            <a:r>
              <a:rPr sz="4000" spc="550" dirty="0">
                <a:latin typeface="Times New Roman" panose="02020603050405020304" pitchFamily="18" charset="0"/>
                <a:cs typeface="Times New Roman" panose="02020603050405020304" pitchFamily="18" charset="0"/>
              </a:rPr>
              <a:t>    </a:t>
            </a:r>
            <a:r>
              <a:rPr sz="4000" dirty="0">
                <a:latin typeface="Times New Roman" panose="02020603050405020304" pitchFamily="18" charset="0"/>
                <a:cs typeface="Times New Roman" panose="02020603050405020304" pitchFamily="18" charset="0"/>
              </a:rPr>
              <a:t>it</a:t>
            </a:r>
            <a:r>
              <a:rPr sz="4000" spc="550" dirty="0">
                <a:latin typeface="Times New Roman" panose="02020603050405020304" pitchFamily="18" charset="0"/>
                <a:cs typeface="Times New Roman" panose="02020603050405020304" pitchFamily="18" charset="0"/>
              </a:rPr>
              <a:t>    </a:t>
            </a:r>
            <a:r>
              <a:rPr sz="4000" dirty="0">
                <a:latin typeface="Times New Roman" panose="02020603050405020304" pitchFamily="18" charset="0"/>
                <a:cs typeface="Times New Roman" panose="02020603050405020304" pitchFamily="18" charset="0"/>
              </a:rPr>
              <a:t>ensures</a:t>
            </a:r>
            <a:r>
              <a:rPr sz="4000" spc="555" dirty="0">
                <a:latin typeface="Times New Roman" panose="02020603050405020304" pitchFamily="18" charset="0"/>
                <a:cs typeface="Times New Roman" panose="02020603050405020304" pitchFamily="18" charset="0"/>
              </a:rPr>
              <a:t>    </a:t>
            </a:r>
            <a:r>
              <a:rPr sz="4000" spc="-20" dirty="0">
                <a:latin typeface="Times New Roman" panose="02020603050405020304" pitchFamily="18" charset="0"/>
                <a:cs typeface="Times New Roman" panose="02020603050405020304" pitchFamily="18" charset="0"/>
              </a:rPr>
              <a:t>ACID-</a:t>
            </a:r>
            <a:r>
              <a:rPr sz="4000" spc="-10" dirty="0">
                <a:latin typeface="Times New Roman" panose="02020603050405020304" pitchFamily="18" charset="0"/>
                <a:cs typeface="Times New Roman" panose="02020603050405020304" pitchFamily="18" charset="0"/>
              </a:rPr>
              <a:t>compliant </a:t>
            </a:r>
            <a:r>
              <a:rPr sz="4000" dirty="0">
                <a:latin typeface="Times New Roman" panose="02020603050405020304" pitchFamily="18" charset="0"/>
                <a:cs typeface="Times New Roman" panose="02020603050405020304" pitchFamily="18" charset="0"/>
              </a:rPr>
              <a:t>transactions,</a:t>
            </a:r>
            <a:r>
              <a:rPr sz="4000" spc="125" dirty="0">
                <a:latin typeface="Times New Roman" panose="02020603050405020304" pitchFamily="18" charset="0"/>
                <a:cs typeface="Times New Roman" panose="02020603050405020304" pitchFamily="18" charset="0"/>
              </a:rPr>
              <a:t>  </a:t>
            </a:r>
            <a:r>
              <a:rPr sz="4000" dirty="0">
                <a:latin typeface="Times New Roman" panose="02020603050405020304" pitchFamily="18" charset="0"/>
                <a:cs typeface="Times New Roman" panose="02020603050405020304" pitchFamily="18" charset="0"/>
              </a:rPr>
              <a:t>high</a:t>
            </a:r>
            <a:r>
              <a:rPr sz="4000" spc="145" dirty="0">
                <a:latin typeface="Times New Roman" panose="02020603050405020304" pitchFamily="18" charset="0"/>
                <a:cs typeface="Times New Roman" panose="02020603050405020304" pitchFamily="18" charset="0"/>
              </a:rPr>
              <a:t>  </a:t>
            </a:r>
            <a:r>
              <a:rPr sz="4000" dirty="0">
                <a:latin typeface="Times New Roman" panose="02020603050405020304" pitchFamily="18" charset="0"/>
                <a:cs typeface="Times New Roman" panose="02020603050405020304" pitchFamily="18" charset="0"/>
              </a:rPr>
              <a:t>concurrency</a:t>
            </a:r>
            <a:r>
              <a:rPr sz="4000" spc="140" dirty="0">
                <a:latin typeface="Times New Roman" panose="02020603050405020304" pitchFamily="18" charset="0"/>
                <a:cs typeface="Times New Roman" panose="02020603050405020304" pitchFamily="18" charset="0"/>
              </a:rPr>
              <a:t>  </a:t>
            </a:r>
            <a:r>
              <a:rPr sz="4000" dirty="0">
                <a:latin typeface="Times New Roman" panose="02020603050405020304" pitchFamily="18" charset="0"/>
                <a:cs typeface="Times New Roman" panose="02020603050405020304" pitchFamily="18" charset="0"/>
              </a:rPr>
              <a:t>handling,</a:t>
            </a:r>
            <a:r>
              <a:rPr sz="4000" spc="145" dirty="0">
                <a:latin typeface="Times New Roman" panose="02020603050405020304" pitchFamily="18" charset="0"/>
                <a:cs typeface="Times New Roman" panose="02020603050405020304" pitchFamily="18" charset="0"/>
              </a:rPr>
              <a:t>  </a:t>
            </a:r>
            <a:r>
              <a:rPr sz="4000" dirty="0">
                <a:latin typeface="Times New Roman" panose="02020603050405020304" pitchFamily="18" charset="0"/>
                <a:cs typeface="Times New Roman" panose="02020603050405020304" pitchFamily="18" charset="0"/>
              </a:rPr>
              <a:t>and</a:t>
            </a:r>
            <a:r>
              <a:rPr sz="4000" spc="145" dirty="0">
                <a:latin typeface="Times New Roman" panose="02020603050405020304" pitchFamily="18" charset="0"/>
                <a:cs typeface="Times New Roman" panose="02020603050405020304" pitchFamily="18" charset="0"/>
              </a:rPr>
              <a:t>  </a:t>
            </a:r>
            <a:r>
              <a:rPr sz="4000" spc="-10" dirty="0">
                <a:latin typeface="Times New Roman" panose="02020603050405020304" pitchFamily="18" charset="0"/>
                <a:cs typeface="Times New Roman" panose="02020603050405020304" pitchFamily="18" charset="0"/>
              </a:rPr>
              <a:t>strong </a:t>
            </a:r>
            <a:r>
              <a:rPr sz="4000" dirty="0">
                <a:latin typeface="Times New Roman" panose="02020603050405020304" pitchFamily="18" charset="0"/>
                <a:cs typeface="Times New Roman" panose="02020603050405020304" pitchFamily="18" charset="0"/>
              </a:rPr>
              <a:t>security through encrypted authentication and </a:t>
            </a:r>
            <a:r>
              <a:rPr sz="4000" spc="-10" dirty="0">
                <a:latin typeface="Times New Roman" panose="02020603050405020304" pitchFamily="18" charset="0"/>
                <a:cs typeface="Times New Roman" panose="02020603050405020304" pitchFamily="18" charset="0"/>
              </a:rPr>
              <a:t>role-</a:t>
            </a:r>
            <a:r>
              <a:rPr sz="4000" dirty="0">
                <a:latin typeface="Times New Roman" panose="02020603050405020304" pitchFamily="18" charset="0"/>
                <a:cs typeface="Times New Roman" panose="02020603050405020304" pitchFamily="18" charset="0"/>
              </a:rPr>
              <a:t>based</a:t>
            </a:r>
            <a:r>
              <a:rPr sz="4000" spc="-75" dirty="0">
                <a:latin typeface="Times New Roman" panose="02020603050405020304" pitchFamily="18" charset="0"/>
                <a:cs typeface="Times New Roman" panose="02020603050405020304" pitchFamily="18" charset="0"/>
              </a:rPr>
              <a:t> </a:t>
            </a:r>
            <a:r>
              <a:rPr sz="4000" dirty="0">
                <a:latin typeface="Times New Roman" panose="02020603050405020304" pitchFamily="18" charset="0"/>
                <a:cs typeface="Times New Roman" panose="02020603050405020304" pitchFamily="18" charset="0"/>
              </a:rPr>
              <a:t>access</a:t>
            </a:r>
            <a:r>
              <a:rPr sz="4000" spc="-60" dirty="0">
                <a:latin typeface="Times New Roman" panose="02020603050405020304" pitchFamily="18" charset="0"/>
                <a:cs typeface="Times New Roman" panose="02020603050405020304" pitchFamily="18" charset="0"/>
              </a:rPr>
              <a:t> </a:t>
            </a:r>
            <a:r>
              <a:rPr sz="4000" spc="-10" dirty="0" smtClean="0">
                <a:latin typeface="Times New Roman" panose="02020603050405020304" pitchFamily="18" charset="0"/>
                <a:cs typeface="Times New Roman" panose="02020603050405020304" pitchFamily="18" charset="0"/>
              </a:rPr>
              <a:t>controls</a:t>
            </a:r>
            <a:r>
              <a:rPr lang="en-US" sz="4000" spc="-10" dirty="0" smtClean="0">
                <a:latin typeface="Times New Roman" panose="02020603050405020304" pitchFamily="18" charset="0"/>
                <a:cs typeface="Times New Roman" panose="02020603050405020304" pitchFamily="18" charset="0"/>
              </a:rPr>
              <a:t>.</a:t>
            </a:r>
            <a:endParaRPr sz="4000" dirty="0">
              <a:latin typeface="Times New Roman" panose="02020603050405020304" pitchFamily="18" charset="0"/>
              <a:cs typeface="Times New Roman" panose="02020603050405020304" pitchFamily="18" charset="0"/>
            </a:endParaRPr>
          </a:p>
        </p:txBody>
      </p:sp>
      <p:grpSp>
        <p:nvGrpSpPr>
          <p:cNvPr id="7" name="object 7"/>
          <p:cNvGrpSpPr/>
          <p:nvPr/>
        </p:nvGrpSpPr>
        <p:grpSpPr>
          <a:xfrm>
            <a:off x="-6095" y="6470903"/>
            <a:ext cx="12204700" cy="393700"/>
            <a:chOff x="-6095" y="6470903"/>
            <a:chExt cx="12204700" cy="393700"/>
          </a:xfrm>
        </p:grpSpPr>
        <p:sp>
          <p:nvSpPr>
            <p:cNvPr id="8" name="object 8"/>
            <p:cNvSpPr/>
            <p:nvPr/>
          </p:nvSpPr>
          <p:spPr>
            <a:xfrm>
              <a:off x="381" y="6477380"/>
              <a:ext cx="12192000" cy="381000"/>
            </a:xfrm>
            <a:custGeom>
              <a:avLst/>
              <a:gdLst/>
              <a:ahLst/>
              <a:cxnLst/>
              <a:rect l="l" t="t" r="r" b="b"/>
              <a:pathLst>
                <a:path w="12192000" h="381000">
                  <a:moveTo>
                    <a:pt x="12191619" y="0"/>
                  </a:moveTo>
                  <a:lnTo>
                    <a:pt x="0" y="0"/>
                  </a:lnTo>
                  <a:lnTo>
                    <a:pt x="0" y="380619"/>
                  </a:lnTo>
                  <a:lnTo>
                    <a:pt x="12191619" y="380619"/>
                  </a:lnTo>
                  <a:lnTo>
                    <a:pt x="12191619" y="0"/>
                  </a:lnTo>
                  <a:close/>
                </a:path>
              </a:pathLst>
            </a:custGeom>
            <a:solidFill>
              <a:srgbClr val="5B9BD4"/>
            </a:solidFill>
          </p:spPr>
          <p:txBody>
            <a:bodyPr wrap="square" lIns="0" tIns="0" rIns="0" bIns="0" rtlCol="0"/>
            <a:lstStyle/>
            <a:p>
              <a:endParaRPr/>
            </a:p>
          </p:txBody>
        </p:sp>
        <p:sp>
          <p:nvSpPr>
            <p:cNvPr id="9" name="object 9"/>
            <p:cNvSpPr/>
            <p:nvPr/>
          </p:nvSpPr>
          <p:spPr>
            <a:xfrm>
              <a:off x="381" y="6477380"/>
              <a:ext cx="12192000" cy="381000"/>
            </a:xfrm>
            <a:custGeom>
              <a:avLst/>
              <a:gdLst/>
              <a:ahLst/>
              <a:cxnLst/>
              <a:rect l="l" t="t" r="r" b="b"/>
              <a:pathLst>
                <a:path w="12192000" h="381000">
                  <a:moveTo>
                    <a:pt x="12191619" y="0"/>
                  </a:moveTo>
                  <a:lnTo>
                    <a:pt x="0" y="0"/>
                  </a:lnTo>
                  <a:lnTo>
                    <a:pt x="0" y="380619"/>
                  </a:lnTo>
                </a:path>
              </a:pathLst>
            </a:custGeom>
            <a:ln w="12953">
              <a:solidFill>
                <a:srgbClr val="41709C"/>
              </a:solidFill>
            </a:ln>
          </p:spPr>
          <p:txBody>
            <a:bodyPr wrap="square" lIns="0" tIns="0" rIns="0" bIns="0" rtlCol="0"/>
            <a:lstStyle/>
            <a:p>
              <a:endParaRPr/>
            </a:p>
          </p:txBody>
        </p:sp>
      </p:grpSp>
      <p:sp>
        <p:nvSpPr>
          <p:cNvPr id="10" name="object 10"/>
          <p:cNvSpPr txBox="1">
            <a:spLocks noGrp="1"/>
          </p:cNvSpPr>
          <p:nvPr>
            <p:ph type="ftr" sz="quarter" idx="5"/>
          </p:nvPr>
        </p:nvSpPr>
        <p:spPr>
          <a:prstGeom prst="rect">
            <a:avLst/>
          </a:prstGeom>
        </p:spPr>
        <p:txBody>
          <a:bodyPr vert="horz" wrap="square" lIns="0" tIns="0" rIns="0" bIns="0" rtlCol="0">
            <a:spAutoFit/>
          </a:bodyPr>
          <a:lstStyle/>
          <a:p>
            <a:pPr marL="12700">
              <a:lnSpc>
                <a:spcPts val="1710"/>
              </a:lnSpc>
            </a:pPr>
            <a:r>
              <a:rPr dirty="0"/>
              <a:t>MRCET</a:t>
            </a:r>
            <a:r>
              <a:rPr spc="-15" dirty="0"/>
              <a:t> </a:t>
            </a:r>
            <a:r>
              <a:rPr dirty="0"/>
              <a:t>|</a:t>
            </a:r>
            <a:r>
              <a:rPr spc="-15" dirty="0"/>
              <a:t> </a:t>
            </a:r>
            <a:r>
              <a:rPr spc="-10" dirty="0"/>
              <a:t>Department</a:t>
            </a:r>
            <a:r>
              <a:rPr dirty="0"/>
              <a:t> of Emerging</a:t>
            </a:r>
            <a:r>
              <a:rPr spc="-5" dirty="0"/>
              <a:t> </a:t>
            </a:r>
            <a:r>
              <a:rPr spc="-25" dirty="0"/>
              <a:t>Technologies</a:t>
            </a:r>
            <a:r>
              <a:rPr spc="5" dirty="0"/>
              <a:t> </a:t>
            </a:r>
            <a:r>
              <a:rPr dirty="0"/>
              <a:t>|</a:t>
            </a:r>
            <a:r>
              <a:rPr spc="-5" dirty="0"/>
              <a:t> </a:t>
            </a:r>
            <a:r>
              <a:rPr spc="-10" dirty="0"/>
              <a:t>Application</a:t>
            </a:r>
            <a:r>
              <a:rPr spc="-15" dirty="0"/>
              <a:t> </a:t>
            </a:r>
            <a:r>
              <a:rPr spc="-20" dirty="0"/>
              <a:t>Development-</a:t>
            </a:r>
            <a:r>
              <a:rPr dirty="0"/>
              <a:t>II</a:t>
            </a:r>
            <a:r>
              <a:rPr spc="10" dirty="0"/>
              <a:t> </a:t>
            </a:r>
            <a:r>
              <a:rPr dirty="0"/>
              <a:t>PPT|</a:t>
            </a:r>
            <a:r>
              <a:rPr spc="-20" dirty="0"/>
              <a:t> </a:t>
            </a:r>
            <a:r>
              <a:rPr dirty="0"/>
              <a:t>III</a:t>
            </a:r>
            <a:r>
              <a:rPr spc="-20" dirty="0"/>
              <a:t> Year</a:t>
            </a:r>
            <a:r>
              <a:rPr dirty="0"/>
              <a:t> </a:t>
            </a:r>
            <a:r>
              <a:rPr spc="-55" dirty="0"/>
              <a:t>B.Tech-</a:t>
            </a:r>
            <a:r>
              <a:rPr dirty="0"/>
              <a:t>II</a:t>
            </a:r>
            <a:r>
              <a:rPr spc="-15" dirty="0"/>
              <a:t> </a:t>
            </a:r>
            <a:r>
              <a:rPr spc="-10" dirty="0"/>
              <a:t>Semester</a:t>
            </a:r>
          </a:p>
        </p:txBody>
      </p:sp>
      <p:sp>
        <p:nvSpPr>
          <p:cNvPr id="11" name="object 11"/>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spc="-50" dirty="0"/>
              <a:t>5</a:t>
            </a:fld>
            <a:endParaRPr spc="-50" dirty="0"/>
          </a:p>
        </p:txBody>
      </p:sp>
      <p:sp>
        <p:nvSpPr>
          <p:cNvPr id="12" name="object 12"/>
          <p:cNvSpPr txBox="1"/>
          <p:nvPr/>
        </p:nvSpPr>
        <p:spPr>
          <a:xfrm>
            <a:off x="919988" y="6546615"/>
            <a:ext cx="10353040" cy="261620"/>
          </a:xfrm>
          <a:prstGeom prst="rect">
            <a:avLst/>
          </a:prstGeom>
        </p:spPr>
        <p:txBody>
          <a:bodyPr vert="horz" wrap="square" lIns="0" tIns="1905" rIns="0" bIns="0" rtlCol="0">
            <a:spAutoFit/>
          </a:bodyPr>
          <a:lstStyle/>
          <a:p>
            <a:pPr marL="12700">
              <a:lnSpc>
                <a:spcPct val="100000"/>
              </a:lnSpc>
              <a:spcBef>
                <a:spcPts val="15"/>
              </a:spcBef>
            </a:pPr>
            <a:r>
              <a:rPr sz="1600" b="1" spc="-10" dirty="0">
                <a:latin typeface="Arial"/>
                <a:cs typeface="Arial"/>
              </a:rPr>
              <a:t>B.Tech</a:t>
            </a:r>
            <a:r>
              <a:rPr sz="1600" b="1" spc="-30" dirty="0">
                <a:latin typeface="Arial"/>
                <a:cs typeface="Arial"/>
              </a:rPr>
              <a:t> </a:t>
            </a:r>
            <a:r>
              <a:rPr sz="1600" b="1" spc="50" dirty="0">
                <a:latin typeface="Arial"/>
                <a:cs typeface="Arial"/>
              </a:rPr>
              <a:t>III</a:t>
            </a:r>
            <a:r>
              <a:rPr sz="1600" b="1" spc="-20" dirty="0">
                <a:latin typeface="Arial"/>
                <a:cs typeface="Arial"/>
              </a:rPr>
              <a:t> </a:t>
            </a:r>
            <a:r>
              <a:rPr sz="1600" b="1" dirty="0">
                <a:latin typeface="Arial"/>
                <a:cs typeface="Arial"/>
              </a:rPr>
              <a:t>Year</a:t>
            </a:r>
            <a:r>
              <a:rPr sz="1600" b="1" spc="-25" dirty="0">
                <a:latin typeface="Arial"/>
                <a:cs typeface="Arial"/>
              </a:rPr>
              <a:t> </a:t>
            </a:r>
            <a:r>
              <a:rPr sz="1600" b="1" spc="-95" dirty="0">
                <a:latin typeface="Arial"/>
                <a:cs typeface="Arial"/>
              </a:rPr>
              <a:t>–</a:t>
            </a:r>
            <a:r>
              <a:rPr sz="1600" b="1" spc="-5" dirty="0">
                <a:latin typeface="Arial"/>
                <a:cs typeface="Arial"/>
              </a:rPr>
              <a:t> </a:t>
            </a:r>
            <a:r>
              <a:rPr sz="1600" b="1" spc="50" dirty="0">
                <a:latin typeface="Arial"/>
                <a:cs typeface="Arial"/>
              </a:rPr>
              <a:t>II</a:t>
            </a:r>
            <a:r>
              <a:rPr sz="1600" b="1" spc="-20" dirty="0">
                <a:latin typeface="Arial"/>
                <a:cs typeface="Arial"/>
              </a:rPr>
              <a:t> </a:t>
            </a:r>
            <a:r>
              <a:rPr sz="1600" b="1" dirty="0">
                <a:latin typeface="Arial"/>
                <a:cs typeface="Arial"/>
              </a:rPr>
              <a:t>Sem</a:t>
            </a:r>
            <a:r>
              <a:rPr sz="1600" b="1" spc="-25" dirty="0">
                <a:latin typeface="Arial"/>
                <a:cs typeface="Arial"/>
              </a:rPr>
              <a:t> </a:t>
            </a:r>
            <a:r>
              <a:rPr sz="1600" b="1" dirty="0">
                <a:latin typeface="Arial"/>
                <a:cs typeface="Arial"/>
              </a:rPr>
              <a:t>|</a:t>
            </a:r>
            <a:r>
              <a:rPr sz="1600" b="1" spc="-15" dirty="0">
                <a:latin typeface="Arial"/>
                <a:cs typeface="Arial"/>
              </a:rPr>
              <a:t> </a:t>
            </a:r>
            <a:r>
              <a:rPr sz="1600" b="1" dirty="0">
                <a:latin typeface="Arial"/>
                <a:cs typeface="Arial"/>
              </a:rPr>
              <a:t>Dept</a:t>
            </a:r>
            <a:r>
              <a:rPr sz="1600" b="1" spc="-20" dirty="0">
                <a:latin typeface="Arial"/>
                <a:cs typeface="Arial"/>
              </a:rPr>
              <a:t> </a:t>
            </a:r>
            <a:r>
              <a:rPr sz="1600" b="1" dirty="0">
                <a:latin typeface="Arial"/>
                <a:cs typeface="Arial"/>
              </a:rPr>
              <a:t>of</a:t>
            </a:r>
            <a:r>
              <a:rPr sz="1600" b="1" spc="190" dirty="0">
                <a:latin typeface="Arial"/>
                <a:cs typeface="Arial"/>
              </a:rPr>
              <a:t> </a:t>
            </a:r>
            <a:r>
              <a:rPr sz="1600" b="1" dirty="0">
                <a:latin typeface="Arial"/>
                <a:cs typeface="Arial"/>
              </a:rPr>
              <a:t>Computational</a:t>
            </a:r>
            <a:r>
              <a:rPr sz="1600" b="1" spc="-25" dirty="0">
                <a:latin typeface="Arial"/>
                <a:cs typeface="Arial"/>
              </a:rPr>
              <a:t> </a:t>
            </a:r>
            <a:r>
              <a:rPr sz="1600" b="1" dirty="0">
                <a:latin typeface="Arial"/>
                <a:cs typeface="Arial"/>
              </a:rPr>
              <a:t>Intelligence|</a:t>
            </a:r>
            <a:r>
              <a:rPr sz="1600" b="1" spc="-25" dirty="0">
                <a:latin typeface="Arial"/>
                <a:cs typeface="Arial"/>
              </a:rPr>
              <a:t> </a:t>
            </a:r>
            <a:r>
              <a:rPr sz="1600" b="1" dirty="0">
                <a:latin typeface="Arial"/>
                <a:cs typeface="Arial"/>
              </a:rPr>
              <a:t>Application</a:t>
            </a:r>
            <a:r>
              <a:rPr sz="1600" b="1" spc="-35" dirty="0">
                <a:latin typeface="Arial"/>
                <a:cs typeface="Arial"/>
              </a:rPr>
              <a:t> </a:t>
            </a:r>
            <a:r>
              <a:rPr sz="1600" b="1" dirty="0">
                <a:latin typeface="Arial"/>
                <a:cs typeface="Arial"/>
              </a:rPr>
              <a:t>Development</a:t>
            </a:r>
            <a:r>
              <a:rPr sz="1600" b="1" spc="5" dirty="0">
                <a:latin typeface="Arial"/>
                <a:cs typeface="Arial"/>
              </a:rPr>
              <a:t> </a:t>
            </a:r>
            <a:r>
              <a:rPr sz="1600" b="1" spc="-95" dirty="0">
                <a:latin typeface="Arial"/>
                <a:cs typeface="Arial"/>
              </a:rPr>
              <a:t>–</a:t>
            </a:r>
            <a:r>
              <a:rPr sz="1600" b="1" spc="-10" dirty="0">
                <a:latin typeface="Arial"/>
                <a:cs typeface="Arial"/>
              </a:rPr>
              <a:t> </a:t>
            </a:r>
            <a:r>
              <a:rPr sz="1600" b="1" spc="50" dirty="0">
                <a:latin typeface="Arial"/>
                <a:cs typeface="Arial"/>
              </a:rPr>
              <a:t>II</a:t>
            </a:r>
            <a:r>
              <a:rPr sz="1600" b="1" spc="-15" dirty="0">
                <a:latin typeface="Arial"/>
                <a:cs typeface="Arial"/>
              </a:rPr>
              <a:t> </a:t>
            </a:r>
            <a:r>
              <a:rPr sz="1600" b="1" dirty="0">
                <a:latin typeface="Arial"/>
                <a:cs typeface="Arial"/>
              </a:rPr>
              <a:t>|</a:t>
            </a:r>
            <a:r>
              <a:rPr sz="1600" b="1" spc="-5" dirty="0">
                <a:latin typeface="Arial"/>
                <a:cs typeface="Arial"/>
              </a:rPr>
              <a:t> </a:t>
            </a:r>
            <a:r>
              <a:rPr sz="1600" b="1" dirty="0">
                <a:latin typeface="Arial"/>
                <a:cs typeface="Arial"/>
              </a:rPr>
              <a:t>Project</a:t>
            </a:r>
            <a:r>
              <a:rPr sz="1600" b="1" spc="-30" dirty="0">
                <a:latin typeface="Arial"/>
                <a:cs typeface="Arial"/>
              </a:rPr>
              <a:t> </a:t>
            </a:r>
            <a:r>
              <a:rPr sz="1600" b="1" spc="-10" dirty="0">
                <a:latin typeface="Arial"/>
                <a:cs typeface="Arial"/>
              </a:rPr>
              <a:t>Review</a:t>
            </a:r>
            <a:endParaRPr sz="1600">
              <a:latin typeface="Arial"/>
              <a:cs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10493502" y="0"/>
            <a:ext cx="1698625" cy="898525"/>
            <a:chOff x="10493502" y="0"/>
            <a:chExt cx="1698625" cy="898525"/>
          </a:xfrm>
        </p:grpSpPr>
        <p:pic>
          <p:nvPicPr>
            <p:cNvPr id="3" name="object 3"/>
            <p:cNvPicPr/>
            <p:nvPr/>
          </p:nvPicPr>
          <p:blipFill>
            <a:blip r:embed="rId2" cstate="print"/>
            <a:stretch>
              <a:fillRect/>
            </a:stretch>
          </p:blipFill>
          <p:spPr>
            <a:xfrm>
              <a:off x="11353800" y="0"/>
              <a:ext cx="822198" cy="822198"/>
            </a:xfrm>
            <a:prstGeom prst="rect">
              <a:avLst/>
            </a:prstGeom>
          </p:spPr>
        </p:pic>
        <p:pic>
          <p:nvPicPr>
            <p:cNvPr id="4" name="object 4"/>
            <p:cNvPicPr/>
            <p:nvPr/>
          </p:nvPicPr>
          <p:blipFill>
            <a:blip r:embed="rId3" cstate="print"/>
            <a:stretch>
              <a:fillRect/>
            </a:stretch>
          </p:blipFill>
          <p:spPr>
            <a:xfrm>
              <a:off x="10493502" y="0"/>
              <a:ext cx="1698498" cy="898398"/>
            </a:xfrm>
            <a:prstGeom prst="rect">
              <a:avLst/>
            </a:prstGeom>
          </p:spPr>
        </p:pic>
      </p:grpSp>
      <p:sp>
        <p:nvSpPr>
          <p:cNvPr id="5" name="object 5" descr="$PPTXTitle"/>
          <p:cNvSpPr txBox="1">
            <a:spLocks noGrp="1"/>
          </p:cNvSpPr>
          <p:nvPr>
            <p:ph type="title"/>
          </p:nvPr>
        </p:nvSpPr>
        <p:spPr>
          <a:xfrm>
            <a:off x="916939" y="381000"/>
            <a:ext cx="5864861" cy="689932"/>
          </a:xfrm>
          <a:prstGeom prst="rect">
            <a:avLst/>
          </a:prstGeom>
        </p:spPr>
        <p:txBody>
          <a:bodyPr vert="horz" wrap="square" lIns="0" tIns="12700" rIns="0" bIns="0" rtlCol="0">
            <a:spAutoFit/>
          </a:bodyPr>
          <a:lstStyle/>
          <a:p>
            <a:pPr marL="12700">
              <a:lnSpc>
                <a:spcPct val="100000"/>
              </a:lnSpc>
              <a:spcBef>
                <a:spcPts val="100"/>
              </a:spcBef>
            </a:pPr>
            <a:r>
              <a:rPr lang="en-IN" spc="-10" dirty="0" smtClean="0"/>
              <a:t>Problem Statement</a:t>
            </a:r>
            <a:endParaRPr spc="-10" dirty="0"/>
          </a:p>
        </p:txBody>
      </p:sp>
      <p:sp>
        <p:nvSpPr>
          <p:cNvPr id="6" name="object 6"/>
          <p:cNvSpPr txBox="1"/>
          <p:nvPr/>
        </p:nvSpPr>
        <p:spPr>
          <a:xfrm>
            <a:off x="916939" y="1030478"/>
            <a:ext cx="10360025" cy="5551904"/>
          </a:xfrm>
          <a:prstGeom prst="rect">
            <a:avLst/>
          </a:prstGeom>
        </p:spPr>
        <p:txBody>
          <a:bodyPr vert="horz" wrap="square" lIns="0" tIns="66675" rIns="0" bIns="0" rtlCol="0">
            <a:spAutoFit/>
          </a:bodyPr>
          <a:lstStyle/>
          <a:p>
            <a:pPr marL="12700" marR="5080" algn="just">
              <a:lnSpc>
                <a:spcPct val="90100"/>
              </a:lnSpc>
              <a:spcBef>
                <a:spcPts val="525"/>
              </a:spcBef>
            </a:pPr>
            <a:r>
              <a:rPr lang="en-US" sz="4400" dirty="0" smtClean="0">
                <a:latin typeface="Times New Roman" panose="02020603050405020304" pitchFamily="18" charset="0"/>
                <a:cs typeface="Times New Roman" panose="02020603050405020304" pitchFamily="18" charset="0"/>
              </a:rPr>
              <a:t>Traditional manual ticketing suffers from long queues, operational errors, and inefficient seat tracking. The proposed Railway Reservation System provides a secure digital platform featuring real-time availability checks, instant PNR generation, automated cancellations, and scalable database architecture to streamline train management and passenger bookings. </a:t>
            </a:r>
            <a:endParaRPr sz="4400" dirty="0">
              <a:latin typeface="Times New Roman" panose="02020603050405020304" pitchFamily="18" charset="0"/>
              <a:cs typeface="Times New Roman" panose="02020603050405020304" pitchFamily="18" charset="0"/>
            </a:endParaRPr>
          </a:p>
        </p:txBody>
      </p:sp>
      <p:grpSp>
        <p:nvGrpSpPr>
          <p:cNvPr id="7" name="object 7"/>
          <p:cNvGrpSpPr/>
          <p:nvPr/>
        </p:nvGrpSpPr>
        <p:grpSpPr>
          <a:xfrm>
            <a:off x="-6095" y="6470903"/>
            <a:ext cx="12204700" cy="393700"/>
            <a:chOff x="-6095" y="6470903"/>
            <a:chExt cx="12204700" cy="393700"/>
          </a:xfrm>
        </p:grpSpPr>
        <p:sp>
          <p:nvSpPr>
            <p:cNvPr id="8" name="object 8"/>
            <p:cNvSpPr/>
            <p:nvPr/>
          </p:nvSpPr>
          <p:spPr>
            <a:xfrm>
              <a:off x="381" y="6477380"/>
              <a:ext cx="12192000" cy="381000"/>
            </a:xfrm>
            <a:custGeom>
              <a:avLst/>
              <a:gdLst/>
              <a:ahLst/>
              <a:cxnLst/>
              <a:rect l="l" t="t" r="r" b="b"/>
              <a:pathLst>
                <a:path w="12192000" h="381000">
                  <a:moveTo>
                    <a:pt x="12191619" y="0"/>
                  </a:moveTo>
                  <a:lnTo>
                    <a:pt x="0" y="0"/>
                  </a:lnTo>
                  <a:lnTo>
                    <a:pt x="0" y="380619"/>
                  </a:lnTo>
                  <a:lnTo>
                    <a:pt x="12191619" y="380619"/>
                  </a:lnTo>
                  <a:lnTo>
                    <a:pt x="12191619" y="0"/>
                  </a:lnTo>
                  <a:close/>
                </a:path>
              </a:pathLst>
            </a:custGeom>
            <a:solidFill>
              <a:srgbClr val="5B9BD4"/>
            </a:solidFill>
          </p:spPr>
          <p:txBody>
            <a:bodyPr wrap="square" lIns="0" tIns="0" rIns="0" bIns="0" rtlCol="0"/>
            <a:lstStyle/>
            <a:p>
              <a:endParaRPr/>
            </a:p>
          </p:txBody>
        </p:sp>
        <p:sp>
          <p:nvSpPr>
            <p:cNvPr id="9" name="object 9"/>
            <p:cNvSpPr/>
            <p:nvPr/>
          </p:nvSpPr>
          <p:spPr>
            <a:xfrm>
              <a:off x="381" y="6477380"/>
              <a:ext cx="12192000" cy="381000"/>
            </a:xfrm>
            <a:custGeom>
              <a:avLst/>
              <a:gdLst/>
              <a:ahLst/>
              <a:cxnLst/>
              <a:rect l="l" t="t" r="r" b="b"/>
              <a:pathLst>
                <a:path w="12192000" h="381000">
                  <a:moveTo>
                    <a:pt x="12191619" y="0"/>
                  </a:moveTo>
                  <a:lnTo>
                    <a:pt x="0" y="0"/>
                  </a:lnTo>
                  <a:lnTo>
                    <a:pt x="0" y="380619"/>
                  </a:lnTo>
                </a:path>
              </a:pathLst>
            </a:custGeom>
            <a:ln w="12953">
              <a:solidFill>
                <a:srgbClr val="41709C"/>
              </a:solidFill>
            </a:ln>
          </p:spPr>
          <p:txBody>
            <a:bodyPr wrap="square" lIns="0" tIns="0" rIns="0" bIns="0" rtlCol="0"/>
            <a:lstStyle/>
            <a:p>
              <a:endParaRPr/>
            </a:p>
          </p:txBody>
        </p:sp>
      </p:grpSp>
      <p:sp>
        <p:nvSpPr>
          <p:cNvPr id="10" name="object 10"/>
          <p:cNvSpPr txBox="1">
            <a:spLocks noGrp="1"/>
          </p:cNvSpPr>
          <p:nvPr>
            <p:ph type="ftr" sz="quarter" idx="5"/>
          </p:nvPr>
        </p:nvSpPr>
        <p:spPr>
          <a:prstGeom prst="rect">
            <a:avLst/>
          </a:prstGeom>
        </p:spPr>
        <p:txBody>
          <a:bodyPr vert="horz" wrap="square" lIns="0" tIns="0" rIns="0" bIns="0" rtlCol="0">
            <a:spAutoFit/>
          </a:bodyPr>
          <a:lstStyle/>
          <a:p>
            <a:pPr marL="12700">
              <a:lnSpc>
                <a:spcPts val="1710"/>
              </a:lnSpc>
            </a:pPr>
            <a:r>
              <a:rPr dirty="0"/>
              <a:t>MRCET</a:t>
            </a:r>
            <a:r>
              <a:rPr spc="-15" dirty="0"/>
              <a:t> </a:t>
            </a:r>
            <a:r>
              <a:rPr dirty="0"/>
              <a:t>|</a:t>
            </a:r>
            <a:r>
              <a:rPr spc="-15" dirty="0"/>
              <a:t> </a:t>
            </a:r>
            <a:r>
              <a:rPr spc="-10" dirty="0"/>
              <a:t>Department</a:t>
            </a:r>
            <a:r>
              <a:rPr dirty="0"/>
              <a:t> of Emerging</a:t>
            </a:r>
            <a:r>
              <a:rPr spc="-5" dirty="0"/>
              <a:t> </a:t>
            </a:r>
            <a:r>
              <a:rPr spc="-25" dirty="0"/>
              <a:t>Technologies</a:t>
            </a:r>
            <a:r>
              <a:rPr spc="5" dirty="0"/>
              <a:t> </a:t>
            </a:r>
            <a:r>
              <a:rPr dirty="0"/>
              <a:t>|</a:t>
            </a:r>
            <a:r>
              <a:rPr spc="-5" dirty="0"/>
              <a:t> </a:t>
            </a:r>
            <a:r>
              <a:rPr spc="-10" dirty="0"/>
              <a:t>Application</a:t>
            </a:r>
            <a:r>
              <a:rPr spc="-15" dirty="0"/>
              <a:t> </a:t>
            </a:r>
            <a:r>
              <a:rPr spc="-20" dirty="0"/>
              <a:t>Development-</a:t>
            </a:r>
            <a:r>
              <a:rPr dirty="0"/>
              <a:t>II</a:t>
            </a:r>
            <a:r>
              <a:rPr spc="10" dirty="0"/>
              <a:t> </a:t>
            </a:r>
            <a:r>
              <a:rPr dirty="0"/>
              <a:t>PPT|</a:t>
            </a:r>
            <a:r>
              <a:rPr spc="-20" dirty="0"/>
              <a:t> </a:t>
            </a:r>
            <a:r>
              <a:rPr dirty="0"/>
              <a:t>III</a:t>
            </a:r>
            <a:r>
              <a:rPr spc="-20" dirty="0"/>
              <a:t> Year</a:t>
            </a:r>
            <a:r>
              <a:rPr dirty="0"/>
              <a:t> </a:t>
            </a:r>
            <a:r>
              <a:rPr spc="-55" dirty="0"/>
              <a:t>B.Tech-</a:t>
            </a:r>
            <a:r>
              <a:rPr dirty="0"/>
              <a:t>II</a:t>
            </a:r>
            <a:r>
              <a:rPr spc="-15" dirty="0"/>
              <a:t> </a:t>
            </a:r>
            <a:r>
              <a:rPr spc="-10" dirty="0"/>
              <a:t>Semester</a:t>
            </a:r>
          </a:p>
        </p:txBody>
      </p:sp>
      <p:sp>
        <p:nvSpPr>
          <p:cNvPr id="11" name="object 11"/>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spc="-50" dirty="0"/>
              <a:t>6</a:t>
            </a:fld>
            <a:endParaRPr spc="-50" dirty="0"/>
          </a:p>
        </p:txBody>
      </p:sp>
      <p:sp>
        <p:nvSpPr>
          <p:cNvPr id="12" name="object 12"/>
          <p:cNvSpPr txBox="1"/>
          <p:nvPr/>
        </p:nvSpPr>
        <p:spPr>
          <a:xfrm>
            <a:off x="919988" y="6546615"/>
            <a:ext cx="10353040" cy="261620"/>
          </a:xfrm>
          <a:prstGeom prst="rect">
            <a:avLst/>
          </a:prstGeom>
        </p:spPr>
        <p:txBody>
          <a:bodyPr vert="horz" wrap="square" lIns="0" tIns="1905" rIns="0" bIns="0" rtlCol="0">
            <a:spAutoFit/>
          </a:bodyPr>
          <a:lstStyle/>
          <a:p>
            <a:pPr marL="12700">
              <a:lnSpc>
                <a:spcPct val="100000"/>
              </a:lnSpc>
              <a:spcBef>
                <a:spcPts val="15"/>
              </a:spcBef>
            </a:pPr>
            <a:r>
              <a:rPr sz="1600" b="1" spc="-10" dirty="0">
                <a:latin typeface="Arial"/>
                <a:cs typeface="Arial"/>
              </a:rPr>
              <a:t>B.Tech</a:t>
            </a:r>
            <a:r>
              <a:rPr sz="1600" b="1" spc="-30" dirty="0">
                <a:latin typeface="Arial"/>
                <a:cs typeface="Arial"/>
              </a:rPr>
              <a:t> </a:t>
            </a:r>
            <a:r>
              <a:rPr sz="1600" b="1" spc="50" dirty="0">
                <a:latin typeface="Arial"/>
                <a:cs typeface="Arial"/>
              </a:rPr>
              <a:t>III</a:t>
            </a:r>
            <a:r>
              <a:rPr sz="1600" b="1" spc="-20" dirty="0">
                <a:latin typeface="Arial"/>
                <a:cs typeface="Arial"/>
              </a:rPr>
              <a:t> </a:t>
            </a:r>
            <a:r>
              <a:rPr sz="1600" b="1" dirty="0">
                <a:latin typeface="Arial"/>
                <a:cs typeface="Arial"/>
              </a:rPr>
              <a:t>Year</a:t>
            </a:r>
            <a:r>
              <a:rPr sz="1600" b="1" spc="-25" dirty="0">
                <a:latin typeface="Arial"/>
                <a:cs typeface="Arial"/>
              </a:rPr>
              <a:t> </a:t>
            </a:r>
            <a:r>
              <a:rPr sz="1600" b="1" spc="-95" dirty="0">
                <a:latin typeface="Arial"/>
                <a:cs typeface="Arial"/>
              </a:rPr>
              <a:t>–</a:t>
            </a:r>
            <a:r>
              <a:rPr sz="1600" b="1" spc="-5" dirty="0">
                <a:latin typeface="Arial"/>
                <a:cs typeface="Arial"/>
              </a:rPr>
              <a:t> </a:t>
            </a:r>
            <a:r>
              <a:rPr sz="1600" b="1" spc="50" dirty="0">
                <a:latin typeface="Arial"/>
                <a:cs typeface="Arial"/>
              </a:rPr>
              <a:t>II</a:t>
            </a:r>
            <a:r>
              <a:rPr sz="1600" b="1" spc="-20" dirty="0">
                <a:latin typeface="Arial"/>
                <a:cs typeface="Arial"/>
              </a:rPr>
              <a:t> </a:t>
            </a:r>
            <a:r>
              <a:rPr sz="1600" b="1" dirty="0">
                <a:latin typeface="Arial"/>
                <a:cs typeface="Arial"/>
              </a:rPr>
              <a:t>Sem</a:t>
            </a:r>
            <a:r>
              <a:rPr sz="1600" b="1" spc="-25" dirty="0">
                <a:latin typeface="Arial"/>
                <a:cs typeface="Arial"/>
              </a:rPr>
              <a:t> </a:t>
            </a:r>
            <a:r>
              <a:rPr sz="1600" b="1" dirty="0">
                <a:latin typeface="Arial"/>
                <a:cs typeface="Arial"/>
              </a:rPr>
              <a:t>|</a:t>
            </a:r>
            <a:r>
              <a:rPr sz="1600" b="1" spc="-15" dirty="0">
                <a:latin typeface="Arial"/>
                <a:cs typeface="Arial"/>
              </a:rPr>
              <a:t> </a:t>
            </a:r>
            <a:r>
              <a:rPr sz="1600" b="1" dirty="0">
                <a:latin typeface="Arial"/>
                <a:cs typeface="Arial"/>
              </a:rPr>
              <a:t>Dept</a:t>
            </a:r>
            <a:r>
              <a:rPr sz="1600" b="1" spc="-20" dirty="0">
                <a:latin typeface="Arial"/>
                <a:cs typeface="Arial"/>
              </a:rPr>
              <a:t> </a:t>
            </a:r>
            <a:r>
              <a:rPr sz="1600" b="1" dirty="0">
                <a:latin typeface="Arial"/>
                <a:cs typeface="Arial"/>
              </a:rPr>
              <a:t>of</a:t>
            </a:r>
            <a:r>
              <a:rPr sz="1600" b="1" spc="190" dirty="0">
                <a:latin typeface="Arial"/>
                <a:cs typeface="Arial"/>
              </a:rPr>
              <a:t> </a:t>
            </a:r>
            <a:r>
              <a:rPr sz="1600" b="1" dirty="0">
                <a:latin typeface="Arial"/>
                <a:cs typeface="Arial"/>
              </a:rPr>
              <a:t>Computational</a:t>
            </a:r>
            <a:r>
              <a:rPr sz="1600" b="1" spc="-25" dirty="0">
                <a:latin typeface="Arial"/>
                <a:cs typeface="Arial"/>
              </a:rPr>
              <a:t> </a:t>
            </a:r>
            <a:r>
              <a:rPr sz="1600" b="1" dirty="0">
                <a:latin typeface="Arial"/>
                <a:cs typeface="Arial"/>
              </a:rPr>
              <a:t>Intelligence|</a:t>
            </a:r>
            <a:r>
              <a:rPr sz="1600" b="1" spc="-25" dirty="0">
                <a:latin typeface="Arial"/>
                <a:cs typeface="Arial"/>
              </a:rPr>
              <a:t> </a:t>
            </a:r>
            <a:r>
              <a:rPr sz="1600" b="1" dirty="0">
                <a:latin typeface="Arial"/>
                <a:cs typeface="Arial"/>
              </a:rPr>
              <a:t>Application</a:t>
            </a:r>
            <a:r>
              <a:rPr sz="1600" b="1" spc="-35" dirty="0">
                <a:latin typeface="Arial"/>
                <a:cs typeface="Arial"/>
              </a:rPr>
              <a:t> </a:t>
            </a:r>
            <a:r>
              <a:rPr sz="1600" b="1" dirty="0">
                <a:latin typeface="Arial"/>
                <a:cs typeface="Arial"/>
              </a:rPr>
              <a:t>Development</a:t>
            </a:r>
            <a:r>
              <a:rPr sz="1600" b="1" spc="5" dirty="0">
                <a:latin typeface="Arial"/>
                <a:cs typeface="Arial"/>
              </a:rPr>
              <a:t> </a:t>
            </a:r>
            <a:r>
              <a:rPr sz="1600" b="1" spc="-95" dirty="0">
                <a:latin typeface="Arial"/>
                <a:cs typeface="Arial"/>
              </a:rPr>
              <a:t>–</a:t>
            </a:r>
            <a:r>
              <a:rPr sz="1600" b="1" spc="-10" dirty="0">
                <a:latin typeface="Arial"/>
                <a:cs typeface="Arial"/>
              </a:rPr>
              <a:t> </a:t>
            </a:r>
            <a:r>
              <a:rPr sz="1600" b="1" spc="50" dirty="0">
                <a:latin typeface="Arial"/>
                <a:cs typeface="Arial"/>
              </a:rPr>
              <a:t>II</a:t>
            </a:r>
            <a:r>
              <a:rPr sz="1600" b="1" spc="-15" dirty="0">
                <a:latin typeface="Arial"/>
                <a:cs typeface="Arial"/>
              </a:rPr>
              <a:t> </a:t>
            </a:r>
            <a:r>
              <a:rPr sz="1600" b="1" dirty="0">
                <a:latin typeface="Arial"/>
                <a:cs typeface="Arial"/>
              </a:rPr>
              <a:t>|</a:t>
            </a:r>
            <a:r>
              <a:rPr sz="1600" b="1" spc="-5" dirty="0">
                <a:latin typeface="Arial"/>
                <a:cs typeface="Arial"/>
              </a:rPr>
              <a:t> </a:t>
            </a:r>
            <a:r>
              <a:rPr sz="1600" b="1" dirty="0">
                <a:latin typeface="Arial"/>
                <a:cs typeface="Arial"/>
              </a:rPr>
              <a:t>Project</a:t>
            </a:r>
            <a:r>
              <a:rPr sz="1600" b="1" spc="-30" dirty="0">
                <a:latin typeface="Arial"/>
                <a:cs typeface="Arial"/>
              </a:rPr>
              <a:t> </a:t>
            </a:r>
            <a:r>
              <a:rPr sz="1600" b="1" spc="-10" dirty="0">
                <a:latin typeface="Arial"/>
                <a:cs typeface="Arial"/>
              </a:rPr>
              <a:t>Review</a:t>
            </a:r>
            <a:endParaRPr sz="1600">
              <a:latin typeface="Arial"/>
              <a:cs typeface="Arial"/>
            </a:endParaRPr>
          </a:p>
        </p:txBody>
      </p:sp>
    </p:spTree>
    <p:extLst>
      <p:ext uri="{BB962C8B-B14F-4D97-AF65-F5344CB8AC3E}">
        <p14:creationId xmlns:p14="http://schemas.microsoft.com/office/powerpoint/2010/main" val="2280723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10493502" y="0"/>
            <a:ext cx="1698625" cy="898525"/>
            <a:chOff x="10493502" y="0"/>
            <a:chExt cx="1698625" cy="898525"/>
          </a:xfrm>
        </p:grpSpPr>
        <p:pic>
          <p:nvPicPr>
            <p:cNvPr id="3" name="object 3"/>
            <p:cNvPicPr/>
            <p:nvPr/>
          </p:nvPicPr>
          <p:blipFill>
            <a:blip r:embed="rId2" cstate="print"/>
            <a:stretch>
              <a:fillRect/>
            </a:stretch>
          </p:blipFill>
          <p:spPr>
            <a:xfrm>
              <a:off x="11353800" y="0"/>
              <a:ext cx="822198" cy="822198"/>
            </a:xfrm>
            <a:prstGeom prst="rect">
              <a:avLst/>
            </a:prstGeom>
          </p:spPr>
        </p:pic>
        <p:pic>
          <p:nvPicPr>
            <p:cNvPr id="4" name="object 4"/>
            <p:cNvPicPr/>
            <p:nvPr/>
          </p:nvPicPr>
          <p:blipFill>
            <a:blip r:embed="rId3" cstate="print"/>
            <a:stretch>
              <a:fillRect/>
            </a:stretch>
          </p:blipFill>
          <p:spPr>
            <a:xfrm>
              <a:off x="10493502" y="0"/>
              <a:ext cx="1698498" cy="898398"/>
            </a:xfrm>
            <a:prstGeom prst="rect">
              <a:avLst/>
            </a:prstGeom>
          </p:spPr>
        </p:pic>
      </p:grpSp>
      <p:sp>
        <p:nvSpPr>
          <p:cNvPr id="5" name="object 5" descr="$PPTXTitle"/>
          <p:cNvSpPr txBox="1">
            <a:spLocks noGrp="1"/>
          </p:cNvSpPr>
          <p:nvPr>
            <p:ph type="title"/>
          </p:nvPr>
        </p:nvSpPr>
        <p:spPr>
          <a:xfrm>
            <a:off x="916939" y="381000"/>
            <a:ext cx="5864861" cy="689932"/>
          </a:xfrm>
          <a:prstGeom prst="rect">
            <a:avLst/>
          </a:prstGeom>
        </p:spPr>
        <p:txBody>
          <a:bodyPr vert="horz" wrap="square" lIns="0" tIns="12700" rIns="0" bIns="0" rtlCol="0">
            <a:spAutoFit/>
          </a:bodyPr>
          <a:lstStyle/>
          <a:p>
            <a:pPr marL="12700">
              <a:lnSpc>
                <a:spcPct val="100000"/>
              </a:lnSpc>
              <a:spcBef>
                <a:spcPts val="100"/>
              </a:spcBef>
            </a:pPr>
            <a:r>
              <a:rPr lang="en-IN" spc="-10" dirty="0" smtClean="0"/>
              <a:t>Motivation</a:t>
            </a:r>
            <a:endParaRPr spc="-10" dirty="0"/>
          </a:p>
        </p:txBody>
      </p:sp>
      <p:sp>
        <p:nvSpPr>
          <p:cNvPr id="6" name="object 6"/>
          <p:cNvSpPr txBox="1"/>
          <p:nvPr/>
        </p:nvSpPr>
        <p:spPr>
          <a:xfrm>
            <a:off x="916939" y="1030478"/>
            <a:ext cx="10360025" cy="4942507"/>
          </a:xfrm>
          <a:prstGeom prst="rect">
            <a:avLst/>
          </a:prstGeom>
        </p:spPr>
        <p:txBody>
          <a:bodyPr vert="horz" wrap="square" lIns="0" tIns="66675" rIns="0" bIns="0" rtlCol="0">
            <a:spAutoFit/>
          </a:bodyPr>
          <a:lstStyle/>
          <a:p>
            <a:pPr marL="12700" marR="5080" algn="just">
              <a:lnSpc>
                <a:spcPct val="90100"/>
              </a:lnSpc>
              <a:spcBef>
                <a:spcPts val="525"/>
              </a:spcBef>
            </a:pPr>
            <a:r>
              <a:rPr lang="en-US" sz="4400" dirty="0" smtClean="0">
                <a:latin typeface="Times New Roman" panose="02020603050405020304" pitchFamily="18" charset="0"/>
                <a:cs typeface="Times New Roman" panose="02020603050405020304" pitchFamily="18" charset="0"/>
              </a:rPr>
              <a:t>Traditional manual ticketing workflows cause long queues, human errors, and lack real-time visibility. This project is motivated by the need for an automated, secure digital platform that provides instant booking, live seat availability, and efficient cancellations to enhance convenience and operational efficiency. </a:t>
            </a:r>
            <a:endParaRPr sz="4400" dirty="0">
              <a:latin typeface="Times New Roman" panose="02020603050405020304" pitchFamily="18" charset="0"/>
              <a:cs typeface="Times New Roman" panose="02020603050405020304" pitchFamily="18" charset="0"/>
            </a:endParaRPr>
          </a:p>
        </p:txBody>
      </p:sp>
      <p:grpSp>
        <p:nvGrpSpPr>
          <p:cNvPr id="7" name="object 7"/>
          <p:cNvGrpSpPr/>
          <p:nvPr/>
        </p:nvGrpSpPr>
        <p:grpSpPr>
          <a:xfrm>
            <a:off x="-6095" y="6470903"/>
            <a:ext cx="12204700" cy="393700"/>
            <a:chOff x="-6095" y="6470903"/>
            <a:chExt cx="12204700" cy="393700"/>
          </a:xfrm>
        </p:grpSpPr>
        <p:sp>
          <p:nvSpPr>
            <p:cNvPr id="8" name="object 8"/>
            <p:cNvSpPr/>
            <p:nvPr/>
          </p:nvSpPr>
          <p:spPr>
            <a:xfrm>
              <a:off x="381" y="6477380"/>
              <a:ext cx="12192000" cy="381000"/>
            </a:xfrm>
            <a:custGeom>
              <a:avLst/>
              <a:gdLst/>
              <a:ahLst/>
              <a:cxnLst/>
              <a:rect l="l" t="t" r="r" b="b"/>
              <a:pathLst>
                <a:path w="12192000" h="381000">
                  <a:moveTo>
                    <a:pt x="12191619" y="0"/>
                  </a:moveTo>
                  <a:lnTo>
                    <a:pt x="0" y="0"/>
                  </a:lnTo>
                  <a:lnTo>
                    <a:pt x="0" y="380619"/>
                  </a:lnTo>
                  <a:lnTo>
                    <a:pt x="12191619" y="380619"/>
                  </a:lnTo>
                  <a:lnTo>
                    <a:pt x="12191619" y="0"/>
                  </a:lnTo>
                  <a:close/>
                </a:path>
              </a:pathLst>
            </a:custGeom>
            <a:solidFill>
              <a:srgbClr val="5B9BD4"/>
            </a:solidFill>
          </p:spPr>
          <p:txBody>
            <a:bodyPr wrap="square" lIns="0" tIns="0" rIns="0" bIns="0" rtlCol="0"/>
            <a:lstStyle/>
            <a:p>
              <a:endParaRPr/>
            </a:p>
          </p:txBody>
        </p:sp>
        <p:sp>
          <p:nvSpPr>
            <p:cNvPr id="9" name="object 9"/>
            <p:cNvSpPr/>
            <p:nvPr/>
          </p:nvSpPr>
          <p:spPr>
            <a:xfrm>
              <a:off x="381" y="6477380"/>
              <a:ext cx="12192000" cy="381000"/>
            </a:xfrm>
            <a:custGeom>
              <a:avLst/>
              <a:gdLst/>
              <a:ahLst/>
              <a:cxnLst/>
              <a:rect l="l" t="t" r="r" b="b"/>
              <a:pathLst>
                <a:path w="12192000" h="381000">
                  <a:moveTo>
                    <a:pt x="12191619" y="0"/>
                  </a:moveTo>
                  <a:lnTo>
                    <a:pt x="0" y="0"/>
                  </a:lnTo>
                  <a:lnTo>
                    <a:pt x="0" y="380619"/>
                  </a:lnTo>
                </a:path>
              </a:pathLst>
            </a:custGeom>
            <a:ln w="12953">
              <a:solidFill>
                <a:srgbClr val="41709C"/>
              </a:solidFill>
            </a:ln>
          </p:spPr>
          <p:txBody>
            <a:bodyPr wrap="square" lIns="0" tIns="0" rIns="0" bIns="0" rtlCol="0"/>
            <a:lstStyle/>
            <a:p>
              <a:endParaRPr/>
            </a:p>
          </p:txBody>
        </p:sp>
      </p:grpSp>
      <p:sp>
        <p:nvSpPr>
          <p:cNvPr id="10" name="object 10"/>
          <p:cNvSpPr txBox="1">
            <a:spLocks noGrp="1"/>
          </p:cNvSpPr>
          <p:nvPr>
            <p:ph type="ftr" sz="quarter" idx="5"/>
          </p:nvPr>
        </p:nvSpPr>
        <p:spPr>
          <a:prstGeom prst="rect">
            <a:avLst/>
          </a:prstGeom>
        </p:spPr>
        <p:txBody>
          <a:bodyPr vert="horz" wrap="square" lIns="0" tIns="0" rIns="0" bIns="0" rtlCol="0">
            <a:spAutoFit/>
          </a:bodyPr>
          <a:lstStyle/>
          <a:p>
            <a:pPr marL="12700">
              <a:lnSpc>
                <a:spcPts val="1710"/>
              </a:lnSpc>
            </a:pPr>
            <a:r>
              <a:rPr dirty="0"/>
              <a:t>MRCET</a:t>
            </a:r>
            <a:r>
              <a:rPr spc="-15" dirty="0"/>
              <a:t> </a:t>
            </a:r>
            <a:r>
              <a:rPr dirty="0"/>
              <a:t>|</a:t>
            </a:r>
            <a:r>
              <a:rPr spc="-15" dirty="0"/>
              <a:t> </a:t>
            </a:r>
            <a:r>
              <a:rPr spc="-10" dirty="0"/>
              <a:t>Department</a:t>
            </a:r>
            <a:r>
              <a:rPr dirty="0"/>
              <a:t> of Emerging</a:t>
            </a:r>
            <a:r>
              <a:rPr spc="-5" dirty="0"/>
              <a:t> </a:t>
            </a:r>
            <a:r>
              <a:rPr spc="-25" dirty="0"/>
              <a:t>Technologies</a:t>
            </a:r>
            <a:r>
              <a:rPr spc="5" dirty="0"/>
              <a:t> </a:t>
            </a:r>
            <a:r>
              <a:rPr dirty="0"/>
              <a:t>|</a:t>
            </a:r>
            <a:r>
              <a:rPr spc="-5" dirty="0"/>
              <a:t> </a:t>
            </a:r>
            <a:r>
              <a:rPr spc="-10" dirty="0"/>
              <a:t>Application</a:t>
            </a:r>
            <a:r>
              <a:rPr spc="-15" dirty="0"/>
              <a:t> </a:t>
            </a:r>
            <a:r>
              <a:rPr spc="-20" dirty="0"/>
              <a:t>Development-</a:t>
            </a:r>
            <a:r>
              <a:rPr dirty="0"/>
              <a:t>II</a:t>
            </a:r>
            <a:r>
              <a:rPr spc="10" dirty="0"/>
              <a:t> </a:t>
            </a:r>
            <a:r>
              <a:rPr dirty="0"/>
              <a:t>PPT|</a:t>
            </a:r>
            <a:r>
              <a:rPr spc="-20" dirty="0"/>
              <a:t> </a:t>
            </a:r>
            <a:r>
              <a:rPr dirty="0"/>
              <a:t>III</a:t>
            </a:r>
            <a:r>
              <a:rPr spc="-20" dirty="0"/>
              <a:t> Year</a:t>
            </a:r>
            <a:r>
              <a:rPr dirty="0"/>
              <a:t> </a:t>
            </a:r>
            <a:r>
              <a:rPr spc="-55" dirty="0"/>
              <a:t>B.Tech-</a:t>
            </a:r>
            <a:r>
              <a:rPr dirty="0"/>
              <a:t>II</a:t>
            </a:r>
            <a:r>
              <a:rPr spc="-15" dirty="0"/>
              <a:t> </a:t>
            </a:r>
            <a:r>
              <a:rPr spc="-10" dirty="0"/>
              <a:t>Semester</a:t>
            </a:r>
          </a:p>
        </p:txBody>
      </p:sp>
      <p:sp>
        <p:nvSpPr>
          <p:cNvPr id="11" name="object 11"/>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spc="-50" dirty="0"/>
              <a:t>7</a:t>
            </a:fld>
            <a:endParaRPr spc="-50" dirty="0"/>
          </a:p>
        </p:txBody>
      </p:sp>
      <p:sp>
        <p:nvSpPr>
          <p:cNvPr id="12" name="object 12"/>
          <p:cNvSpPr txBox="1"/>
          <p:nvPr/>
        </p:nvSpPr>
        <p:spPr>
          <a:xfrm>
            <a:off x="919988" y="6546615"/>
            <a:ext cx="10353040" cy="261620"/>
          </a:xfrm>
          <a:prstGeom prst="rect">
            <a:avLst/>
          </a:prstGeom>
        </p:spPr>
        <p:txBody>
          <a:bodyPr vert="horz" wrap="square" lIns="0" tIns="1905" rIns="0" bIns="0" rtlCol="0">
            <a:spAutoFit/>
          </a:bodyPr>
          <a:lstStyle/>
          <a:p>
            <a:pPr marL="12700">
              <a:lnSpc>
                <a:spcPct val="100000"/>
              </a:lnSpc>
              <a:spcBef>
                <a:spcPts val="15"/>
              </a:spcBef>
            </a:pPr>
            <a:r>
              <a:rPr sz="1600" b="1" spc="-10" dirty="0">
                <a:latin typeface="Arial"/>
                <a:cs typeface="Arial"/>
              </a:rPr>
              <a:t>B.Tech</a:t>
            </a:r>
            <a:r>
              <a:rPr sz="1600" b="1" spc="-30" dirty="0">
                <a:latin typeface="Arial"/>
                <a:cs typeface="Arial"/>
              </a:rPr>
              <a:t> </a:t>
            </a:r>
            <a:r>
              <a:rPr sz="1600" b="1" spc="50" dirty="0">
                <a:latin typeface="Arial"/>
                <a:cs typeface="Arial"/>
              </a:rPr>
              <a:t>III</a:t>
            </a:r>
            <a:r>
              <a:rPr sz="1600" b="1" spc="-20" dirty="0">
                <a:latin typeface="Arial"/>
                <a:cs typeface="Arial"/>
              </a:rPr>
              <a:t> </a:t>
            </a:r>
            <a:r>
              <a:rPr sz="1600" b="1" dirty="0">
                <a:latin typeface="Arial"/>
                <a:cs typeface="Arial"/>
              </a:rPr>
              <a:t>Year</a:t>
            </a:r>
            <a:r>
              <a:rPr sz="1600" b="1" spc="-25" dirty="0">
                <a:latin typeface="Arial"/>
                <a:cs typeface="Arial"/>
              </a:rPr>
              <a:t> </a:t>
            </a:r>
            <a:r>
              <a:rPr sz="1600" b="1" spc="-95" dirty="0">
                <a:latin typeface="Arial"/>
                <a:cs typeface="Arial"/>
              </a:rPr>
              <a:t>–</a:t>
            </a:r>
            <a:r>
              <a:rPr sz="1600" b="1" spc="-5" dirty="0">
                <a:latin typeface="Arial"/>
                <a:cs typeface="Arial"/>
              </a:rPr>
              <a:t> </a:t>
            </a:r>
            <a:r>
              <a:rPr sz="1600" b="1" spc="50" dirty="0">
                <a:latin typeface="Arial"/>
                <a:cs typeface="Arial"/>
              </a:rPr>
              <a:t>II</a:t>
            </a:r>
            <a:r>
              <a:rPr sz="1600" b="1" spc="-20" dirty="0">
                <a:latin typeface="Arial"/>
                <a:cs typeface="Arial"/>
              </a:rPr>
              <a:t> </a:t>
            </a:r>
            <a:r>
              <a:rPr sz="1600" b="1" dirty="0">
                <a:latin typeface="Arial"/>
                <a:cs typeface="Arial"/>
              </a:rPr>
              <a:t>Sem</a:t>
            </a:r>
            <a:r>
              <a:rPr sz="1600" b="1" spc="-25" dirty="0">
                <a:latin typeface="Arial"/>
                <a:cs typeface="Arial"/>
              </a:rPr>
              <a:t> </a:t>
            </a:r>
            <a:r>
              <a:rPr sz="1600" b="1" dirty="0">
                <a:latin typeface="Arial"/>
                <a:cs typeface="Arial"/>
              </a:rPr>
              <a:t>|</a:t>
            </a:r>
            <a:r>
              <a:rPr sz="1600" b="1" spc="-15" dirty="0">
                <a:latin typeface="Arial"/>
                <a:cs typeface="Arial"/>
              </a:rPr>
              <a:t> </a:t>
            </a:r>
            <a:r>
              <a:rPr sz="1600" b="1" dirty="0">
                <a:latin typeface="Arial"/>
                <a:cs typeface="Arial"/>
              </a:rPr>
              <a:t>Dept</a:t>
            </a:r>
            <a:r>
              <a:rPr sz="1600" b="1" spc="-20" dirty="0">
                <a:latin typeface="Arial"/>
                <a:cs typeface="Arial"/>
              </a:rPr>
              <a:t> </a:t>
            </a:r>
            <a:r>
              <a:rPr sz="1600" b="1" dirty="0">
                <a:latin typeface="Arial"/>
                <a:cs typeface="Arial"/>
              </a:rPr>
              <a:t>of</a:t>
            </a:r>
            <a:r>
              <a:rPr sz="1600" b="1" spc="190" dirty="0">
                <a:latin typeface="Arial"/>
                <a:cs typeface="Arial"/>
              </a:rPr>
              <a:t> </a:t>
            </a:r>
            <a:r>
              <a:rPr sz="1600" b="1" dirty="0">
                <a:latin typeface="Arial"/>
                <a:cs typeface="Arial"/>
              </a:rPr>
              <a:t>Computational</a:t>
            </a:r>
            <a:r>
              <a:rPr sz="1600" b="1" spc="-25" dirty="0">
                <a:latin typeface="Arial"/>
                <a:cs typeface="Arial"/>
              </a:rPr>
              <a:t> </a:t>
            </a:r>
            <a:r>
              <a:rPr sz="1600" b="1" dirty="0">
                <a:latin typeface="Arial"/>
                <a:cs typeface="Arial"/>
              </a:rPr>
              <a:t>Intelligence|</a:t>
            </a:r>
            <a:r>
              <a:rPr sz="1600" b="1" spc="-25" dirty="0">
                <a:latin typeface="Arial"/>
                <a:cs typeface="Arial"/>
              </a:rPr>
              <a:t> </a:t>
            </a:r>
            <a:r>
              <a:rPr sz="1600" b="1" dirty="0">
                <a:latin typeface="Arial"/>
                <a:cs typeface="Arial"/>
              </a:rPr>
              <a:t>Application</a:t>
            </a:r>
            <a:r>
              <a:rPr sz="1600" b="1" spc="-35" dirty="0">
                <a:latin typeface="Arial"/>
                <a:cs typeface="Arial"/>
              </a:rPr>
              <a:t> </a:t>
            </a:r>
            <a:r>
              <a:rPr sz="1600" b="1" dirty="0">
                <a:latin typeface="Arial"/>
                <a:cs typeface="Arial"/>
              </a:rPr>
              <a:t>Development</a:t>
            </a:r>
            <a:r>
              <a:rPr sz="1600" b="1" spc="5" dirty="0">
                <a:latin typeface="Arial"/>
                <a:cs typeface="Arial"/>
              </a:rPr>
              <a:t> </a:t>
            </a:r>
            <a:r>
              <a:rPr sz="1600" b="1" spc="-95" dirty="0">
                <a:latin typeface="Arial"/>
                <a:cs typeface="Arial"/>
              </a:rPr>
              <a:t>–</a:t>
            </a:r>
            <a:r>
              <a:rPr sz="1600" b="1" spc="-10" dirty="0">
                <a:latin typeface="Arial"/>
                <a:cs typeface="Arial"/>
              </a:rPr>
              <a:t> </a:t>
            </a:r>
            <a:r>
              <a:rPr sz="1600" b="1" spc="50" dirty="0">
                <a:latin typeface="Arial"/>
                <a:cs typeface="Arial"/>
              </a:rPr>
              <a:t>II</a:t>
            </a:r>
            <a:r>
              <a:rPr sz="1600" b="1" spc="-15" dirty="0">
                <a:latin typeface="Arial"/>
                <a:cs typeface="Arial"/>
              </a:rPr>
              <a:t> </a:t>
            </a:r>
            <a:r>
              <a:rPr sz="1600" b="1" dirty="0">
                <a:latin typeface="Arial"/>
                <a:cs typeface="Arial"/>
              </a:rPr>
              <a:t>|</a:t>
            </a:r>
            <a:r>
              <a:rPr sz="1600" b="1" spc="-5" dirty="0">
                <a:latin typeface="Arial"/>
                <a:cs typeface="Arial"/>
              </a:rPr>
              <a:t> </a:t>
            </a:r>
            <a:r>
              <a:rPr sz="1600" b="1" dirty="0">
                <a:latin typeface="Arial"/>
                <a:cs typeface="Arial"/>
              </a:rPr>
              <a:t>Project</a:t>
            </a:r>
            <a:r>
              <a:rPr sz="1600" b="1" spc="-30" dirty="0">
                <a:latin typeface="Arial"/>
                <a:cs typeface="Arial"/>
              </a:rPr>
              <a:t> </a:t>
            </a:r>
            <a:r>
              <a:rPr sz="1600" b="1" spc="-10" dirty="0">
                <a:latin typeface="Arial"/>
                <a:cs typeface="Arial"/>
              </a:rPr>
              <a:t>Review</a:t>
            </a:r>
            <a:endParaRPr sz="1600">
              <a:latin typeface="Arial"/>
              <a:cs typeface="Arial"/>
            </a:endParaRPr>
          </a:p>
        </p:txBody>
      </p:sp>
    </p:spTree>
    <p:extLst>
      <p:ext uri="{BB962C8B-B14F-4D97-AF65-F5344CB8AC3E}">
        <p14:creationId xmlns:p14="http://schemas.microsoft.com/office/powerpoint/2010/main" val="35159859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10493502" y="0"/>
            <a:ext cx="1698625" cy="898525"/>
            <a:chOff x="10493502" y="0"/>
            <a:chExt cx="1698625" cy="898525"/>
          </a:xfrm>
        </p:grpSpPr>
        <p:pic>
          <p:nvPicPr>
            <p:cNvPr id="3" name="object 3"/>
            <p:cNvPicPr/>
            <p:nvPr/>
          </p:nvPicPr>
          <p:blipFill>
            <a:blip r:embed="rId2" cstate="print"/>
            <a:stretch>
              <a:fillRect/>
            </a:stretch>
          </p:blipFill>
          <p:spPr>
            <a:xfrm>
              <a:off x="11353800" y="0"/>
              <a:ext cx="822198" cy="822198"/>
            </a:xfrm>
            <a:prstGeom prst="rect">
              <a:avLst/>
            </a:prstGeom>
          </p:spPr>
        </p:pic>
        <p:pic>
          <p:nvPicPr>
            <p:cNvPr id="4" name="object 4"/>
            <p:cNvPicPr/>
            <p:nvPr/>
          </p:nvPicPr>
          <p:blipFill>
            <a:blip r:embed="rId3" cstate="print"/>
            <a:stretch>
              <a:fillRect/>
            </a:stretch>
          </p:blipFill>
          <p:spPr>
            <a:xfrm>
              <a:off x="10493502" y="0"/>
              <a:ext cx="1698498" cy="898398"/>
            </a:xfrm>
            <a:prstGeom prst="rect">
              <a:avLst/>
            </a:prstGeom>
          </p:spPr>
        </p:pic>
      </p:grpSp>
      <p:sp>
        <p:nvSpPr>
          <p:cNvPr id="5" name="object 5" descr="$PPTXTitle"/>
          <p:cNvSpPr txBox="1">
            <a:spLocks noGrp="1"/>
          </p:cNvSpPr>
          <p:nvPr>
            <p:ph type="title"/>
          </p:nvPr>
        </p:nvSpPr>
        <p:spPr>
          <a:xfrm>
            <a:off x="916939" y="381000"/>
            <a:ext cx="5864861" cy="689932"/>
          </a:xfrm>
          <a:prstGeom prst="rect">
            <a:avLst/>
          </a:prstGeom>
        </p:spPr>
        <p:txBody>
          <a:bodyPr vert="horz" wrap="square" lIns="0" tIns="12700" rIns="0" bIns="0" rtlCol="0">
            <a:spAutoFit/>
          </a:bodyPr>
          <a:lstStyle/>
          <a:p>
            <a:pPr marL="12700">
              <a:lnSpc>
                <a:spcPct val="100000"/>
              </a:lnSpc>
              <a:spcBef>
                <a:spcPts val="100"/>
              </a:spcBef>
            </a:pPr>
            <a:r>
              <a:rPr lang="en-US" spc="-10" dirty="0" smtClean="0"/>
              <a:t>Objectives</a:t>
            </a:r>
            <a:endParaRPr spc="-10" dirty="0"/>
          </a:p>
        </p:txBody>
      </p:sp>
      <p:sp>
        <p:nvSpPr>
          <p:cNvPr id="6" name="object 6"/>
          <p:cNvSpPr txBox="1"/>
          <p:nvPr/>
        </p:nvSpPr>
        <p:spPr>
          <a:xfrm>
            <a:off x="916939" y="1030478"/>
            <a:ext cx="10360025" cy="5551904"/>
          </a:xfrm>
          <a:prstGeom prst="rect">
            <a:avLst/>
          </a:prstGeom>
        </p:spPr>
        <p:txBody>
          <a:bodyPr vert="horz" wrap="square" lIns="0" tIns="66675" rIns="0" bIns="0" rtlCol="0">
            <a:spAutoFit/>
          </a:bodyPr>
          <a:lstStyle/>
          <a:p>
            <a:pPr marL="12700" marR="5080" algn="just">
              <a:lnSpc>
                <a:spcPct val="90100"/>
              </a:lnSpc>
              <a:spcBef>
                <a:spcPts val="525"/>
              </a:spcBef>
            </a:pPr>
            <a:r>
              <a:rPr lang="en-US" sz="4400" dirty="0" smtClean="0">
                <a:latin typeface="Times New Roman" panose="02020603050405020304" pitchFamily="18" charset="0"/>
                <a:cs typeface="Times New Roman" panose="02020603050405020304" pitchFamily="18" charset="0"/>
              </a:rPr>
              <a:t>The objective is to automate ticket reservations, streamline passenger management, enable real-time seat availability tracking with instant PNR generation, and build a scalable multi-tier architecture backed by an RDBMS to ensure transaction integrity, ACID compliance, and high concurrency during peak booking windows. </a:t>
            </a:r>
            <a:endParaRPr sz="4400" dirty="0">
              <a:latin typeface="Times New Roman" panose="02020603050405020304" pitchFamily="18" charset="0"/>
              <a:cs typeface="Times New Roman" panose="02020603050405020304" pitchFamily="18" charset="0"/>
            </a:endParaRPr>
          </a:p>
        </p:txBody>
      </p:sp>
      <p:grpSp>
        <p:nvGrpSpPr>
          <p:cNvPr id="7" name="object 7"/>
          <p:cNvGrpSpPr/>
          <p:nvPr/>
        </p:nvGrpSpPr>
        <p:grpSpPr>
          <a:xfrm>
            <a:off x="-6095" y="6470903"/>
            <a:ext cx="12204700" cy="393700"/>
            <a:chOff x="-6095" y="6470903"/>
            <a:chExt cx="12204700" cy="393700"/>
          </a:xfrm>
        </p:grpSpPr>
        <p:sp>
          <p:nvSpPr>
            <p:cNvPr id="8" name="object 8"/>
            <p:cNvSpPr/>
            <p:nvPr/>
          </p:nvSpPr>
          <p:spPr>
            <a:xfrm>
              <a:off x="381" y="6477380"/>
              <a:ext cx="12192000" cy="381000"/>
            </a:xfrm>
            <a:custGeom>
              <a:avLst/>
              <a:gdLst/>
              <a:ahLst/>
              <a:cxnLst/>
              <a:rect l="l" t="t" r="r" b="b"/>
              <a:pathLst>
                <a:path w="12192000" h="381000">
                  <a:moveTo>
                    <a:pt x="12191619" y="0"/>
                  </a:moveTo>
                  <a:lnTo>
                    <a:pt x="0" y="0"/>
                  </a:lnTo>
                  <a:lnTo>
                    <a:pt x="0" y="380619"/>
                  </a:lnTo>
                  <a:lnTo>
                    <a:pt x="12191619" y="380619"/>
                  </a:lnTo>
                  <a:lnTo>
                    <a:pt x="12191619" y="0"/>
                  </a:lnTo>
                  <a:close/>
                </a:path>
              </a:pathLst>
            </a:custGeom>
            <a:solidFill>
              <a:srgbClr val="5B9BD4"/>
            </a:solidFill>
          </p:spPr>
          <p:txBody>
            <a:bodyPr wrap="square" lIns="0" tIns="0" rIns="0" bIns="0" rtlCol="0"/>
            <a:lstStyle/>
            <a:p>
              <a:endParaRPr/>
            </a:p>
          </p:txBody>
        </p:sp>
        <p:sp>
          <p:nvSpPr>
            <p:cNvPr id="9" name="object 9"/>
            <p:cNvSpPr/>
            <p:nvPr/>
          </p:nvSpPr>
          <p:spPr>
            <a:xfrm>
              <a:off x="381" y="6477380"/>
              <a:ext cx="12192000" cy="381000"/>
            </a:xfrm>
            <a:custGeom>
              <a:avLst/>
              <a:gdLst/>
              <a:ahLst/>
              <a:cxnLst/>
              <a:rect l="l" t="t" r="r" b="b"/>
              <a:pathLst>
                <a:path w="12192000" h="381000">
                  <a:moveTo>
                    <a:pt x="12191619" y="0"/>
                  </a:moveTo>
                  <a:lnTo>
                    <a:pt x="0" y="0"/>
                  </a:lnTo>
                  <a:lnTo>
                    <a:pt x="0" y="380619"/>
                  </a:lnTo>
                </a:path>
              </a:pathLst>
            </a:custGeom>
            <a:ln w="12953">
              <a:solidFill>
                <a:srgbClr val="41709C"/>
              </a:solidFill>
            </a:ln>
          </p:spPr>
          <p:txBody>
            <a:bodyPr wrap="square" lIns="0" tIns="0" rIns="0" bIns="0" rtlCol="0"/>
            <a:lstStyle/>
            <a:p>
              <a:endParaRPr/>
            </a:p>
          </p:txBody>
        </p:sp>
      </p:grpSp>
      <p:sp>
        <p:nvSpPr>
          <p:cNvPr id="10" name="object 10"/>
          <p:cNvSpPr txBox="1">
            <a:spLocks noGrp="1"/>
          </p:cNvSpPr>
          <p:nvPr>
            <p:ph type="ftr" sz="quarter" idx="5"/>
          </p:nvPr>
        </p:nvSpPr>
        <p:spPr>
          <a:prstGeom prst="rect">
            <a:avLst/>
          </a:prstGeom>
        </p:spPr>
        <p:txBody>
          <a:bodyPr vert="horz" wrap="square" lIns="0" tIns="0" rIns="0" bIns="0" rtlCol="0">
            <a:spAutoFit/>
          </a:bodyPr>
          <a:lstStyle/>
          <a:p>
            <a:pPr marL="12700">
              <a:lnSpc>
                <a:spcPts val="1710"/>
              </a:lnSpc>
            </a:pPr>
            <a:r>
              <a:rPr dirty="0"/>
              <a:t>MRCET</a:t>
            </a:r>
            <a:r>
              <a:rPr spc="-15" dirty="0"/>
              <a:t> </a:t>
            </a:r>
            <a:r>
              <a:rPr dirty="0"/>
              <a:t>|</a:t>
            </a:r>
            <a:r>
              <a:rPr spc="-15" dirty="0"/>
              <a:t> </a:t>
            </a:r>
            <a:r>
              <a:rPr spc="-10" dirty="0"/>
              <a:t>Department</a:t>
            </a:r>
            <a:r>
              <a:rPr dirty="0"/>
              <a:t> of Emerging</a:t>
            </a:r>
            <a:r>
              <a:rPr spc="-5" dirty="0"/>
              <a:t> </a:t>
            </a:r>
            <a:r>
              <a:rPr spc="-25" dirty="0"/>
              <a:t>Technologies</a:t>
            </a:r>
            <a:r>
              <a:rPr spc="5" dirty="0"/>
              <a:t> </a:t>
            </a:r>
            <a:r>
              <a:rPr dirty="0"/>
              <a:t>|</a:t>
            </a:r>
            <a:r>
              <a:rPr spc="-5" dirty="0"/>
              <a:t> </a:t>
            </a:r>
            <a:r>
              <a:rPr spc="-10" dirty="0"/>
              <a:t>Application</a:t>
            </a:r>
            <a:r>
              <a:rPr spc="-15" dirty="0"/>
              <a:t> </a:t>
            </a:r>
            <a:r>
              <a:rPr spc="-20" dirty="0"/>
              <a:t>Development-</a:t>
            </a:r>
            <a:r>
              <a:rPr dirty="0"/>
              <a:t>II</a:t>
            </a:r>
            <a:r>
              <a:rPr spc="10" dirty="0"/>
              <a:t> </a:t>
            </a:r>
            <a:r>
              <a:rPr dirty="0"/>
              <a:t>PPT|</a:t>
            </a:r>
            <a:r>
              <a:rPr spc="-20" dirty="0"/>
              <a:t> </a:t>
            </a:r>
            <a:r>
              <a:rPr dirty="0"/>
              <a:t>III</a:t>
            </a:r>
            <a:r>
              <a:rPr spc="-20" dirty="0"/>
              <a:t> Year</a:t>
            </a:r>
            <a:r>
              <a:rPr dirty="0"/>
              <a:t> </a:t>
            </a:r>
            <a:r>
              <a:rPr spc="-55" dirty="0"/>
              <a:t>B.Tech-</a:t>
            </a:r>
            <a:r>
              <a:rPr dirty="0"/>
              <a:t>II</a:t>
            </a:r>
            <a:r>
              <a:rPr spc="-15" dirty="0"/>
              <a:t> </a:t>
            </a:r>
            <a:r>
              <a:rPr spc="-10" dirty="0"/>
              <a:t>Semester</a:t>
            </a:r>
          </a:p>
        </p:txBody>
      </p:sp>
      <p:sp>
        <p:nvSpPr>
          <p:cNvPr id="11" name="object 11"/>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spc="-50" dirty="0"/>
              <a:t>8</a:t>
            </a:fld>
            <a:endParaRPr spc="-50" dirty="0"/>
          </a:p>
        </p:txBody>
      </p:sp>
      <p:sp>
        <p:nvSpPr>
          <p:cNvPr id="12" name="object 12"/>
          <p:cNvSpPr txBox="1"/>
          <p:nvPr/>
        </p:nvSpPr>
        <p:spPr>
          <a:xfrm>
            <a:off x="919988" y="6546615"/>
            <a:ext cx="10353040" cy="261620"/>
          </a:xfrm>
          <a:prstGeom prst="rect">
            <a:avLst/>
          </a:prstGeom>
        </p:spPr>
        <p:txBody>
          <a:bodyPr vert="horz" wrap="square" lIns="0" tIns="1905" rIns="0" bIns="0" rtlCol="0">
            <a:spAutoFit/>
          </a:bodyPr>
          <a:lstStyle/>
          <a:p>
            <a:pPr marL="12700">
              <a:lnSpc>
                <a:spcPct val="100000"/>
              </a:lnSpc>
              <a:spcBef>
                <a:spcPts val="15"/>
              </a:spcBef>
            </a:pPr>
            <a:r>
              <a:rPr sz="1600" b="1" spc="-10" dirty="0">
                <a:latin typeface="Arial"/>
                <a:cs typeface="Arial"/>
              </a:rPr>
              <a:t>B.Tech</a:t>
            </a:r>
            <a:r>
              <a:rPr sz="1600" b="1" spc="-30" dirty="0">
                <a:latin typeface="Arial"/>
                <a:cs typeface="Arial"/>
              </a:rPr>
              <a:t> </a:t>
            </a:r>
            <a:r>
              <a:rPr sz="1600" b="1" spc="50" dirty="0">
                <a:latin typeface="Arial"/>
                <a:cs typeface="Arial"/>
              </a:rPr>
              <a:t>III</a:t>
            </a:r>
            <a:r>
              <a:rPr sz="1600" b="1" spc="-20" dirty="0">
                <a:latin typeface="Arial"/>
                <a:cs typeface="Arial"/>
              </a:rPr>
              <a:t> </a:t>
            </a:r>
            <a:r>
              <a:rPr sz="1600" b="1" dirty="0">
                <a:latin typeface="Arial"/>
                <a:cs typeface="Arial"/>
              </a:rPr>
              <a:t>Year</a:t>
            </a:r>
            <a:r>
              <a:rPr sz="1600" b="1" spc="-25" dirty="0">
                <a:latin typeface="Arial"/>
                <a:cs typeface="Arial"/>
              </a:rPr>
              <a:t> </a:t>
            </a:r>
            <a:r>
              <a:rPr sz="1600" b="1" spc="-95" dirty="0">
                <a:latin typeface="Arial"/>
                <a:cs typeface="Arial"/>
              </a:rPr>
              <a:t>–</a:t>
            </a:r>
            <a:r>
              <a:rPr sz="1600" b="1" spc="-5" dirty="0">
                <a:latin typeface="Arial"/>
                <a:cs typeface="Arial"/>
              </a:rPr>
              <a:t> </a:t>
            </a:r>
            <a:r>
              <a:rPr sz="1600" b="1" spc="50" dirty="0">
                <a:latin typeface="Arial"/>
                <a:cs typeface="Arial"/>
              </a:rPr>
              <a:t>II</a:t>
            </a:r>
            <a:r>
              <a:rPr sz="1600" b="1" spc="-20" dirty="0">
                <a:latin typeface="Arial"/>
                <a:cs typeface="Arial"/>
              </a:rPr>
              <a:t> </a:t>
            </a:r>
            <a:r>
              <a:rPr sz="1600" b="1" dirty="0">
                <a:latin typeface="Arial"/>
                <a:cs typeface="Arial"/>
              </a:rPr>
              <a:t>Sem</a:t>
            </a:r>
            <a:r>
              <a:rPr sz="1600" b="1" spc="-25" dirty="0">
                <a:latin typeface="Arial"/>
                <a:cs typeface="Arial"/>
              </a:rPr>
              <a:t> </a:t>
            </a:r>
            <a:r>
              <a:rPr sz="1600" b="1" dirty="0">
                <a:latin typeface="Arial"/>
                <a:cs typeface="Arial"/>
              </a:rPr>
              <a:t>|</a:t>
            </a:r>
            <a:r>
              <a:rPr sz="1600" b="1" spc="-15" dirty="0">
                <a:latin typeface="Arial"/>
                <a:cs typeface="Arial"/>
              </a:rPr>
              <a:t> </a:t>
            </a:r>
            <a:r>
              <a:rPr sz="1600" b="1" dirty="0">
                <a:latin typeface="Arial"/>
                <a:cs typeface="Arial"/>
              </a:rPr>
              <a:t>Dept</a:t>
            </a:r>
            <a:r>
              <a:rPr sz="1600" b="1" spc="-20" dirty="0">
                <a:latin typeface="Arial"/>
                <a:cs typeface="Arial"/>
              </a:rPr>
              <a:t> </a:t>
            </a:r>
            <a:r>
              <a:rPr sz="1600" b="1" dirty="0">
                <a:latin typeface="Arial"/>
                <a:cs typeface="Arial"/>
              </a:rPr>
              <a:t>of</a:t>
            </a:r>
            <a:r>
              <a:rPr sz="1600" b="1" spc="190" dirty="0">
                <a:latin typeface="Arial"/>
                <a:cs typeface="Arial"/>
              </a:rPr>
              <a:t> </a:t>
            </a:r>
            <a:r>
              <a:rPr sz="1600" b="1" dirty="0">
                <a:latin typeface="Arial"/>
                <a:cs typeface="Arial"/>
              </a:rPr>
              <a:t>Computational</a:t>
            </a:r>
            <a:r>
              <a:rPr sz="1600" b="1" spc="-25" dirty="0">
                <a:latin typeface="Arial"/>
                <a:cs typeface="Arial"/>
              </a:rPr>
              <a:t> </a:t>
            </a:r>
            <a:r>
              <a:rPr sz="1600" b="1" dirty="0">
                <a:latin typeface="Arial"/>
                <a:cs typeface="Arial"/>
              </a:rPr>
              <a:t>Intelligence|</a:t>
            </a:r>
            <a:r>
              <a:rPr sz="1600" b="1" spc="-25" dirty="0">
                <a:latin typeface="Arial"/>
                <a:cs typeface="Arial"/>
              </a:rPr>
              <a:t> </a:t>
            </a:r>
            <a:r>
              <a:rPr sz="1600" b="1" dirty="0">
                <a:latin typeface="Arial"/>
                <a:cs typeface="Arial"/>
              </a:rPr>
              <a:t>Application</a:t>
            </a:r>
            <a:r>
              <a:rPr sz="1600" b="1" spc="-35" dirty="0">
                <a:latin typeface="Arial"/>
                <a:cs typeface="Arial"/>
              </a:rPr>
              <a:t> </a:t>
            </a:r>
            <a:r>
              <a:rPr sz="1600" b="1" dirty="0">
                <a:latin typeface="Arial"/>
                <a:cs typeface="Arial"/>
              </a:rPr>
              <a:t>Development</a:t>
            </a:r>
            <a:r>
              <a:rPr sz="1600" b="1" spc="5" dirty="0">
                <a:latin typeface="Arial"/>
                <a:cs typeface="Arial"/>
              </a:rPr>
              <a:t> </a:t>
            </a:r>
            <a:r>
              <a:rPr sz="1600" b="1" spc="-95" dirty="0">
                <a:latin typeface="Arial"/>
                <a:cs typeface="Arial"/>
              </a:rPr>
              <a:t>–</a:t>
            </a:r>
            <a:r>
              <a:rPr sz="1600" b="1" spc="-10" dirty="0">
                <a:latin typeface="Arial"/>
                <a:cs typeface="Arial"/>
              </a:rPr>
              <a:t> </a:t>
            </a:r>
            <a:r>
              <a:rPr sz="1600" b="1" spc="50" dirty="0">
                <a:latin typeface="Arial"/>
                <a:cs typeface="Arial"/>
              </a:rPr>
              <a:t>II</a:t>
            </a:r>
            <a:r>
              <a:rPr sz="1600" b="1" spc="-15" dirty="0">
                <a:latin typeface="Arial"/>
                <a:cs typeface="Arial"/>
              </a:rPr>
              <a:t> </a:t>
            </a:r>
            <a:r>
              <a:rPr sz="1600" b="1" dirty="0">
                <a:latin typeface="Arial"/>
                <a:cs typeface="Arial"/>
              </a:rPr>
              <a:t>|</a:t>
            </a:r>
            <a:r>
              <a:rPr sz="1600" b="1" spc="-5" dirty="0">
                <a:latin typeface="Arial"/>
                <a:cs typeface="Arial"/>
              </a:rPr>
              <a:t> </a:t>
            </a:r>
            <a:r>
              <a:rPr sz="1600" b="1" dirty="0">
                <a:latin typeface="Arial"/>
                <a:cs typeface="Arial"/>
              </a:rPr>
              <a:t>Project</a:t>
            </a:r>
            <a:r>
              <a:rPr sz="1600" b="1" spc="-30" dirty="0">
                <a:latin typeface="Arial"/>
                <a:cs typeface="Arial"/>
              </a:rPr>
              <a:t> </a:t>
            </a:r>
            <a:r>
              <a:rPr sz="1600" b="1" spc="-10" dirty="0">
                <a:latin typeface="Arial"/>
                <a:cs typeface="Arial"/>
              </a:rPr>
              <a:t>Review</a:t>
            </a:r>
            <a:endParaRPr sz="1600">
              <a:latin typeface="Arial"/>
              <a:cs typeface="Arial"/>
            </a:endParaRPr>
          </a:p>
        </p:txBody>
      </p:sp>
    </p:spTree>
    <p:extLst>
      <p:ext uri="{BB962C8B-B14F-4D97-AF65-F5344CB8AC3E}">
        <p14:creationId xmlns:p14="http://schemas.microsoft.com/office/powerpoint/2010/main" val="9564559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10493502" y="0"/>
            <a:ext cx="1698625" cy="898525"/>
            <a:chOff x="10493502" y="0"/>
            <a:chExt cx="1698625" cy="898525"/>
          </a:xfrm>
        </p:grpSpPr>
        <p:pic>
          <p:nvPicPr>
            <p:cNvPr id="3" name="object 3"/>
            <p:cNvPicPr/>
            <p:nvPr/>
          </p:nvPicPr>
          <p:blipFill>
            <a:blip r:embed="rId2" cstate="print"/>
            <a:stretch>
              <a:fillRect/>
            </a:stretch>
          </p:blipFill>
          <p:spPr>
            <a:xfrm>
              <a:off x="11353800" y="0"/>
              <a:ext cx="822198" cy="822198"/>
            </a:xfrm>
            <a:prstGeom prst="rect">
              <a:avLst/>
            </a:prstGeom>
          </p:spPr>
        </p:pic>
        <p:pic>
          <p:nvPicPr>
            <p:cNvPr id="4" name="object 4"/>
            <p:cNvPicPr/>
            <p:nvPr/>
          </p:nvPicPr>
          <p:blipFill>
            <a:blip r:embed="rId3" cstate="print"/>
            <a:stretch>
              <a:fillRect/>
            </a:stretch>
          </p:blipFill>
          <p:spPr>
            <a:xfrm>
              <a:off x="10493502" y="0"/>
              <a:ext cx="1698498" cy="898398"/>
            </a:xfrm>
            <a:prstGeom prst="rect">
              <a:avLst/>
            </a:prstGeom>
          </p:spPr>
        </p:pic>
      </p:grpSp>
      <p:sp>
        <p:nvSpPr>
          <p:cNvPr id="5" name="object 5" descr="$PPTXTitle"/>
          <p:cNvSpPr txBox="1">
            <a:spLocks noGrp="1"/>
          </p:cNvSpPr>
          <p:nvPr>
            <p:ph type="title"/>
          </p:nvPr>
        </p:nvSpPr>
        <p:spPr>
          <a:xfrm>
            <a:off x="916939" y="381000"/>
            <a:ext cx="5864861" cy="689932"/>
          </a:xfrm>
          <a:prstGeom prst="rect">
            <a:avLst/>
          </a:prstGeom>
        </p:spPr>
        <p:txBody>
          <a:bodyPr vert="horz" wrap="square" lIns="0" tIns="12700" rIns="0" bIns="0" rtlCol="0">
            <a:spAutoFit/>
          </a:bodyPr>
          <a:lstStyle/>
          <a:p>
            <a:pPr marL="12700">
              <a:lnSpc>
                <a:spcPct val="100000"/>
              </a:lnSpc>
              <a:spcBef>
                <a:spcPts val="100"/>
              </a:spcBef>
            </a:pPr>
            <a:r>
              <a:rPr lang="en-US" spc="-10" dirty="0" smtClean="0"/>
              <a:t>Literature Survey</a:t>
            </a:r>
            <a:endParaRPr spc="-10" dirty="0"/>
          </a:p>
        </p:txBody>
      </p:sp>
      <p:sp>
        <p:nvSpPr>
          <p:cNvPr id="6" name="object 6"/>
          <p:cNvSpPr txBox="1"/>
          <p:nvPr/>
        </p:nvSpPr>
        <p:spPr>
          <a:xfrm>
            <a:off x="916939" y="1030478"/>
            <a:ext cx="10360025" cy="5551904"/>
          </a:xfrm>
          <a:prstGeom prst="rect">
            <a:avLst/>
          </a:prstGeom>
        </p:spPr>
        <p:txBody>
          <a:bodyPr vert="horz" wrap="square" lIns="0" tIns="66675" rIns="0" bIns="0" rtlCol="0">
            <a:spAutoFit/>
          </a:bodyPr>
          <a:lstStyle/>
          <a:p>
            <a:pPr marL="12700" marR="5080" algn="just">
              <a:lnSpc>
                <a:spcPct val="90100"/>
              </a:lnSpc>
              <a:spcBef>
                <a:spcPts val="525"/>
              </a:spcBef>
            </a:pPr>
            <a:r>
              <a:rPr lang="en-US" sz="4400" dirty="0" smtClean="0">
                <a:latin typeface="Times New Roman" panose="02020603050405020304" pitchFamily="18" charset="0"/>
                <a:cs typeface="Times New Roman" panose="02020603050405020304" pitchFamily="18" charset="0"/>
              </a:rPr>
              <a:t>Existing literature highlights manual ticketing drawbacks, including long queues, data errors, and poor seat tracking. Current research emphasizes web platforms utilizing multi-tier architectures, RDBMS, and real-time synchronization to ensure ACID compliance, high concurrency handling, secure authentication, and seamless travel management. </a:t>
            </a:r>
            <a:endParaRPr sz="4400" dirty="0">
              <a:latin typeface="Times New Roman" panose="02020603050405020304" pitchFamily="18" charset="0"/>
              <a:cs typeface="Times New Roman" panose="02020603050405020304" pitchFamily="18" charset="0"/>
            </a:endParaRPr>
          </a:p>
        </p:txBody>
      </p:sp>
      <p:grpSp>
        <p:nvGrpSpPr>
          <p:cNvPr id="7" name="object 7"/>
          <p:cNvGrpSpPr/>
          <p:nvPr/>
        </p:nvGrpSpPr>
        <p:grpSpPr>
          <a:xfrm>
            <a:off x="-6095" y="6470903"/>
            <a:ext cx="12204700" cy="393700"/>
            <a:chOff x="-6095" y="6470903"/>
            <a:chExt cx="12204700" cy="393700"/>
          </a:xfrm>
        </p:grpSpPr>
        <p:sp>
          <p:nvSpPr>
            <p:cNvPr id="8" name="object 8"/>
            <p:cNvSpPr/>
            <p:nvPr/>
          </p:nvSpPr>
          <p:spPr>
            <a:xfrm>
              <a:off x="381" y="6477380"/>
              <a:ext cx="12192000" cy="381000"/>
            </a:xfrm>
            <a:custGeom>
              <a:avLst/>
              <a:gdLst/>
              <a:ahLst/>
              <a:cxnLst/>
              <a:rect l="l" t="t" r="r" b="b"/>
              <a:pathLst>
                <a:path w="12192000" h="381000">
                  <a:moveTo>
                    <a:pt x="12191619" y="0"/>
                  </a:moveTo>
                  <a:lnTo>
                    <a:pt x="0" y="0"/>
                  </a:lnTo>
                  <a:lnTo>
                    <a:pt x="0" y="380619"/>
                  </a:lnTo>
                  <a:lnTo>
                    <a:pt x="12191619" y="380619"/>
                  </a:lnTo>
                  <a:lnTo>
                    <a:pt x="12191619" y="0"/>
                  </a:lnTo>
                  <a:close/>
                </a:path>
              </a:pathLst>
            </a:custGeom>
            <a:solidFill>
              <a:srgbClr val="5B9BD4"/>
            </a:solidFill>
          </p:spPr>
          <p:txBody>
            <a:bodyPr wrap="square" lIns="0" tIns="0" rIns="0" bIns="0" rtlCol="0"/>
            <a:lstStyle/>
            <a:p>
              <a:endParaRPr/>
            </a:p>
          </p:txBody>
        </p:sp>
        <p:sp>
          <p:nvSpPr>
            <p:cNvPr id="9" name="object 9"/>
            <p:cNvSpPr/>
            <p:nvPr/>
          </p:nvSpPr>
          <p:spPr>
            <a:xfrm>
              <a:off x="381" y="6477380"/>
              <a:ext cx="12192000" cy="381000"/>
            </a:xfrm>
            <a:custGeom>
              <a:avLst/>
              <a:gdLst/>
              <a:ahLst/>
              <a:cxnLst/>
              <a:rect l="l" t="t" r="r" b="b"/>
              <a:pathLst>
                <a:path w="12192000" h="381000">
                  <a:moveTo>
                    <a:pt x="12191619" y="0"/>
                  </a:moveTo>
                  <a:lnTo>
                    <a:pt x="0" y="0"/>
                  </a:lnTo>
                  <a:lnTo>
                    <a:pt x="0" y="380619"/>
                  </a:lnTo>
                </a:path>
              </a:pathLst>
            </a:custGeom>
            <a:ln w="12953">
              <a:solidFill>
                <a:srgbClr val="41709C"/>
              </a:solidFill>
            </a:ln>
          </p:spPr>
          <p:txBody>
            <a:bodyPr wrap="square" lIns="0" tIns="0" rIns="0" bIns="0" rtlCol="0"/>
            <a:lstStyle/>
            <a:p>
              <a:endParaRPr/>
            </a:p>
          </p:txBody>
        </p:sp>
      </p:grpSp>
      <p:sp>
        <p:nvSpPr>
          <p:cNvPr id="10" name="object 10"/>
          <p:cNvSpPr txBox="1">
            <a:spLocks noGrp="1"/>
          </p:cNvSpPr>
          <p:nvPr>
            <p:ph type="ftr" sz="quarter" idx="5"/>
          </p:nvPr>
        </p:nvSpPr>
        <p:spPr>
          <a:prstGeom prst="rect">
            <a:avLst/>
          </a:prstGeom>
        </p:spPr>
        <p:txBody>
          <a:bodyPr vert="horz" wrap="square" lIns="0" tIns="0" rIns="0" bIns="0" rtlCol="0">
            <a:spAutoFit/>
          </a:bodyPr>
          <a:lstStyle/>
          <a:p>
            <a:pPr marL="12700">
              <a:lnSpc>
                <a:spcPts val="1710"/>
              </a:lnSpc>
            </a:pPr>
            <a:r>
              <a:rPr dirty="0"/>
              <a:t>MRCET</a:t>
            </a:r>
            <a:r>
              <a:rPr spc="-15" dirty="0"/>
              <a:t> </a:t>
            </a:r>
            <a:r>
              <a:rPr dirty="0"/>
              <a:t>|</a:t>
            </a:r>
            <a:r>
              <a:rPr spc="-15" dirty="0"/>
              <a:t> </a:t>
            </a:r>
            <a:r>
              <a:rPr spc="-10" dirty="0"/>
              <a:t>Department</a:t>
            </a:r>
            <a:r>
              <a:rPr dirty="0"/>
              <a:t> of Emerging</a:t>
            </a:r>
            <a:r>
              <a:rPr spc="-5" dirty="0"/>
              <a:t> </a:t>
            </a:r>
            <a:r>
              <a:rPr spc="-25" dirty="0"/>
              <a:t>Technologies</a:t>
            </a:r>
            <a:r>
              <a:rPr spc="5" dirty="0"/>
              <a:t> </a:t>
            </a:r>
            <a:r>
              <a:rPr dirty="0"/>
              <a:t>|</a:t>
            </a:r>
            <a:r>
              <a:rPr spc="-5" dirty="0"/>
              <a:t> </a:t>
            </a:r>
            <a:r>
              <a:rPr spc="-10" dirty="0"/>
              <a:t>Application</a:t>
            </a:r>
            <a:r>
              <a:rPr spc="-15" dirty="0"/>
              <a:t> </a:t>
            </a:r>
            <a:r>
              <a:rPr spc="-20" dirty="0"/>
              <a:t>Development-</a:t>
            </a:r>
            <a:r>
              <a:rPr dirty="0"/>
              <a:t>II</a:t>
            </a:r>
            <a:r>
              <a:rPr spc="10" dirty="0"/>
              <a:t> </a:t>
            </a:r>
            <a:r>
              <a:rPr dirty="0"/>
              <a:t>PPT|</a:t>
            </a:r>
            <a:r>
              <a:rPr spc="-20" dirty="0"/>
              <a:t> </a:t>
            </a:r>
            <a:r>
              <a:rPr dirty="0"/>
              <a:t>III</a:t>
            </a:r>
            <a:r>
              <a:rPr spc="-20" dirty="0"/>
              <a:t> Year</a:t>
            </a:r>
            <a:r>
              <a:rPr dirty="0"/>
              <a:t> </a:t>
            </a:r>
            <a:r>
              <a:rPr spc="-55" dirty="0"/>
              <a:t>B.Tech-</a:t>
            </a:r>
            <a:r>
              <a:rPr dirty="0"/>
              <a:t>II</a:t>
            </a:r>
            <a:r>
              <a:rPr spc="-15" dirty="0"/>
              <a:t> </a:t>
            </a:r>
            <a:r>
              <a:rPr spc="-10" dirty="0"/>
              <a:t>Semester</a:t>
            </a:r>
          </a:p>
        </p:txBody>
      </p:sp>
      <p:sp>
        <p:nvSpPr>
          <p:cNvPr id="11" name="object 11"/>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spc="-50" dirty="0"/>
              <a:t>9</a:t>
            </a:fld>
            <a:endParaRPr spc="-50" dirty="0"/>
          </a:p>
        </p:txBody>
      </p:sp>
      <p:sp>
        <p:nvSpPr>
          <p:cNvPr id="12" name="object 12"/>
          <p:cNvSpPr txBox="1"/>
          <p:nvPr/>
        </p:nvSpPr>
        <p:spPr>
          <a:xfrm>
            <a:off x="919988" y="6546615"/>
            <a:ext cx="10353040" cy="261620"/>
          </a:xfrm>
          <a:prstGeom prst="rect">
            <a:avLst/>
          </a:prstGeom>
        </p:spPr>
        <p:txBody>
          <a:bodyPr vert="horz" wrap="square" lIns="0" tIns="1905" rIns="0" bIns="0" rtlCol="0">
            <a:spAutoFit/>
          </a:bodyPr>
          <a:lstStyle/>
          <a:p>
            <a:pPr marL="12700">
              <a:lnSpc>
                <a:spcPct val="100000"/>
              </a:lnSpc>
              <a:spcBef>
                <a:spcPts val="15"/>
              </a:spcBef>
            </a:pPr>
            <a:r>
              <a:rPr sz="1600" b="1" spc="-10" dirty="0">
                <a:latin typeface="Arial"/>
                <a:cs typeface="Arial"/>
              </a:rPr>
              <a:t>B.Tech</a:t>
            </a:r>
            <a:r>
              <a:rPr sz="1600" b="1" spc="-30" dirty="0">
                <a:latin typeface="Arial"/>
                <a:cs typeface="Arial"/>
              </a:rPr>
              <a:t> </a:t>
            </a:r>
            <a:r>
              <a:rPr sz="1600" b="1" spc="50" dirty="0">
                <a:latin typeface="Arial"/>
                <a:cs typeface="Arial"/>
              </a:rPr>
              <a:t>III</a:t>
            </a:r>
            <a:r>
              <a:rPr sz="1600" b="1" spc="-20" dirty="0">
                <a:latin typeface="Arial"/>
                <a:cs typeface="Arial"/>
              </a:rPr>
              <a:t> </a:t>
            </a:r>
            <a:r>
              <a:rPr sz="1600" b="1" dirty="0">
                <a:latin typeface="Arial"/>
                <a:cs typeface="Arial"/>
              </a:rPr>
              <a:t>Year</a:t>
            </a:r>
            <a:r>
              <a:rPr sz="1600" b="1" spc="-25" dirty="0">
                <a:latin typeface="Arial"/>
                <a:cs typeface="Arial"/>
              </a:rPr>
              <a:t> </a:t>
            </a:r>
            <a:r>
              <a:rPr sz="1600" b="1" spc="-95" dirty="0">
                <a:latin typeface="Arial"/>
                <a:cs typeface="Arial"/>
              </a:rPr>
              <a:t>–</a:t>
            </a:r>
            <a:r>
              <a:rPr sz="1600" b="1" spc="-5" dirty="0">
                <a:latin typeface="Arial"/>
                <a:cs typeface="Arial"/>
              </a:rPr>
              <a:t> </a:t>
            </a:r>
            <a:r>
              <a:rPr sz="1600" b="1" spc="50" dirty="0">
                <a:latin typeface="Arial"/>
                <a:cs typeface="Arial"/>
              </a:rPr>
              <a:t>II</a:t>
            </a:r>
            <a:r>
              <a:rPr sz="1600" b="1" spc="-20" dirty="0">
                <a:latin typeface="Arial"/>
                <a:cs typeface="Arial"/>
              </a:rPr>
              <a:t> </a:t>
            </a:r>
            <a:r>
              <a:rPr sz="1600" b="1" dirty="0">
                <a:latin typeface="Arial"/>
                <a:cs typeface="Arial"/>
              </a:rPr>
              <a:t>Sem</a:t>
            </a:r>
            <a:r>
              <a:rPr sz="1600" b="1" spc="-25" dirty="0">
                <a:latin typeface="Arial"/>
                <a:cs typeface="Arial"/>
              </a:rPr>
              <a:t> </a:t>
            </a:r>
            <a:r>
              <a:rPr sz="1600" b="1" dirty="0">
                <a:latin typeface="Arial"/>
                <a:cs typeface="Arial"/>
              </a:rPr>
              <a:t>|</a:t>
            </a:r>
            <a:r>
              <a:rPr sz="1600" b="1" spc="-15" dirty="0">
                <a:latin typeface="Arial"/>
                <a:cs typeface="Arial"/>
              </a:rPr>
              <a:t> </a:t>
            </a:r>
            <a:r>
              <a:rPr sz="1600" b="1" dirty="0">
                <a:latin typeface="Arial"/>
                <a:cs typeface="Arial"/>
              </a:rPr>
              <a:t>Dept</a:t>
            </a:r>
            <a:r>
              <a:rPr sz="1600" b="1" spc="-20" dirty="0">
                <a:latin typeface="Arial"/>
                <a:cs typeface="Arial"/>
              </a:rPr>
              <a:t> </a:t>
            </a:r>
            <a:r>
              <a:rPr sz="1600" b="1" dirty="0">
                <a:latin typeface="Arial"/>
                <a:cs typeface="Arial"/>
              </a:rPr>
              <a:t>of</a:t>
            </a:r>
            <a:r>
              <a:rPr sz="1600" b="1" spc="190" dirty="0">
                <a:latin typeface="Arial"/>
                <a:cs typeface="Arial"/>
              </a:rPr>
              <a:t> </a:t>
            </a:r>
            <a:r>
              <a:rPr sz="1600" b="1" dirty="0">
                <a:latin typeface="Arial"/>
                <a:cs typeface="Arial"/>
              </a:rPr>
              <a:t>Computational</a:t>
            </a:r>
            <a:r>
              <a:rPr sz="1600" b="1" spc="-25" dirty="0">
                <a:latin typeface="Arial"/>
                <a:cs typeface="Arial"/>
              </a:rPr>
              <a:t> </a:t>
            </a:r>
            <a:r>
              <a:rPr sz="1600" b="1" dirty="0">
                <a:latin typeface="Arial"/>
                <a:cs typeface="Arial"/>
              </a:rPr>
              <a:t>Intelligence|</a:t>
            </a:r>
            <a:r>
              <a:rPr sz="1600" b="1" spc="-25" dirty="0">
                <a:latin typeface="Arial"/>
                <a:cs typeface="Arial"/>
              </a:rPr>
              <a:t> </a:t>
            </a:r>
            <a:r>
              <a:rPr sz="1600" b="1" dirty="0">
                <a:latin typeface="Arial"/>
                <a:cs typeface="Arial"/>
              </a:rPr>
              <a:t>Application</a:t>
            </a:r>
            <a:r>
              <a:rPr sz="1600" b="1" spc="-35" dirty="0">
                <a:latin typeface="Arial"/>
                <a:cs typeface="Arial"/>
              </a:rPr>
              <a:t> </a:t>
            </a:r>
            <a:r>
              <a:rPr sz="1600" b="1" dirty="0">
                <a:latin typeface="Arial"/>
                <a:cs typeface="Arial"/>
              </a:rPr>
              <a:t>Development</a:t>
            </a:r>
            <a:r>
              <a:rPr sz="1600" b="1" spc="5" dirty="0">
                <a:latin typeface="Arial"/>
                <a:cs typeface="Arial"/>
              </a:rPr>
              <a:t> </a:t>
            </a:r>
            <a:r>
              <a:rPr sz="1600" b="1" spc="-95" dirty="0">
                <a:latin typeface="Arial"/>
                <a:cs typeface="Arial"/>
              </a:rPr>
              <a:t>–</a:t>
            </a:r>
            <a:r>
              <a:rPr sz="1600" b="1" spc="-10" dirty="0">
                <a:latin typeface="Arial"/>
                <a:cs typeface="Arial"/>
              </a:rPr>
              <a:t> </a:t>
            </a:r>
            <a:r>
              <a:rPr sz="1600" b="1" spc="50" dirty="0">
                <a:latin typeface="Arial"/>
                <a:cs typeface="Arial"/>
              </a:rPr>
              <a:t>II</a:t>
            </a:r>
            <a:r>
              <a:rPr sz="1600" b="1" spc="-15" dirty="0">
                <a:latin typeface="Arial"/>
                <a:cs typeface="Arial"/>
              </a:rPr>
              <a:t> </a:t>
            </a:r>
            <a:r>
              <a:rPr sz="1600" b="1" dirty="0">
                <a:latin typeface="Arial"/>
                <a:cs typeface="Arial"/>
              </a:rPr>
              <a:t>|</a:t>
            </a:r>
            <a:r>
              <a:rPr sz="1600" b="1" spc="-5" dirty="0">
                <a:latin typeface="Arial"/>
                <a:cs typeface="Arial"/>
              </a:rPr>
              <a:t> </a:t>
            </a:r>
            <a:r>
              <a:rPr sz="1600" b="1" dirty="0">
                <a:latin typeface="Arial"/>
                <a:cs typeface="Arial"/>
              </a:rPr>
              <a:t>Project</a:t>
            </a:r>
            <a:r>
              <a:rPr sz="1600" b="1" spc="-30" dirty="0">
                <a:latin typeface="Arial"/>
                <a:cs typeface="Arial"/>
              </a:rPr>
              <a:t> </a:t>
            </a:r>
            <a:r>
              <a:rPr sz="1600" b="1" spc="-10" dirty="0">
                <a:latin typeface="Arial"/>
                <a:cs typeface="Arial"/>
              </a:rPr>
              <a:t>Review</a:t>
            </a:r>
            <a:endParaRPr sz="1600">
              <a:latin typeface="Arial"/>
              <a:cs typeface="Arial"/>
            </a:endParaRPr>
          </a:p>
        </p:txBody>
      </p:sp>
    </p:spTree>
    <p:extLst>
      <p:ext uri="{BB962C8B-B14F-4D97-AF65-F5344CB8AC3E}">
        <p14:creationId xmlns:p14="http://schemas.microsoft.com/office/powerpoint/2010/main" val="237917277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10493502" y="0"/>
            <a:ext cx="1698625" cy="898525"/>
            <a:chOff x="10493502" y="0"/>
            <a:chExt cx="1698625" cy="898525"/>
          </a:xfrm>
        </p:grpSpPr>
        <p:pic>
          <p:nvPicPr>
            <p:cNvPr id="3" name="object 3"/>
            <p:cNvPicPr/>
            <p:nvPr/>
          </p:nvPicPr>
          <p:blipFill>
            <a:blip r:embed="rId2" cstate="print"/>
            <a:stretch>
              <a:fillRect/>
            </a:stretch>
          </p:blipFill>
          <p:spPr>
            <a:xfrm>
              <a:off x="11353800" y="0"/>
              <a:ext cx="822198" cy="822198"/>
            </a:xfrm>
            <a:prstGeom prst="rect">
              <a:avLst/>
            </a:prstGeom>
          </p:spPr>
        </p:pic>
        <p:pic>
          <p:nvPicPr>
            <p:cNvPr id="4" name="object 4"/>
            <p:cNvPicPr/>
            <p:nvPr/>
          </p:nvPicPr>
          <p:blipFill>
            <a:blip r:embed="rId3" cstate="print"/>
            <a:stretch>
              <a:fillRect/>
            </a:stretch>
          </p:blipFill>
          <p:spPr>
            <a:xfrm>
              <a:off x="10493502" y="0"/>
              <a:ext cx="1698498" cy="898398"/>
            </a:xfrm>
            <a:prstGeom prst="rect">
              <a:avLst/>
            </a:prstGeom>
          </p:spPr>
        </p:pic>
      </p:grpSp>
      <p:sp>
        <p:nvSpPr>
          <p:cNvPr id="5" name="object 5" descr="$PPTXTitle"/>
          <p:cNvSpPr txBox="1">
            <a:spLocks noGrp="1"/>
          </p:cNvSpPr>
          <p:nvPr>
            <p:ph type="title"/>
          </p:nvPr>
        </p:nvSpPr>
        <p:spPr>
          <a:xfrm>
            <a:off x="916939" y="381000"/>
            <a:ext cx="5864861" cy="689932"/>
          </a:xfrm>
          <a:prstGeom prst="rect">
            <a:avLst/>
          </a:prstGeom>
        </p:spPr>
        <p:txBody>
          <a:bodyPr vert="horz" wrap="square" lIns="0" tIns="12700" rIns="0" bIns="0" rtlCol="0">
            <a:spAutoFit/>
          </a:bodyPr>
          <a:lstStyle/>
          <a:p>
            <a:pPr marL="12700">
              <a:lnSpc>
                <a:spcPct val="100000"/>
              </a:lnSpc>
              <a:spcBef>
                <a:spcPts val="100"/>
              </a:spcBef>
            </a:pPr>
            <a:r>
              <a:rPr lang="en-US" spc="-10" dirty="0" smtClean="0"/>
              <a:t>Research Gap</a:t>
            </a:r>
            <a:endParaRPr spc="-10" dirty="0"/>
          </a:p>
        </p:txBody>
      </p:sp>
      <p:sp>
        <p:nvSpPr>
          <p:cNvPr id="6" name="object 6"/>
          <p:cNvSpPr txBox="1"/>
          <p:nvPr/>
        </p:nvSpPr>
        <p:spPr>
          <a:xfrm>
            <a:off x="916939" y="1030478"/>
            <a:ext cx="10360025" cy="4942507"/>
          </a:xfrm>
          <a:prstGeom prst="rect">
            <a:avLst/>
          </a:prstGeom>
        </p:spPr>
        <p:txBody>
          <a:bodyPr vert="horz" wrap="square" lIns="0" tIns="66675" rIns="0" bIns="0" rtlCol="0">
            <a:spAutoFit/>
          </a:bodyPr>
          <a:lstStyle/>
          <a:p>
            <a:pPr marL="12700" marR="5080" algn="just">
              <a:lnSpc>
                <a:spcPct val="90100"/>
              </a:lnSpc>
              <a:spcBef>
                <a:spcPts val="525"/>
              </a:spcBef>
            </a:pPr>
            <a:r>
              <a:rPr lang="en-US" sz="4400" dirty="0" smtClean="0">
                <a:latin typeface="Times New Roman" panose="02020603050405020304" pitchFamily="18" charset="0"/>
                <a:cs typeface="Times New Roman" panose="02020603050405020304" pitchFamily="18" charset="0"/>
              </a:rPr>
              <a:t>Existing systems struggle with severe performance bottlenecks during peak booking windows, failing to handle high concurrency while maintaining ACID compliance. They often lack integrated real-time seat locking, automated cancellation workflows, and lightweight caching mechanisms, resulting in overbooking and data inconsistencies.</a:t>
            </a:r>
            <a:endParaRPr sz="4400" dirty="0">
              <a:latin typeface="Times New Roman" panose="02020603050405020304" pitchFamily="18" charset="0"/>
              <a:cs typeface="Times New Roman" panose="02020603050405020304" pitchFamily="18" charset="0"/>
            </a:endParaRPr>
          </a:p>
        </p:txBody>
      </p:sp>
      <p:grpSp>
        <p:nvGrpSpPr>
          <p:cNvPr id="7" name="object 7"/>
          <p:cNvGrpSpPr/>
          <p:nvPr/>
        </p:nvGrpSpPr>
        <p:grpSpPr>
          <a:xfrm>
            <a:off x="-6095" y="6470903"/>
            <a:ext cx="12204700" cy="393700"/>
            <a:chOff x="-6095" y="6470903"/>
            <a:chExt cx="12204700" cy="393700"/>
          </a:xfrm>
        </p:grpSpPr>
        <p:sp>
          <p:nvSpPr>
            <p:cNvPr id="8" name="object 8"/>
            <p:cNvSpPr/>
            <p:nvPr/>
          </p:nvSpPr>
          <p:spPr>
            <a:xfrm>
              <a:off x="381" y="6477380"/>
              <a:ext cx="12192000" cy="381000"/>
            </a:xfrm>
            <a:custGeom>
              <a:avLst/>
              <a:gdLst/>
              <a:ahLst/>
              <a:cxnLst/>
              <a:rect l="l" t="t" r="r" b="b"/>
              <a:pathLst>
                <a:path w="12192000" h="381000">
                  <a:moveTo>
                    <a:pt x="12191619" y="0"/>
                  </a:moveTo>
                  <a:lnTo>
                    <a:pt x="0" y="0"/>
                  </a:lnTo>
                  <a:lnTo>
                    <a:pt x="0" y="380619"/>
                  </a:lnTo>
                  <a:lnTo>
                    <a:pt x="12191619" y="380619"/>
                  </a:lnTo>
                  <a:lnTo>
                    <a:pt x="12191619" y="0"/>
                  </a:lnTo>
                  <a:close/>
                </a:path>
              </a:pathLst>
            </a:custGeom>
            <a:solidFill>
              <a:srgbClr val="5B9BD4"/>
            </a:solidFill>
          </p:spPr>
          <p:txBody>
            <a:bodyPr wrap="square" lIns="0" tIns="0" rIns="0" bIns="0" rtlCol="0"/>
            <a:lstStyle/>
            <a:p>
              <a:endParaRPr/>
            </a:p>
          </p:txBody>
        </p:sp>
        <p:sp>
          <p:nvSpPr>
            <p:cNvPr id="9" name="object 9"/>
            <p:cNvSpPr/>
            <p:nvPr/>
          </p:nvSpPr>
          <p:spPr>
            <a:xfrm>
              <a:off x="381" y="6477380"/>
              <a:ext cx="12192000" cy="381000"/>
            </a:xfrm>
            <a:custGeom>
              <a:avLst/>
              <a:gdLst/>
              <a:ahLst/>
              <a:cxnLst/>
              <a:rect l="l" t="t" r="r" b="b"/>
              <a:pathLst>
                <a:path w="12192000" h="381000">
                  <a:moveTo>
                    <a:pt x="12191619" y="0"/>
                  </a:moveTo>
                  <a:lnTo>
                    <a:pt x="0" y="0"/>
                  </a:lnTo>
                  <a:lnTo>
                    <a:pt x="0" y="380619"/>
                  </a:lnTo>
                </a:path>
              </a:pathLst>
            </a:custGeom>
            <a:ln w="12953">
              <a:solidFill>
                <a:srgbClr val="41709C"/>
              </a:solidFill>
            </a:ln>
          </p:spPr>
          <p:txBody>
            <a:bodyPr wrap="square" lIns="0" tIns="0" rIns="0" bIns="0" rtlCol="0"/>
            <a:lstStyle/>
            <a:p>
              <a:endParaRPr/>
            </a:p>
          </p:txBody>
        </p:sp>
      </p:grpSp>
      <p:sp>
        <p:nvSpPr>
          <p:cNvPr id="10" name="object 10"/>
          <p:cNvSpPr txBox="1">
            <a:spLocks noGrp="1"/>
          </p:cNvSpPr>
          <p:nvPr>
            <p:ph type="ftr" sz="quarter" idx="5"/>
          </p:nvPr>
        </p:nvSpPr>
        <p:spPr>
          <a:prstGeom prst="rect">
            <a:avLst/>
          </a:prstGeom>
        </p:spPr>
        <p:txBody>
          <a:bodyPr vert="horz" wrap="square" lIns="0" tIns="0" rIns="0" bIns="0" rtlCol="0">
            <a:spAutoFit/>
          </a:bodyPr>
          <a:lstStyle/>
          <a:p>
            <a:pPr marL="12700">
              <a:lnSpc>
                <a:spcPts val="1710"/>
              </a:lnSpc>
            </a:pPr>
            <a:r>
              <a:rPr dirty="0"/>
              <a:t>MRCET</a:t>
            </a:r>
            <a:r>
              <a:rPr spc="-15" dirty="0"/>
              <a:t> </a:t>
            </a:r>
            <a:r>
              <a:rPr dirty="0"/>
              <a:t>|</a:t>
            </a:r>
            <a:r>
              <a:rPr spc="-15" dirty="0"/>
              <a:t> </a:t>
            </a:r>
            <a:r>
              <a:rPr spc="-10" dirty="0"/>
              <a:t>Department</a:t>
            </a:r>
            <a:r>
              <a:rPr dirty="0"/>
              <a:t> of Emerging</a:t>
            </a:r>
            <a:r>
              <a:rPr spc="-5" dirty="0"/>
              <a:t> </a:t>
            </a:r>
            <a:r>
              <a:rPr spc="-25" dirty="0"/>
              <a:t>Technologies</a:t>
            </a:r>
            <a:r>
              <a:rPr spc="5" dirty="0"/>
              <a:t> </a:t>
            </a:r>
            <a:r>
              <a:rPr dirty="0"/>
              <a:t>|</a:t>
            </a:r>
            <a:r>
              <a:rPr spc="-5" dirty="0"/>
              <a:t> </a:t>
            </a:r>
            <a:r>
              <a:rPr spc="-10" dirty="0"/>
              <a:t>Application</a:t>
            </a:r>
            <a:r>
              <a:rPr spc="-15" dirty="0"/>
              <a:t> </a:t>
            </a:r>
            <a:r>
              <a:rPr spc="-20" dirty="0"/>
              <a:t>Development-</a:t>
            </a:r>
            <a:r>
              <a:rPr dirty="0"/>
              <a:t>II</a:t>
            </a:r>
            <a:r>
              <a:rPr spc="10" dirty="0"/>
              <a:t> </a:t>
            </a:r>
            <a:r>
              <a:rPr dirty="0"/>
              <a:t>PPT|</a:t>
            </a:r>
            <a:r>
              <a:rPr spc="-20" dirty="0"/>
              <a:t> </a:t>
            </a:r>
            <a:r>
              <a:rPr dirty="0"/>
              <a:t>III</a:t>
            </a:r>
            <a:r>
              <a:rPr spc="-20" dirty="0"/>
              <a:t> Year</a:t>
            </a:r>
            <a:r>
              <a:rPr dirty="0"/>
              <a:t> </a:t>
            </a:r>
            <a:r>
              <a:rPr spc="-55" dirty="0"/>
              <a:t>B.Tech-</a:t>
            </a:r>
            <a:r>
              <a:rPr dirty="0"/>
              <a:t>II</a:t>
            </a:r>
            <a:r>
              <a:rPr spc="-15" dirty="0"/>
              <a:t> </a:t>
            </a:r>
            <a:r>
              <a:rPr spc="-10" dirty="0"/>
              <a:t>Semester</a:t>
            </a:r>
          </a:p>
        </p:txBody>
      </p:sp>
      <p:sp>
        <p:nvSpPr>
          <p:cNvPr id="11" name="object 11"/>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spc="-50" dirty="0"/>
              <a:t>10</a:t>
            </a:fld>
            <a:endParaRPr spc="-50" dirty="0"/>
          </a:p>
        </p:txBody>
      </p:sp>
      <p:sp>
        <p:nvSpPr>
          <p:cNvPr id="12" name="object 12"/>
          <p:cNvSpPr txBox="1"/>
          <p:nvPr/>
        </p:nvSpPr>
        <p:spPr>
          <a:xfrm>
            <a:off x="919988" y="6546615"/>
            <a:ext cx="10353040" cy="261620"/>
          </a:xfrm>
          <a:prstGeom prst="rect">
            <a:avLst/>
          </a:prstGeom>
        </p:spPr>
        <p:txBody>
          <a:bodyPr vert="horz" wrap="square" lIns="0" tIns="1905" rIns="0" bIns="0" rtlCol="0">
            <a:spAutoFit/>
          </a:bodyPr>
          <a:lstStyle/>
          <a:p>
            <a:pPr marL="12700">
              <a:lnSpc>
                <a:spcPct val="100000"/>
              </a:lnSpc>
              <a:spcBef>
                <a:spcPts val="15"/>
              </a:spcBef>
            </a:pPr>
            <a:r>
              <a:rPr sz="1600" b="1" spc="-10" dirty="0">
                <a:latin typeface="Arial"/>
                <a:cs typeface="Arial"/>
              </a:rPr>
              <a:t>B.Tech</a:t>
            </a:r>
            <a:r>
              <a:rPr sz="1600" b="1" spc="-30" dirty="0">
                <a:latin typeface="Arial"/>
                <a:cs typeface="Arial"/>
              </a:rPr>
              <a:t> </a:t>
            </a:r>
            <a:r>
              <a:rPr sz="1600" b="1" spc="50" dirty="0">
                <a:latin typeface="Arial"/>
                <a:cs typeface="Arial"/>
              </a:rPr>
              <a:t>III</a:t>
            </a:r>
            <a:r>
              <a:rPr sz="1600" b="1" spc="-20" dirty="0">
                <a:latin typeface="Arial"/>
                <a:cs typeface="Arial"/>
              </a:rPr>
              <a:t> </a:t>
            </a:r>
            <a:r>
              <a:rPr sz="1600" b="1" dirty="0">
                <a:latin typeface="Arial"/>
                <a:cs typeface="Arial"/>
              </a:rPr>
              <a:t>Year</a:t>
            </a:r>
            <a:r>
              <a:rPr sz="1600" b="1" spc="-25" dirty="0">
                <a:latin typeface="Arial"/>
                <a:cs typeface="Arial"/>
              </a:rPr>
              <a:t> </a:t>
            </a:r>
            <a:r>
              <a:rPr sz="1600" b="1" spc="-95" dirty="0">
                <a:latin typeface="Arial"/>
                <a:cs typeface="Arial"/>
              </a:rPr>
              <a:t>–</a:t>
            </a:r>
            <a:r>
              <a:rPr sz="1600" b="1" spc="-5" dirty="0">
                <a:latin typeface="Arial"/>
                <a:cs typeface="Arial"/>
              </a:rPr>
              <a:t> </a:t>
            </a:r>
            <a:r>
              <a:rPr sz="1600" b="1" spc="50" dirty="0">
                <a:latin typeface="Arial"/>
                <a:cs typeface="Arial"/>
              </a:rPr>
              <a:t>II</a:t>
            </a:r>
            <a:r>
              <a:rPr sz="1600" b="1" spc="-20" dirty="0">
                <a:latin typeface="Arial"/>
                <a:cs typeface="Arial"/>
              </a:rPr>
              <a:t> </a:t>
            </a:r>
            <a:r>
              <a:rPr sz="1600" b="1" dirty="0">
                <a:latin typeface="Arial"/>
                <a:cs typeface="Arial"/>
              </a:rPr>
              <a:t>Sem</a:t>
            </a:r>
            <a:r>
              <a:rPr sz="1600" b="1" spc="-25" dirty="0">
                <a:latin typeface="Arial"/>
                <a:cs typeface="Arial"/>
              </a:rPr>
              <a:t> </a:t>
            </a:r>
            <a:r>
              <a:rPr sz="1600" b="1" dirty="0">
                <a:latin typeface="Arial"/>
                <a:cs typeface="Arial"/>
              </a:rPr>
              <a:t>|</a:t>
            </a:r>
            <a:r>
              <a:rPr sz="1600" b="1" spc="-15" dirty="0">
                <a:latin typeface="Arial"/>
                <a:cs typeface="Arial"/>
              </a:rPr>
              <a:t> </a:t>
            </a:r>
            <a:r>
              <a:rPr sz="1600" b="1" dirty="0">
                <a:latin typeface="Arial"/>
                <a:cs typeface="Arial"/>
              </a:rPr>
              <a:t>Dept</a:t>
            </a:r>
            <a:r>
              <a:rPr sz="1600" b="1" spc="-20" dirty="0">
                <a:latin typeface="Arial"/>
                <a:cs typeface="Arial"/>
              </a:rPr>
              <a:t> </a:t>
            </a:r>
            <a:r>
              <a:rPr sz="1600" b="1" dirty="0">
                <a:latin typeface="Arial"/>
                <a:cs typeface="Arial"/>
              </a:rPr>
              <a:t>of</a:t>
            </a:r>
            <a:r>
              <a:rPr sz="1600" b="1" spc="190" dirty="0">
                <a:latin typeface="Arial"/>
                <a:cs typeface="Arial"/>
              </a:rPr>
              <a:t> </a:t>
            </a:r>
            <a:r>
              <a:rPr sz="1600" b="1" dirty="0">
                <a:latin typeface="Arial"/>
                <a:cs typeface="Arial"/>
              </a:rPr>
              <a:t>Computational</a:t>
            </a:r>
            <a:r>
              <a:rPr sz="1600" b="1" spc="-25" dirty="0">
                <a:latin typeface="Arial"/>
                <a:cs typeface="Arial"/>
              </a:rPr>
              <a:t> </a:t>
            </a:r>
            <a:r>
              <a:rPr sz="1600" b="1" dirty="0">
                <a:latin typeface="Arial"/>
                <a:cs typeface="Arial"/>
              </a:rPr>
              <a:t>Intelligence|</a:t>
            </a:r>
            <a:r>
              <a:rPr sz="1600" b="1" spc="-25" dirty="0">
                <a:latin typeface="Arial"/>
                <a:cs typeface="Arial"/>
              </a:rPr>
              <a:t> </a:t>
            </a:r>
            <a:r>
              <a:rPr sz="1600" b="1" dirty="0">
                <a:latin typeface="Arial"/>
                <a:cs typeface="Arial"/>
              </a:rPr>
              <a:t>Application</a:t>
            </a:r>
            <a:r>
              <a:rPr sz="1600" b="1" spc="-35" dirty="0">
                <a:latin typeface="Arial"/>
                <a:cs typeface="Arial"/>
              </a:rPr>
              <a:t> </a:t>
            </a:r>
            <a:r>
              <a:rPr sz="1600" b="1" dirty="0">
                <a:latin typeface="Arial"/>
                <a:cs typeface="Arial"/>
              </a:rPr>
              <a:t>Development</a:t>
            </a:r>
            <a:r>
              <a:rPr sz="1600" b="1" spc="5" dirty="0">
                <a:latin typeface="Arial"/>
                <a:cs typeface="Arial"/>
              </a:rPr>
              <a:t> </a:t>
            </a:r>
            <a:r>
              <a:rPr sz="1600" b="1" spc="-95" dirty="0">
                <a:latin typeface="Arial"/>
                <a:cs typeface="Arial"/>
              </a:rPr>
              <a:t>–</a:t>
            </a:r>
            <a:r>
              <a:rPr sz="1600" b="1" spc="-10" dirty="0">
                <a:latin typeface="Arial"/>
                <a:cs typeface="Arial"/>
              </a:rPr>
              <a:t> </a:t>
            </a:r>
            <a:r>
              <a:rPr sz="1600" b="1" spc="50" dirty="0">
                <a:latin typeface="Arial"/>
                <a:cs typeface="Arial"/>
              </a:rPr>
              <a:t>II</a:t>
            </a:r>
            <a:r>
              <a:rPr sz="1600" b="1" spc="-15" dirty="0">
                <a:latin typeface="Arial"/>
                <a:cs typeface="Arial"/>
              </a:rPr>
              <a:t> </a:t>
            </a:r>
            <a:r>
              <a:rPr sz="1600" b="1" dirty="0">
                <a:latin typeface="Arial"/>
                <a:cs typeface="Arial"/>
              </a:rPr>
              <a:t>|</a:t>
            </a:r>
            <a:r>
              <a:rPr sz="1600" b="1" spc="-5" dirty="0">
                <a:latin typeface="Arial"/>
                <a:cs typeface="Arial"/>
              </a:rPr>
              <a:t> </a:t>
            </a:r>
            <a:r>
              <a:rPr sz="1600" b="1" dirty="0">
                <a:latin typeface="Arial"/>
                <a:cs typeface="Arial"/>
              </a:rPr>
              <a:t>Project</a:t>
            </a:r>
            <a:r>
              <a:rPr sz="1600" b="1" spc="-30" dirty="0">
                <a:latin typeface="Arial"/>
                <a:cs typeface="Arial"/>
              </a:rPr>
              <a:t> </a:t>
            </a:r>
            <a:r>
              <a:rPr sz="1600" b="1" spc="-10" dirty="0">
                <a:latin typeface="Arial"/>
                <a:cs typeface="Arial"/>
              </a:rPr>
              <a:t>Review</a:t>
            </a:r>
            <a:endParaRPr sz="1600">
              <a:latin typeface="Arial"/>
              <a:cs typeface="Arial"/>
            </a:endParaRPr>
          </a:p>
        </p:txBody>
      </p:sp>
    </p:spTree>
    <p:extLst>
      <p:ext uri="{BB962C8B-B14F-4D97-AF65-F5344CB8AC3E}">
        <p14:creationId xmlns:p14="http://schemas.microsoft.com/office/powerpoint/2010/main" val="83430527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10493502" y="0"/>
            <a:ext cx="1698625" cy="898525"/>
            <a:chOff x="10493502" y="0"/>
            <a:chExt cx="1698625" cy="898525"/>
          </a:xfrm>
        </p:grpSpPr>
        <p:pic>
          <p:nvPicPr>
            <p:cNvPr id="3" name="object 3"/>
            <p:cNvPicPr/>
            <p:nvPr/>
          </p:nvPicPr>
          <p:blipFill>
            <a:blip r:embed="rId2" cstate="print"/>
            <a:stretch>
              <a:fillRect/>
            </a:stretch>
          </p:blipFill>
          <p:spPr>
            <a:xfrm>
              <a:off x="11353800" y="0"/>
              <a:ext cx="822198" cy="822198"/>
            </a:xfrm>
            <a:prstGeom prst="rect">
              <a:avLst/>
            </a:prstGeom>
          </p:spPr>
        </p:pic>
        <p:pic>
          <p:nvPicPr>
            <p:cNvPr id="4" name="object 4"/>
            <p:cNvPicPr/>
            <p:nvPr/>
          </p:nvPicPr>
          <p:blipFill>
            <a:blip r:embed="rId3" cstate="print"/>
            <a:stretch>
              <a:fillRect/>
            </a:stretch>
          </p:blipFill>
          <p:spPr>
            <a:xfrm>
              <a:off x="10493502" y="0"/>
              <a:ext cx="1698498" cy="898398"/>
            </a:xfrm>
            <a:prstGeom prst="rect">
              <a:avLst/>
            </a:prstGeom>
          </p:spPr>
        </p:pic>
      </p:grpSp>
      <p:sp>
        <p:nvSpPr>
          <p:cNvPr id="5" name="object 5" descr="$PPTXTitle"/>
          <p:cNvSpPr txBox="1">
            <a:spLocks noGrp="1"/>
          </p:cNvSpPr>
          <p:nvPr>
            <p:ph type="title"/>
          </p:nvPr>
        </p:nvSpPr>
        <p:spPr>
          <a:xfrm>
            <a:off x="916939" y="381000"/>
            <a:ext cx="5864861" cy="689932"/>
          </a:xfrm>
          <a:prstGeom prst="rect">
            <a:avLst/>
          </a:prstGeom>
        </p:spPr>
        <p:txBody>
          <a:bodyPr vert="horz" wrap="square" lIns="0" tIns="12700" rIns="0" bIns="0" rtlCol="0">
            <a:spAutoFit/>
          </a:bodyPr>
          <a:lstStyle/>
          <a:p>
            <a:pPr marL="12700">
              <a:lnSpc>
                <a:spcPct val="100000"/>
              </a:lnSpc>
              <a:spcBef>
                <a:spcPts val="100"/>
              </a:spcBef>
            </a:pPr>
            <a:r>
              <a:rPr lang="en-US" spc="-10" dirty="0" smtClean="0"/>
              <a:t>Proposed Methodology</a:t>
            </a:r>
            <a:endParaRPr spc="-10" dirty="0"/>
          </a:p>
        </p:txBody>
      </p:sp>
      <p:sp>
        <p:nvSpPr>
          <p:cNvPr id="6" name="object 6"/>
          <p:cNvSpPr txBox="1"/>
          <p:nvPr/>
        </p:nvSpPr>
        <p:spPr>
          <a:xfrm>
            <a:off x="916939" y="1030478"/>
            <a:ext cx="10360025" cy="5385705"/>
          </a:xfrm>
          <a:prstGeom prst="rect">
            <a:avLst/>
          </a:prstGeom>
        </p:spPr>
        <p:txBody>
          <a:bodyPr vert="horz" wrap="square" lIns="0" tIns="66675" rIns="0" bIns="0" rtlCol="0">
            <a:spAutoFit/>
          </a:bodyPr>
          <a:lstStyle/>
          <a:p>
            <a:pPr marL="12700" marR="5080" algn="just">
              <a:lnSpc>
                <a:spcPct val="90100"/>
              </a:lnSpc>
              <a:spcBef>
                <a:spcPts val="525"/>
              </a:spcBef>
            </a:pPr>
            <a:r>
              <a:rPr lang="en-IN" sz="4800" dirty="0" smtClean="0">
                <a:latin typeface="Times New Roman" panose="02020603050405020304" pitchFamily="18" charset="0"/>
                <a:cs typeface="Times New Roman" panose="02020603050405020304" pitchFamily="18" charset="0"/>
              </a:rPr>
              <a:t>The proposed methodology utilizes a MERN/PERN stack featuring React.js for UI, Node.js and Express for REST APIs, and Socket.io for real-time updates. PostgreSQL with </a:t>
            </a:r>
            <a:r>
              <a:rPr lang="en-IN" sz="4800" dirty="0" err="1" smtClean="0">
                <a:latin typeface="Times New Roman" panose="02020603050405020304" pitchFamily="18" charset="0"/>
                <a:cs typeface="Times New Roman" panose="02020603050405020304" pitchFamily="18" charset="0"/>
              </a:rPr>
              <a:t>Redis</a:t>
            </a:r>
            <a:r>
              <a:rPr lang="en-IN" sz="4800" dirty="0" smtClean="0">
                <a:latin typeface="Times New Roman" panose="02020603050405020304" pitchFamily="18" charset="0"/>
                <a:cs typeface="Times New Roman" panose="02020603050405020304" pitchFamily="18" charset="0"/>
              </a:rPr>
              <a:t> caching ensures fast seat locking, ACID compliance, transaction integrity, and high concurrency management.</a:t>
            </a:r>
            <a:endParaRPr sz="4800" dirty="0">
              <a:latin typeface="Times New Roman" panose="02020603050405020304" pitchFamily="18" charset="0"/>
              <a:cs typeface="Times New Roman" panose="02020603050405020304" pitchFamily="18" charset="0"/>
            </a:endParaRPr>
          </a:p>
        </p:txBody>
      </p:sp>
      <p:grpSp>
        <p:nvGrpSpPr>
          <p:cNvPr id="7" name="object 7"/>
          <p:cNvGrpSpPr/>
          <p:nvPr/>
        </p:nvGrpSpPr>
        <p:grpSpPr>
          <a:xfrm>
            <a:off x="-6095" y="6470903"/>
            <a:ext cx="12204700" cy="393700"/>
            <a:chOff x="-6095" y="6470903"/>
            <a:chExt cx="12204700" cy="393700"/>
          </a:xfrm>
        </p:grpSpPr>
        <p:sp>
          <p:nvSpPr>
            <p:cNvPr id="8" name="object 8"/>
            <p:cNvSpPr/>
            <p:nvPr/>
          </p:nvSpPr>
          <p:spPr>
            <a:xfrm>
              <a:off x="381" y="6477380"/>
              <a:ext cx="12192000" cy="381000"/>
            </a:xfrm>
            <a:custGeom>
              <a:avLst/>
              <a:gdLst/>
              <a:ahLst/>
              <a:cxnLst/>
              <a:rect l="l" t="t" r="r" b="b"/>
              <a:pathLst>
                <a:path w="12192000" h="381000">
                  <a:moveTo>
                    <a:pt x="12191619" y="0"/>
                  </a:moveTo>
                  <a:lnTo>
                    <a:pt x="0" y="0"/>
                  </a:lnTo>
                  <a:lnTo>
                    <a:pt x="0" y="380619"/>
                  </a:lnTo>
                  <a:lnTo>
                    <a:pt x="12191619" y="380619"/>
                  </a:lnTo>
                  <a:lnTo>
                    <a:pt x="12191619" y="0"/>
                  </a:lnTo>
                  <a:close/>
                </a:path>
              </a:pathLst>
            </a:custGeom>
            <a:solidFill>
              <a:srgbClr val="5B9BD4"/>
            </a:solidFill>
          </p:spPr>
          <p:txBody>
            <a:bodyPr wrap="square" lIns="0" tIns="0" rIns="0" bIns="0" rtlCol="0"/>
            <a:lstStyle/>
            <a:p>
              <a:endParaRPr/>
            </a:p>
          </p:txBody>
        </p:sp>
        <p:sp>
          <p:nvSpPr>
            <p:cNvPr id="9" name="object 9"/>
            <p:cNvSpPr/>
            <p:nvPr/>
          </p:nvSpPr>
          <p:spPr>
            <a:xfrm>
              <a:off x="381" y="6477380"/>
              <a:ext cx="12192000" cy="381000"/>
            </a:xfrm>
            <a:custGeom>
              <a:avLst/>
              <a:gdLst/>
              <a:ahLst/>
              <a:cxnLst/>
              <a:rect l="l" t="t" r="r" b="b"/>
              <a:pathLst>
                <a:path w="12192000" h="381000">
                  <a:moveTo>
                    <a:pt x="12191619" y="0"/>
                  </a:moveTo>
                  <a:lnTo>
                    <a:pt x="0" y="0"/>
                  </a:lnTo>
                  <a:lnTo>
                    <a:pt x="0" y="380619"/>
                  </a:lnTo>
                </a:path>
              </a:pathLst>
            </a:custGeom>
            <a:ln w="12953">
              <a:solidFill>
                <a:srgbClr val="41709C"/>
              </a:solidFill>
            </a:ln>
          </p:spPr>
          <p:txBody>
            <a:bodyPr wrap="square" lIns="0" tIns="0" rIns="0" bIns="0" rtlCol="0"/>
            <a:lstStyle/>
            <a:p>
              <a:endParaRPr/>
            </a:p>
          </p:txBody>
        </p:sp>
      </p:grpSp>
      <p:sp>
        <p:nvSpPr>
          <p:cNvPr id="10" name="object 10"/>
          <p:cNvSpPr txBox="1">
            <a:spLocks noGrp="1"/>
          </p:cNvSpPr>
          <p:nvPr>
            <p:ph type="ftr" sz="quarter" idx="5"/>
          </p:nvPr>
        </p:nvSpPr>
        <p:spPr>
          <a:prstGeom prst="rect">
            <a:avLst/>
          </a:prstGeom>
        </p:spPr>
        <p:txBody>
          <a:bodyPr vert="horz" wrap="square" lIns="0" tIns="0" rIns="0" bIns="0" rtlCol="0">
            <a:spAutoFit/>
          </a:bodyPr>
          <a:lstStyle/>
          <a:p>
            <a:pPr marL="12700">
              <a:lnSpc>
                <a:spcPts val="1710"/>
              </a:lnSpc>
            </a:pPr>
            <a:r>
              <a:rPr dirty="0"/>
              <a:t>MRCET</a:t>
            </a:r>
            <a:r>
              <a:rPr spc="-15" dirty="0"/>
              <a:t> </a:t>
            </a:r>
            <a:r>
              <a:rPr dirty="0"/>
              <a:t>|</a:t>
            </a:r>
            <a:r>
              <a:rPr spc="-15" dirty="0"/>
              <a:t> </a:t>
            </a:r>
            <a:r>
              <a:rPr spc="-10" dirty="0"/>
              <a:t>Department</a:t>
            </a:r>
            <a:r>
              <a:rPr dirty="0"/>
              <a:t> of Emerging</a:t>
            </a:r>
            <a:r>
              <a:rPr spc="-5" dirty="0"/>
              <a:t> </a:t>
            </a:r>
            <a:r>
              <a:rPr spc="-25" dirty="0"/>
              <a:t>Technologies</a:t>
            </a:r>
            <a:r>
              <a:rPr spc="5" dirty="0"/>
              <a:t> </a:t>
            </a:r>
            <a:r>
              <a:rPr dirty="0"/>
              <a:t>|</a:t>
            </a:r>
            <a:r>
              <a:rPr spc="-5" dirty="0"/>
              <a:t> </a:t>
            </a:r>
            <a:r>
              <a:rPr spc="-10" dirty="0"/>
              <a:t>Application</a:t>
            </a:r>
            <a:r>
              <a:rPr spc="-15" dirty="0"/>
              <a:t> </a:t>
            </a:r>
            <a:r>
              <a:rPr spc="-20" dirty="0"/>
              <a:t>Development-</a:t>
            </a:r>
            <a:r>
              <a:rPr dirty="0"/>
              <a:t>II</a:t>
            </a:r>
            <a:r>
              <a:rPr spc="10" dirty="0"/>
              <a:t> </a:t>
            </a:r>
            <a:r>
              <a:rPr dirty="0"/>
              <a:t>PPT|</a:t>
            </a:r>
            <a:r>
              <a:rPr spc="-20" dirty="0"/>
              <a:t> </a:t>
            </a:r>
            <a:r>
              <a:rPr dirty="0"/>
              <a:t>III</a:t>
            </a:r>
            <a:r>
              <a:rPr spc="-20" dirty="0"/>
              <a:t> Year</a:t>
            </a:r>
            <a:r>
              <a:rPr dirty="0"/>
              <a:t> </a:t>
            </a:r>
            <a:r>
              <a:rPr spc="-55" dirty="0"/>
              <a:t>B.Tech-</a:t>
            </a:r>
            <a:r>
              <a:rPr dirty="0"/>
              <a:t>II</a:t>
            </a:r>
            <a:r>
              <a:rPr spc="-15" dirty="0"/>
              <a:t> </a:t>
            </a:r>
            <a:r>
              <a:rPr spc="-10" dirty="0"/>
              <a:t>Semester</a:t>
            </a:r>
          </a:p>
        </p:txBody>
      </p:sp>
      <p:sp>
        <p:nvSpPr>
          <p:cNvPr id="11" name="object 11"/>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spc="-50" dirty="0"/>
              <a:t>11</a:t>
            </a:fld>
            <a:endParaRPr spc="-50" dirty="0"/>
          </a:p>
        </p:txBody>
      </p:sp>
      <p:sp>
        <p:nvSpPr>
          <p:cNvPr id="12" name="object 12"/>
          <p:cNvSpPr txBox="1"/>
          <p:nvPr/>
        </p:nvSpPr>
        <p:spPr>
          <a:xfrm>
            <a:off x="919988" y="6546615"/>
            <a:ext cx="10353040" cy="261620"/>
          </a:xfrm>
          <a:prstGeom prst="rect">
            <a:avLst/>
          </a:prstGeom>
        </p:spPr>
        <p:txBody>
          <a:bodyPr vert="horz" wrap="square" lIns="0" tIns="1905" rIns="0" bIns="0" rtlCol="0">
            <a:spAutoFit/>
          </a:bodyPr>
          <a:lstStyle/>
          <a:p>
            <a:pPr marL="12700">
              <a:lnSpc>
                <a:spcPct val="100000"/>
              </a:lnSpc>
              <a:spcBef>
                <a:spcPts val="15"/>
              </a:spcBef>
            </a:pPr>
            <a:r>
              <a:rPr sz="1600" b="1" spc="-10" dirty="0">
                <a:latin typeface="Arial"/>
                <a:cs typeface="Arial"/>
              </a:rPr>
              <a:t>B.Tech</a:t>
            </a:r>
            <a:r>
              <a:rPr sz="1600" b="1" spc="-30" dirty="0">
                <a:latin typeface="Arial"/>
                <a:cs typeface="Arial"/>
              </a:rPr>
              <a:t> </a:t>
            </a:r>
            <a:r>
              <a:rPr sz="1600" b="1" spc="50" dirty="0">
                <a:latin typeface="Arial"/>
                <a:cs typeface="Arial"/>
              </a:rPr>
              <a:t>III</a:t>
            </a:r>
            <a:r>
              <a:rPr sz="1600" b="1" spc="-20" dirty="0">
                <a:latin typeface="Arial"/>
                <a:cs typeface="Arial"/>
              </a:rPr>
              <a:t> </a:t>
            </a:r>
            <a:r>
              <a:rPr sz="1600" b="1" dirty="0">
                <a:latin typeface="Arial"/>
                <a:cs typeface="Arial"/>
              </a:rPr>
              <a:t>Year</a:t>
            </a:r>
            <a:r>
              <a:rPr sz="1600" b="1" spc="-25" dirty="0">
                <a:latin typeface="Arial"/>
                <a:cs typeface="Arial"/>
              </a:rPr>
              <a:t> </a:t>
            </a:r>
            <a:r>
              <a:rPr sz="1600" b="1" spc="-95" dirty="0">
                <a:latin typeface="Arial"/>
                <a:cs typeface="Arial"/>
              </a:rPr>
              <a:t>–</a:t>
            </a:r>
            <a:r>
              <a:rPr sz="1600" b="1" spc="-5" dirty="0">
                <a:latin typeface="Arial"/>
                <a:cs typeface="Arial"/>
              </a:rPr>
              <a:t> </a:t>
            </a:r>
            <a:r>
              <a:rPr sz="1600" b="1" spc="50" dirty="0">
                <a:latin typeface="Arial"/>
                <a:cs typeface="Arial"/>
              </a:rPr>
              <a:t>II</a:t>
            </a:r>
            <a:r>
              <a:rPr sz="1600" b="1" spc="-20" dirty="0">
                <a:latin typeface="Arial"/>
                <a:cs typeface="Arial"/>
              </a:rPr>
              <a:t> </a:t>
            </a:r>
            <a:r>
              <a:rPr sz="1600" b="1" dirty="0">
                <a:latin typeface="Arial"/>
                <a:cs typeface="Arial"/>
              </a:rPr>
              <a:t>Sem</a:t>
            </a:r>
            <a:r>
              <a:rPr sz="1600" b="1" spc="-25" dirty="0">
                <a:latin typeface="Arial"/>
                <a:cs typeface="Arial"/>
              </a:rPr>
              <a:t> </a:t>
            </a:r>
            <a:r>
              <a:rPr sz="1600" b="1" dirty="0">
                <a:latin typeface="Arial"/>
                <a:cs typeface="Arial"/>
              </a:rPr>
              <a:t>|</a:t>
            </a:r>
            <a:r>
              <a:rPr sz="1600" b="1" spc="-15" dirty="0">
                <a:latin typeface="Arial"/>
                <a:cs typeface="Arial"/>
              </a:rPr>
              <a:t> </a:t>
            </a:r>
            <a:r>
              <a:rPr sz="1600" b="1" dirty="0">
                <a:latin typeface="Arial"/>
                <a:cs typeface="Arial"/>
              </a:rPr>
              <a:t>Dept</a:t>
            </a:r>
            <a:r>
              <a:rPr sz="1600" b="1" spc="-20" dirty="0">
                <a:latin typeface="Arial"/>
                <a:cs typeface="Arial"/>
              </a:rPr>
              <a:t> </a:t>
            </a:r>
            <a:r>
              <a:rPr sz="1600" b="1" dirty="0">
                <a:latin typeface="Arial"/>
                <a:cs typeface="Arial"/>
              </a:rPr>
              <a:t>of</a:t>
            </a:r>
            <a:r>
              <a:rPr sz="1600" b="1" spc="190" dirty="0">
                <a:latin typeface="Arial"/>
                <a:cs typeface="Arial"/>
              </a:rPr>
              <a:t> </a:t>
            </a:r>
            <a:r>
              <a:rPr sz="1600" b="1" dirty="0">
                <a:latin typeface="Arial"/>
                <a:cs typeface="Arial"/>
              </a:rPr>
              <a:t>Computational</a:t>
            </a:r>
            <a:r>
              <a:rPr sz="1600" b="1" spc="-25" dirty="0">
                <a:latin typeface="Arial"/>
                <a:cs typeface="Arial"/>
              </a:rPr>
              <a:t> </a:t>
            </a:r>
            <a:r>
              <a:rPr sz="1600" b="1" dirty="0">
                <a:latin typeface="Arial"/>
                <a:cs typeface="Arial"/>
              </a:rPr>
              <a:t>Intelligence|</a:t>
            </a:r>
            <a:r>
              <a:rPr sz="1600" b="1" spc="-25" dirty="0">
                <a:latin typeface="Arial"/>
                <a:cs typeface="Arial"/>
              </a:rPr>
              <a:t> </a:t>
            </a:r>
            <a:r>
              <a:rPr sz="1600" b="1" dirty="0">
                <a:latin typeface="Arial"/>
                <a:cs typeface="Arial"/>
              </a:rPr>
              <a:t>Application</a:t>
            </a:r>
            <a:r>
              <a:rPr sz="1600" b="1" spc="-35" dirty="0">
                <a:latin typeface="Arial"/>
                <a:cs typeface="Arial"/>
              </a:rPr>
              <a:t> </a:t>
            </a:r>
            <a:r>
              <a:rPr sz="1600" b="1" dirty="0">
                <a:latin typeface="Arial"/>
                <a:cs typeface="Arial"/>
              </a:rPr>
              <a:t>Development</a:t>
            </a:r>
            <a:r>
              <a:rPr sz="1600" b="1" spc="5" dirty="0">
                <a:latin typeface="Arial"/>
                <a:cs typeface="Arial"/>
              </a:rPr>
              <a:t> </a:t>
            </a:r>
            <a:r>
              <a:rPr sz="1600" b="1" spc="-95" dirty="0">
                <a:latin typeface="Arial"/>
                <a:cs typeface="Arial"/>
              </a:rPr>
              <a:t>–</a:t>
            </a:r>
            <a:r>
              <a:rPr sz="1600" b="1" spc="-10" dirty="0">
                <a:latin typeface="Arial"/>
                <a:cs typeface="Arial"/>
              </a:rPr>
              <a:t> </a:t>
            </a:r>
            <a:r>
              <a:rPr sz="1600" b="1" spc="50" dirty="0">
                <a:latin typeface="Arial"/>
                <a:cs typeface="Arial"/>
              </a:rPr>
              <a:t>II</a:t>
            </a:r>
            <a:r>
              <a:rPr sz="1600" b="1" spc="-15" dirty="0">
                <a:latin typeface="Arial"/>
                <a:cs typeface="Arial"/>
              </a:rPr>
              <a:t> </a:t>
            </a:r>
            <a:r>
              <a:rPr sz="1600" b="1" dirty="0">
                <a:latin typeface="Arial"/>
                <a:cs typeface="Arial"/>
              </a:rPr>
              <a:t>|</a:t>
            </a:r>
            <a:r>
              <a:rPr sz="1600" b="1" spc="-5" dirty="0">
                <a:latin typeface="Arial"/>
                <a:cs typeface="Arial"/>
              </a:rPr>
              <a:t> </a:t>
            </a:r>
            <a:r>
              <a:rPr sz="1600" b="1" dirty="0">
                <a:latin typeface="Arial"/>
                <a:cs typeface="Arial"/>
              </a:rPr>
              <a:t>Project</a:t>
            </a:r>
            <a:r>
              <a:rPr sz="1600" b="1" spc="-30" dirty="0">
                <a:latin typeface="Arial"/>
                <a:cs typeface="Arial"/>
              </a:rPr>
              <a:t> </a:t>
            </a:r>
            <a:r>
              <a:rPr sz="1600" b="1" spc="-10" dirty="0">
                <a:latin typeface="Arial"/>
                <a:cs typeface="Arial"/>
              </a:rPr>
              <a:t>Review</a:t>
            </a:r>
            <a:endParaRPr sz="1600">
              <a:latin typeface="Arial"/>
              <a:cs typeface="Arial"/>
            </a:endParaRPr>
          </a:p>
        </p:txBody>
      </p:sp>
    </p:spTree>
    <p:extLst>
      <p:ext uri="{BB962C8B-B14F-4D97-AF65-F5344CB8AC3E}">
        <p14:creationId xmlns:p14="http://schemas.microsoft.com/office/powerpoint/2010/main" val="22272447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10493502" y="0"/>
            <a:ext cx="1698625" cy="898525"/>
            <a:chOff x="10493502" y="0"/>
            <a:chExt cx="1698625" cy="898525"/>
          </a:xfrm>
        </p:grpSpPr>
        <p:pic>
          <p:nvPicPr>
            <p:cNvPr id="3" name="object 3"/>
            <p:cNvPicPr/>
            <p:nvPr/>
          </p:nvPicPr>
          <p:blipFill>
            <a:blip r:embed="rId2" cstate="print"/>
            <a:stretch>
              <a:fillRect/>
            </a:stretch>
          </p:blipFill>
          <p:spPr>
            <a:xfrm>
              <a:off x="11353800" y="0"/>
              <a:ext cx="822198" cy="822198"/>
            </a:xfrm>
            <a:prstGeom prst="rect">
              <a:avLst/>
            </a:prstGeom>
          </p:spPr>
        </p:pic>
        <p:pic>
          <p:nvPicPr>
            <p:cNvPr id="4" name="object 4"/>
            <p:cNvPicPr/>
            <p:nvPr/>
          </p:nvPicPr>
          <p:blipFill>
            <a:blip r:embed="rId3" cstate="print"/>
            <a:stretch>
              <a:fillRect/>
            </a:stretch>
          </p:blipFill>
          <p:spPr>
            <a:xfrm>
              <a:off x="10493502" y="0"/>
              <a:ext cx="1698498" cy="898398"/>
            </a:xfrm>
            <a:prstGeom prst="rect">
              <a:avLst/>
            </a:prstGeom>
          </p:spPr>
        </p:pic>
      </p:grpSp>
      <p:sp>
        <p:nvSpPr>
          <p:cNvPr id="5" name="object 5" descr="$PPTXTitle"/>
          <p:cNvSpPr txBox="1">
            <a:spLocks noGrp="1"/>
          </p:cNvSpPr>
          <p:nvPr>
            <p:ph type="title"/>
          </p:nvPr>
        </p:nvSpPr>
        <p:spPr>
          <a:xfrm>
            <a:off x="916939" y="381000"/>
            <a:ext cx="5864861" cy="689932"/>
          </a:xfrm>
          <a:prstGeom prst="rect">
            <a:avLst/>
          </a:prstGeom>
        </p:spPr>
        <p:txBody>
          <a:bodyPr vert="horz" wrap="square" lIns="0" tIns="12700" rIns="0" bIns="0" rtlCol="0">
            <a:spAutoFit/>
          </a:bodyPr>
          <a:lstStyle/>
          <a:p>
            <a:pPr marL="12700">
              <a:lnSpc>
                <a:spcPct val="100000"/>
              </a:lnSpc>
              <a:spcBef>
                <a:spcPts val="100"/>
              </a:spcBef>
            </a:pPr>
            <a:r>
              <a:rPr lang="en-US" spc="-10" dirty="0" smtClean="0"/>
              <a:t>System Architecture</a:t>
            </a:r>
            <a:endParaRPr spc="-10" dirty="0"/>
          </a:p>
        </p:txBody>
      </p:sp>
      <p:sp>
        <p:nvSpPr>
          <p:cNvPr id="6" name="object 6"/>
          <p:cNvSpPr txBox="1"/>
          <p:nvPr/>
        </p:nvSpPr>
        <p:spPr>
          <a:xfrm>
            <a:off x="916939" y="1030478"/>
            <a:ext cx="10360025" cy="5385705"/>
          </a:xfrm>
          <a:prstGeom prst="rect">
            <a:avLst/>
          </a:prstGeom>
        </p:spPr>
        <p:txBody>
          <a:bodyPr vert="horz" wrap="square" lIns="0" tIns="66675" rIns="0" bIns="0" rtlCol="0">
            <a:spAutoFit/>
          </a:bodyPr>
          <a:lstStyle/>
          <a:p>
            <a:pPr marL="12700" marR="5080" algn="just">
              <a:lnSpc>
                <a:spcPct val="90100"/>
              </a:lnSpc>
              <a:spcBef>
                <a:spcPts val="525"/>
              </a:spcBef>
            </a:pPr>
            <a:r>
              <a:rPr lang="en-IN" sz="4800" dirty="0" smtClean="0">
                <a:latin typeface="Times New Roman" panose="02020603050405020304" pitchFamily="18" charset="0"/>
                <a:cs typeface="Times New Roman" panose="02020603050405020304" pitchFamily="18" charset="0"/>
              </a:rPr>
              <a:t>The system architecture features a multi-tier design: a React.js client frontend communicating via </a:t>
            </a:r>
            <a:r>
              <a:rPr lang="en-IN" sz="4800" dirty="0" err="1" smtClean="0">
                <a:latin typeface="Times New Roman" panose="02020603050405020304" pitchFamily="18" charset="0"/>
                <a:cs typeface="Times New Roman" panose="02020603050405020304" pitchFamily="18" charset="0"/>
              </a:rPr>
              <a:t>Axios</a:t>
            </a:r>
            <a:r>
              <a:rPr lang="en-IN" sz="4800" dirty="0" smtClean="0">
                <a:latin typeface="Times New Roman" panose="02020603050405020304" pitchFamily="18" charset="0"/>
                <a:cs typeface="Times New Roman" panose="02020603050405020304" pitchFamily="18" charset="0"/>
              </a:rPr>
              <a:t> REST APIs and Socket.io to a Node.js/Express backend. Data persistence uses PostgreSQL managed through </a:t>
            </a:r>
            <a:r>
              <a:rPr lang="en-IN" sz="4800" dirty="0" err="1" smtClean="0">
                <a:latin typeface="Times New Roman" panose="02020603050405020304" pitchFamily="18" charset="0"/>
                <a:cs typeface="Times New Roman" panose="02020603050405020304" pitchFamily="18" charset="0"/>
              </a:rPr>
              <a:t>Prisma</a:t>
            </a:r>
            <a:r>
              <a:rPr lang="en-IN" sz="4800" dirty="0" smtClean="0">
                <a:latin typeface="Times New Roman" panose="02020603050405020304" pitchFamily="18" charset="0"/>
                <a:cs typeface="Times New Roman" panose="02020603050405020304" pitchFamily="18" charset="0"/>
              </a:rPr>
              <a:t>/</a:t>
            </a:r>
            <a:r>
              <a:rPr lang="en-IN" sz="4800" dirty="0" err="1" smtClean="0">
                <a:latin typeface="Times New Roman" panose="02020603050405020304" pitchFamily="18" charset="0"/>
                <a:cs typeface="Times New Roman" panose="02020603050405020304" pitchFamily="18" charset="0"/>
              </a:rPr>
              <a:t>TypeORM</a:t>
            </a:r>
            <a:r>
              <a:rPr lang="en-IN" sz="4800" dirty="0" smtClean="0">
                <a:latin typeface="Times New Roman" panose="02020603050405020304" pitchFamily="18" charset="0"/>
                <a:cs typeface="Times New Roman" panose="02020603050405020304" pitchFamily="18" charset="0"/>
              </a:rPr>
              <a:t>, paired with </a:t>
            </a:r>
            <a:r>
              <a:rPr lang="en-IN" sz="4800" dirty="0" err="1" smtClean="0">
                <a:latin typeface="Times New Roman" panose="02020603050405020304" pitchFamily="18" charset="0"/>
                <a:cs typeface="Times New Roman" panose="02020603050405020304" pitchFamily="18" charset="0"/>
              </a:rPr>
              <a:t>Redis</a:t>
            </a:r>
            <a:r>
              <a:rPr lang="en-IN" sz="4800" dirty="0" smtClean="0">
                <a:latin typeface="Times New Roman" panose="02020603050405020304" pitchFamily="18" charset="0"/>
                <a:cs typeface="Times New Roman" panose="02020603050405020304" pitchFamily="18" charset="0"/>
              </a:rPr>
              <a:t> caching for instant seat inventory locking.</a:t>
            </a:r>
            <a:endParaRPr sz="4800" dirty="0">
              <a:latin typeface="Times New Roman" panose="02020603050405020304" pitchFamily="18" charset="0"/>
              <a:cs typeface="Times New Roman" panose="02020603050405020304" pitchFamily="18" charset="0"/>
            </a:endParaRPr>
          </a:p>
        </p:txBody>
      </p:sp>
      <p:grpSp>
        <p:nvGrpSpPr>
          <p:cNvPr id="7" name="object 7"/>
          <p:cNvGrpSpPr/>
          <p:nvPr/>
        </p:nvGrpSpPr>
        <p:grpSpPr>
          <a:xfrm>
            <a:off x="-6095" y="6470903"/>
            <a:ext cx="12204700" cy="393700"/>
            <a:chOff x="-6095" y="6470903"/>
            <a:chExt cx="12204700" cy="393700"/>
          </a:xfrm>
        </p:grpSpPr>
        <p:sp>
          <p:nvSpPr>
            <p:cNvPr id="8" name="object 8"/>
            <p:cNvSpPr/>
            <p:nvPr/>
          </p:nvSpPr>
          <p:spPr>
            <a:xfrm>
              <a:off x="381" y="6477380"/>
              <a:ext cx="12192000" cy="381000"/>
            </a:xfrm>
            <a:custGeom>
              <a:avLst/>
              <a:gdLst/>
              <a:ahLst/>
              <a:cxnLst/>
              <a:rect l="l" t="t" r="r" b="b"/>
              <a:pathLst>
                <a:path w="12192000" h="381000">
                  <a:moveTo>
                    <a:pt x="12191619" y="0"/>
                  </a:moveTo>
                  <a:lnTo>
                    <a:pt x="0" y="0"/>
                  </a:lnTo>
                  <a:lnTo>
                    <a:pt x="0" y="380619"/>
                  </a:lnTo>
                  <a:lnTo>
                    <a:pt x="12191619" y="380619"/>
                  </a:lnTo>
                  <a:lnTo>
                    <a:pt x="12191619" y="0"/>
                  </a:lnTo>
                  <a:close/>
                </a:path>
              </a:pathLst>
            </a:custGeom>
            <a:solidFill>
              <a:srgbClr val="5B9BD4"/>
            </a:solidFill>
          </p:spPr>
          <p:txBody>
            <a:bodyPr wrap="square" lIns="0" tIns="0" rIns="0" bIns="0" rtlCol="0"/>
            <a:lstStyle/>
            <a:p>
              <a:endParaRPr/>
            </a:p>
          </p:txBody>
        </p:sp>
        <p:sp>
          <p:nvSpPr>
            <p:cNvPr id="9" name="object 9"/>
            <p:cNvSpPr/>
            <p:nvPr/>
          </p:nvSpPr>
          <p:spPr>
            <a:xfrm>
              <a:off x="381" y="6477380"/>
              <a:ext cx="12192000" cy="381000"/>
            </a:xfrm>
            <a:custGeom>
              <a:avLst/>
              <a:gdLst/>
              <a:ahLst/>
              <a:cxnLst/>
              <a:rect l="l" t="t" r="r" b="b"/>
              <a:pathLst>
                <a:path w="12192000" h="381000">
                  <a:moveTo>
                    <a:pt x="12191619" y="0"/>
                  </a:moveTo>
                  <a:lnTo>
                    <a:pt x="0" y="0"/>
                  </a:lnTo>
                  <a:lnTo>
                    <a:pt x="0" y="380619"/>
                  </a:lnTo>
                </a:path>
              </a:pathLst>
            </a:custGeom>
            <a:ln w="12953">
              <a:solidFill>
                <a:srgbClr val="41709C"/>
              </a:solidFill>
            </a:ln>
          </p:spPr>
          <p:txBody>
            <a:bodyPr wrap="square" lIns="0" tIns="0" rIns="0" bIns="0" rtlCol="0"/>
            <a:lstStyle/>
            <a:p>
              <a:endParaRPr/>
            </a:p>
          </p:txBody>
        </p:sp>
      </p:grpSp>
      <p:sp>
        <p:nvSpPr>
          <p:cNvPr id="10" name="object 10"/>
          <p:cNvSpPr txBox="1">
            <a:spLocks noGrp="1"/>
          </p:cNvSpPr>
          <p:nvPr>
            <p:ph type="ftr" sz="quarter" idx="5"/>
          </p:nvPr>
        </p:nvSpPr>
        <p:spPr>
          <a:prstGeom prst="rect">
            <a:avLst/>
          </a:prstGeom>
        </p:spPr>
        <p:txBody>
          <a:bodyPr vert="horz" wrap="square" lIns="0" tIns="0" rIns="0" bIns="0" rtlCol="0">
            <a:spAutoFit/>
          </a:bodyPr>
          <a:lstStyle/>
          <a:p>
            <a:pPr marL="12700">
              <a:lnSpc>
                <a:spcPts val="1710"/>
              </a:lnSpc>
            </a:pPr>
            <a:r>
              <a:rPr dirty="0"/>
              <a:t>MRCET</a:t>
            </a:r>
            <a:r>
              <a:rPr spc="-15" dirty="0"/>
              <a:t> </a:t>
            </a:r>
            <a:r>
              <a:rPr dirty="0"/>
              <a:t>|</a:t>
            </a:r>
            <a:r>
              <a:rPr spc="-15" dirty="0"/>
              <a:t> </a:t>
            </a:r>
            <a:r>
              <a:rPr spc="-10" dirty="0"/>
              <a:t>Department</a:t>
            </a:r>
            <a:r>
              <a:rPr dirty="0"/>
              <a:t> of Emerging</a:t>
            </a:r>
            <a:r>
              <a:rPr spc="-5" dirty="0"/>
              <a:t> </a:t>
            </a:r>
            <a:r>
              <a:rPr spc="-25" dirty="0"/>
              <a:t>Technologies</a:t>
            </a:r>
            <a:r>
              <a:rPr spc="5" dirty="0"/>
              <a:t> </a:t>
            </a:r>
            <a:r>
              <a:rPr dirty="0"/>
              <a:t>|</a:t>
            </a:r>
            <a:r>
              <a:rPr spc="-5" dirty="0"/>
              <a:t> </a:t>
            </a:r>
            <a:r>
              <a:rPr spc="-10" dirty="0"/>
              <a:t>Application</a:t>
            </a:r>
            <a:r>
              <a:rPr spc="-15" dirty="0"/>
              <a:t> </a:t>
            </a:r>
            <a:r>
              <a:rPr spc="-20" dirty="0"/>
              <a:t>Development-</a:t>
            </a:r>
            <a:r>
              <a:rPr dirty="0"/>
              <a:t>II</a:t>
            </a:r>
            <a:r>
              <a:rPr spc="10" dirty="0"/>
              <a:t> </a:t>
            </a:r>
            <a:r>
              <a:rPr dirty="0"/>
              <a:t>PPT|</a:t>
            </a:r>
            <a:r>
              <a:rPr spc="-20" dirty="0"/>
              <a:t> </a:t>
            </a:r>
            <a:r>
              <a:rPr dirty="0"/>
              <a:t>III</a:t>
            </a:r>
            <a:r>
              <a:rPr spc="-20" dirty="0"/>
              <a:t> Year</a:t>
            </a:r>
            <a:r>
              <a:rPr dirty="0"/>
              <a:t> </a:t>
            </a:r>
            <a:r>
              <a:rPr spc="-55" dirty="0"/>
              <a:t>B.Tech-</a:t>
            </a:r>
            <a:r>
              <a:rPr dirty="0"/>
              <a:t>II</a:t>
            </a:r>
            <a:r>
              <a:rPr spc="-15" dirty="0"/>
              <a:t> </a:t>
            </a:r>
            <a:r>
              <a:rPr spc="-10" dirty="0"/>
              <a:t>Semester</a:t>
            </a:r>
          </a:p>
        </p:txBody>
      </p:sp>
      <p:sp>
        <p:nvSpPr>
          <p:cNvPr id="11" name="object 11"/>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spc="-50" dirty="0"/>
              <a:t>12</a:t>
            </a:fld>
            <a:endParaRPr spc="-50" dirty="0"/>
          </a:p>
        </p:txBody>
      </p:sp>
      <p:sp>
        <p:nvSpPr>
          <p:cNvPr id="12" name="object 12"/>
          <p:cNvSpPr txBox="1"/>
          <p:nvPr/>
        </p:nvSpPr>
        <p:spPr>
          <a:xfrm>
            <a:off x="919988" y="6546615"/>
            <a:ext cx="10353040" cy="261620"/>
          </a:xfrm>
          <a:prstGeom prst="rect">
            <a:avLst/>
          </a:prstGeom>
        </p:spPr>
        <p:txBody>
          <a:bodyPr vert="horz" wrap="square" lIns="0" tIns="1905" rIns="0" bIns="0" rtlCol="0">
            <a:spAutoFit/>
          </a:bodyPr>
          <a:lstStyle/>
          <a:p>
            <a:pPr marL="12700">
              <a:lnSpc>
                <a:spcPct val="100000"/>
              </a:lnSpc>
              <a:spcBef>
                <a:spcPts val="15"/>
              </a:spcBef>
            </a:pPr>
            <a:r>
              <a:rPr sz="1600" b="1" spc="-10" dirty="0">
                <a:latin typeface="Arial"/>
                <a:cs typeface="Arial"/>
              </a:rPr>
              <a:t>B.Tech</a:t>
            </a:r>
            <a:r>
              <a:rPr sz="1600" b="1" spc="-30" dirty="0">
                <a:latin typeface="Arial"/>
                <a:cs typeface="Arial"/>
              </a:rPr>
              <a:t> </a:t>
            </a:r>
            <a:r>
              <a:rPr sz="1600" b="1" spc="50" dirty="0">
                <a:latin typeface="Arial"/>
                <a:cs typeface="Arial"/>
              </a:rPr>
              <a:t>III</a:t>
            </a:r>
            <a:r>
              <a:rPr sz="1600" b="1" spc="-20" dirty="0">
                <a:latin typeface="Arial"/>
                <a:cs typeface="Arial"/>
              </a:rPr>
              <a:t> </a:t>
            </a:r>
            <a:r>
              <a:rPr sz="1600" b="1" dirty="0">
                <a:latin typeface="Arial"/>
                <a:cs typeface="Arial"/>
              </a:rPr>
              <a:t>Year</a:t>
            </a:r>
            <a:r>
              <a:rPr sz="1600" b="1" spc="-25" dirty="0">
                <a:latin typeface="Arial"/>
                <a:cs typeface="Arial"/>
              </a:rPr>
              <a:t> </a:t>
            </a:r>
            <a:r>
              <a:rPr sz="1600" b="1" spc="-95" dirty="0">
                <a:latin typeface="Arial"/>
                <a:cs typeface="Arial"/>
              </a:rPr>
              <a:t>–</a:t>
            </a:r>
            <a:r>
              <a:rPr sz="1600" b="1" spc="-5" dirty="0">
                <a:latin typeface="Arial"/>
                <a:cs typeface="Arial"/>
              </a:rPr>
              <a:t> </a:t>
            </a:r>
            <a:r>
              <a:rPr sz="1600" b="1" spc="50" dirty="0">
                <a:latin typeface="Arial"/>
                <a:cs typeface="Arial"/>
              </a:rPr>
              <a:t>II</a:t>
            </a:r>
            <a:r>
              <a:rPr sz="1600" b="1" spc="-20" dirty="0">
                <a:latin typeface="Arial"/>
                <a:cs typeface="Arial"/>
              </a:rPr>
              <a:t> </a:t>
            </a:r>
            <a:r>
              <a:rPr sz="1600" b="1" dirty="0">
                <a:latin typeface="Arial"/>
                <a:cs typeface="Arial"/>
              </a:rPr>
              <a:t>Sem</a:t>
            </a:r>
            <a:r>
              <a:rPr sz="1600" b="1" spc="-25" dirty="0">
                <a:latin typeface="Arial"/>
                <a:cs typeface="Arial"/>
              </a:rPr>
              <a:t> </a:t>
            </a:r>
            <a:r>
              <a:rPr sz="1600" b="1" dirty="0">
                <a:latin typeface="Arial"/>
                <a:cs typeface="Arial"/>
              </a:rPr>
              <a:t>|</a:t>
            </a:r>
            <a:r>
              <a:rPr sz="1600" b="1" spc="-15" dirty="0">
                <a:latin typeface="Arial"/>
                <a:cs typeface="Arial"/>
              </a:rPr>
              <a:t> </a:t>
            </a:r>
            <a:r>
              <a:rPr sz="1600" b="1" dirty="0">
                <a:latin typeface="Arial"/>
                <a:cs typeface="Arial"/>
              </a:rPr>
              <a:t>Dept</a:t>
            </a:r>
            <a:r>
              <a:rPr sz="1600" b="1" spc="-20" dirty="0">
                <a:latin typeface="Arial"/>
                <a:cs typeface="Arial"/>
              </a:rPr>
              <a:t> </a:t>
            </a:r>
            <a:r>
              <a:rPr sz="1600" b="1" dirty="0">
                <a:latin typeface="Arial"/>
                <a:cs typeface="Arial"/>
              </a:rPr>
              <a:t>of</a:t>
            </a:r>
            <a:r>
              <a:rPr sz="1600" b="1" spc="190" dirty="0">
                <a:latin typeface="Arial"/>
                <a:cs typeface="Arial"/>
              </a:rPr>
              <a:t> </a:t>
            </a:r>
            <a:r>
              <a:rPr sz="1600" b="1" dirty="0">
                <a:latin typeface="Arial"/>
                <a:cs typeface="Arial"/>
              </a:rPr>
              <a:t>Computational</a:t>
            </a:r>
            <a:r>
              <a:rPr sz="1600" b="1" spc="-25" dirty="0">
                <a:latin typeface="Arial"/>
                <a:cs typeface="Arial"/>
              </a:rPr>
              <a:t> </a:t>
            </a:r>
            <a:r>
              <a:rPr sz="1600" b="1" dirty="0">
                <a:latin typeface="Arial"/>
                <a:cs typeface="Arial"/>
              </a:rPr>
              <a:t>Intelligence|</a:t>
            </a:r>
            <a:r>
              <a:rPr sz="1600" b="1" spc="-25" dirty="0">
                <a:latin typeface="Arial"/>
                <a:cs typeface="Arial"/>
              </a:rPr>
              <a:t> </a:t>
            </a:r>
            <a:r>
              <a:rPr sz="1600" b="1" dirty="0">
                <a:latin typeface="Arial"/>
                <a:cs typeface="Arial"/>
              </a:rPr>
              <a:t>Application</a:t>
            </a:r>
            <a:r>
              <a:rPr sz="1600" b="1" spc="-35" dirty="0">
                <a:latin typeface="Arial"/>
                <a:cs typeface="Arial"/>
              </a:rPr>
              <a:t> </a:t>
            </a:r>
            <a:r>
              <a:rPr sz="1600" b="1" dirty="0">
                <a:latin typeface="Arial"/>
                <a:cs typeface="Arial"/>
              </a:rPr>
              <a:t>Development</a:t>
            </a:r>
            <a:r>
              <a:rPr sz="1600" b="1" spc="5" dirty="0">
                <a:latin typeface="Arial"/>
                <a:cs typeface="Arial"/>
              </a:rPr>
              <a:t> </a:t>
            </a:r>
            <a:r>
              <a:rPr sz="1600" b="1" spc="-95" dirty="0">
                <a:latin typeface="Arial"/>
                <a:cs typeface="Arial"/>
              </a:rPr>
              <a:t>–</a:t>
            </a:r>
            <a:r>
              <a:rPr sz="1600" b="1" spc="-10" dirty="0">
                <a:latin typeface="Arial"/>
                <a:cs typeface="Arial"/>
              </a:rPr>
              <a:t> </a:t>
            </a:r>
            <a:r>
              <a:rPr sz="1600" b="1" spc="50" dirty="0">
                <a:latin typeface="Arial"/>
                <a:cs typeface="Arial"/>
              </a:rPr>
              <a:t>II</a:t>
            </a:r>
            <a:r>
              <a:rPr sz="1600" b="1" spc="-15" dirty="0">
                <a:latin typeface="Arial"/>
                <a:cs typeface="Arial"/>
              </a:rPr>
              <a:t> </a:t>
            </a:r>
            <a:r>
              <a:rPr sz="1600" b="1" dirty="0">
                <a:latin typeface="Arial"/>
                <a:cs typeface="Arial"/>
              </a:rPr>
              <a:t>|</a:t>
            </a:r>
            <a:r>
              <a:rPr sz="1600" b="1" spc="-5" dirty="0">
                <a:latin typeface="Arial"/>
                <a:cs typeface="Arial"/>
              </a:rPr>
              <a:t> </a:t>
            </a:r>
            <a:r>
              <a:rPr sz="1600" b="1" dirty="0">
                <a:latin typeface="Arial"/>
                <a:cs typeface="Arial"/>
              </a:rPr>
              <a:t>Project</a:t>
            </a:r>
            <a:r>
              <a:rPr sz="1600" b="1" spc="-30" dirty="0">
                <a:latin typeface="Arial"/>
                <a:cs typeface="Arial"/>
              </a:rPr>
              <a:t> </a:t>
            </a:r>
            <a:r>
              <a:rPr sz="1600" b="1" spc="-10" dirty="0">
                <a:latin typeface="Arial"/>
                <a:cs typeface="Arial"/>
              </a:rPr>
              <a:t>Review</a:t>
            </a:r>
            <a:endParaRPr sz="1600">
              <a:latin typeface="Arial"/>
              <a:cs typeface="Arial"/>
            </a:endParaRPr>
          </a:p>
        </p:txBody>
      </p:sp>
    </p:spTree>
    <p:extLst>
      <p:ext uri="{BB962C8B-B14F-4D97-AF65-F5344CB8AC3E}">
        <p14:creationId xmlns:p14="http://schemas.microsoft.com/office/powerpoint/2010/main" val="50775642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10493502" y="0"/>
            <a:ext cx="1698625" cy="898525"/>
            <a:chOff x="10493502" y="0"/>
            <a:chExt cx="1698625" cy="898525"/>
          </a:xfrm>
        </p:grpSpPr>
        <p:pic>
          <p:nvPicPr>
            <p:cNvPr id="3" name="object 3"/>
            <p:cNvPicPr/>
            <p:nvPr/>
          </p:nvPicPr>
          <p:blipFill>
            <a:blip r:embed="rId2" cstate="print"/>
            <a:stretch>
              <a:fillRect/>
            </a:stretch>
          </p:blipFill>
          <p:spPr>
            <a:xfrm>
              <a:off x="11353800" y="0"/>
              <a:ext cx="822198" cy="822198"/>
            </a:xfrm>
            <a:prstGeom prst="rect">
              <a:avLst/>
            </a:prstGeom>
          </p:spPr>
        </p:pic>
        <p:pic>
          <p:nvPicPr>
            <p:cNvPr id="4" name="object 4"/>
            <p:cNvPicPr/>
            <p:nvPr/>
          </p:nvPicPr>
          <p:blipFill>
            <a:blip r:embed="rId3" cstate="print"/>
            <a:stretch>
              <a:fillRect/>
            </a:stretch>
          </p:blipFill>
          <p:spPr>
            <a:xfrm>
              <a:off x="10493502" y="0"/>
              <a:ext cx="1698498" cy="898398"/>
            </a:xfrm>
            <a:prstGeom prst="rect">
              <a:avLst/>
            </a:prstGeom>
          </p:spPr>
        </p:pic>
      </p:grpSp>
      <p:sp>
        <p:nvSpPr>
          <p:cNvPr id="5" name="object 5" descr="$PPTXTitle"/>
          <p:cNvSpPr txBox="1">
            <a:spLocks noGrp="1"/>
          </p:cNvSpPr>
          <p:nvPr>
            <p:ph type="title"/>
          </p:nvPr>
        </p:nvSpPr>
        <p:spPr>
          <a:xfrm>
            <a:off x="916939" y="381000"/>
            <a:ext cx="5864861" cy="689932"/>
          </a:xfrm>
          <a:prstGeom prst="rect">
            <a:avLst/>
          </a:prstGeom>
        </p:spPr>
        <p:txBody>
          <a:bodyPr vert="horz" wrap="square" lIns="0" tIns="12700" rIns="0" bIns="0" rtlCol="0">
            <a:spAutoFit/>
          </a:bodyPr>
          <a:lstStyle/>
          <a:p>
            <a:pPr marL="12700">
              <a:lnSpc>
                <a:spcPct val="100000"/>
              </a:lnSpc>
              <a:spcBef>
                <a:spcPts val="100"/>
              </a:spcBef>
            </a:pPr>
            <a:r>
              <a:rPr lang="en-US" spc="-10" dirty="0" smtClean="0"/>
              <a:t>Technologies Used</a:t>
            </a:r>
            <a:endParaRPr spc="-10" dirty="0"/>
          </a:p>
        </p:txBody>
      </p:sp>
      <p:sp>
        <p:nvSpPr>
          <p:cNvPr id="6" name="object 6"/>
          <p:cNvSpPr txBox="1"/>
          <p:nvPr/>
        </p:nvSpPr>
        <p:spPr>
          <a:xfrm>
            <a:off x="851161" y="1055946"/>
            <a:ext cx="10360025" cy="5175391"/>
          </a:xfrm>
          <a:prstGeom prst="rect">
            <a:avLst/>
          </a:prstGeom>
        </p:spPr>
        <p:txBody>
          <a:bodyPr vert="horz" wrap="square" lIns="0" tIns="66675" rIns="0" bIns="0" rtlCol="0">
            <a:spAutoFit/>
          </a:bodyPr>
          <a:lstStyle/>
          <a:p>
            <a:pPr marL="12700" marR="5080" algn="just">
              <a:lnSpc>
                <a:spcPct val="90100"/>
              </a:lnSpc>
              <a:spcBef>
                <a:spcPts val="525"/>
              </a:spcBef>
            </a:pPr>
            <a:r>
              <a:rPr lang="en-IN" sz="4600" dirty="0" smtClean="0">
                <a:latin typeface="Times New Roman" panose="02020603050405020304" pitchFamily="18" charset="0"/>
                <a:cs typeface="Times New Roman" panose="02020603050405020304" pitchFamily="18" charset="0"/>
              </a:rPr>
              <a:t>The project utilizes React.js, Tailwind CSS, and </a:t>
            </a:r>
            <a:r>
              <a:rPr lang="en-IN" sz="4600" dirty="0" err="1" smtClean="0">
                <a:latin typeface="Times New Roman" panose="02020603050405020304" pitchFamily="18" charset="0"/>
                <a:cs typeface="Times New Roman" panose="02020603050405020304" pitchFamily="18" charset="0"/>
              </a:rPr>
              <a:t>Redux</a:t>
            </a:r>
            <a:r>
              <a:rPr lang="en-IN" sz="4600" dirty="0" smtClean="0">
                <a:latin typeface="Times New Roman" panose="02020603050405020304" pitchFamily="18" charset="0"/>
                <a:cs typeface="Times New Roman" panose="02020603050405020304" pitchFamily="18" charset="0"/>
              </a:rPr>
              <a:t> Toolkit for the frontend. The backend is powered by Node.js, Express.js, and Socket.io for real-time updates. Database management incorporates PostgreSQL via </a:t>
            </a:r>
            <a:r>
              <a:rPr lang="en-IN" sz="4600" dirty="0" err="1" smtClean="0">
                <a:latin typeface="Times New Roman" panose="02020603050405020304" pitchFamily="18" charset="0"/>
                <a:cs typeface="Times New Roman" panose="02020603050405020304" pitchFamily="18" charset="0"/>
              </a:rPr>
              <a:t>Prisma</a:t>
            </a:r>
            <a:r>
              <a:rPr lang="en-IN" sz="4600" dirty="0" smtClean="0">
                <a:latin typeface="Times New Roman" panose="02020603050405020304" pitchFamily="18" charset="0"/>
                <a:cs typeface="Times New Roman" panose="02020603050405020304" pitchFamily="18" charset="0"/>
              </a:rPr>
              <a:t>/</a:t>
            </a:r>
            <a:r>
              <a:rPr lang="en-IN" sz="4600" dirty="0" err="1" smtClean="0">
                <a:latin typeface="Times New Roman" panose="02020603050405020304" pitchFamily="18" charset="0"/>
                <a:cs typeface="Times New Roman" panose="02020603050405020304" pitchFamily="18" charset="0"/>
              </a:rPr>
              <a:t>TypeORM</a:t>
            </a:r>
            <a:r>
              <a:rPr lang="en-IN" sz="4600" dirty="0" smtClean="0">
                <a:latin typeface="Times New Roman" panose="02020603050405020304" pitchFamily="18" charset="0"/>
                <a:cs typeface="Times New Roman" panose="02020603050405020304" pitchFamily="18" charset="0"/>
              </a:rPr>
              <a:t>, paired with </a:t>
            </a:r>
            <a:r>
              <a:rPr lang="en-IN" sz="4600" dirty="0" err="1" smtClean="0">
                <a:latin typeface="Times New Roman" panose="02020603050405020304" pitchFamily="18" charset="0"/>
                <a:cs typeface="Times New Roman" panose="02020603050405020304" pitchFamily="18" charset="0"/>
              </a:rPr>
              <a:t>Redis</a:t>
            </a:r>
            <a:r>
              <a:rPr lang="en-IN" sz="4600" dirty="0" smtClean="0">
                <a:latin typeface="Times New Roman" panose="02020603050405020304" pitchFamily="18" charset="0"/>
                <a:cs typeface="Times New Roman" panose="02020603050405020304" pitchFamily="18" charset="0"/>
              </a:rPr>
              <a:t> caching for high-concurrency inventory locking.</a:t>
            </a:r>
            <a:endParaRPr sz="4600" dirty="0">
              <a:latin typeface="Times New Roman" panose="02020603050405020304" pitchFamily="18" charset="0"/>
              <a:cs typeface="Times New Roman" panose="02020603050405020304" pitchFamily="18" charset="0"/>
            </a:endParaRPr>
          </a:p>
        </p:txBody>
      </p:sp>
      <p:grpSp>
        <p:nvGrpSpPr>
          <p:cNvPr id="7" name="object 7"/>
          <p:cNvGrpSpPr/>
          <p:nvPr/>
        </p:nvGrpSpPr>
        <p:grpSpPr>
          <a:xfrm>
            <a:off x="-6095" y="6470903"/>
            <a:ext cx="12204700" cy="393700"/>
            <a:chOff x="-6095" y="6470903"/>
            <a:chExt cx="12204700" cy="393700"/>
          </a:xfrm>
        </p:grpSpPr>
        <p:sp>
          <p:nvSpPr>
            <p:cNvPr id="8" name="object 8"/>
            <p:cNvSpPr/>
            <p:nvPr/>
          </p:nvSpPr>
          <p:spPr>
            <a:xfrm>
              <a:off x="381" y="6477380"/>
              <a:ext cx="12192000" cy="381000"/>
            </a:xfrm>
            <a:custGeom>
              <a:avLst/>
              <a:gdLst/>
              <a:ahLst/>
              <a:cxnLst/>
              <a:rect l="l" t="t" r="r" b="b"/>
              <a:pathLst>
                <a:path w="12192000" h="381000">
                  <a:moveTo>
                    <a:pt x="12191619" y="0"/>
                  </a:moveTo>
                  <a:lnTo>
                    <a:pt x="0" y="0"/>
                  </a:lnTo>
                  <a:lnTo>
                    <a:pt x="0" y="380619"/>
                  </a:lnTo>
                  <a:lnTo>
                    <a:pt x="12191619" y="380619"/>
                  </a:lnTo>
                  <a:lnTo>
                    <a:pt x="12191619" y="0"/>
                  </a:lnTo>
                  <a:close/>
                </a:path>
              </a:pathLst>
            </a:custGeom>
            <a:solidFill>
              <a:srgbClr val="5B9BD4"/>
            </a:solidFill>
          </p:spPr>
          <p:txBody>
            <a:bodyPr wrap="square" lIns="0" tIns="0" rIns="0" bIns="0" rtlCol="0"/>
            <a:lstStyle/>
            <a:p>
              <a:endParaRPr/>
            </a:p>
          </p:txBody>
        </p:sp>
        <p:sp>
          <p:nvSpPr>
            <p:cNvPr id="9" name="object 9"/>
            <p:cNvSpPr/>
            <p:nvPr/>
          </p:nvSpPr>
          <p:spPr>
            <a:xfrm>
              <a:off x="381" y="6477380"/>
              <a:ext cx="12192000" cy="381000"/>
            </a:xfrm>
            <a:custGeom>
              <a:avLst/>
              <a:gdLst/>
              <a:ahLst/>
              <a:cxnLst/>
              <a:rect l="l" t="t" r="r" b="b"/>
              <a:pathLst>
                <a:path w="12192000" h="381000">
                  <a:moveTo>
                    <a:pt x="12191619" y="0"/>
                  </a:moveTo>
                  <a:lnTo>
                    <a:pt x="0" y="0"/>
                  </a:lnTo>
                  <a:lnTo>
                    <a:pt x="0" y="380619"/>
                  </a:lnTo>
                </a:path>
              </a:pathLst>
            </a:custGeom>
            <a:ln w="12953">
              <a:solidFill>
                <a:srgbClr val="41709C"/>
              </a:solidFill>
            </a:ln>
          </p:spPr>
          <p:txBody>
            <a:bodyPr wrap="square" lIns="0" tIns="0" rIns="0" bIns="0" rtlCol="0"/>
            <a:lstStyle/>
            <a:p>
              <a:endParaRPr/>
            </a:p>
          </p:txBody>
        </p:sp>
      </p:grpSp>
      <p:sp>
        <p:nvSpPr>
          <p:cNvPr id="10" name="object 10"/>
          <p:cNvSpPr txBox="1">
            <a:spLocks noGrp="1"/>
          </p:cNvSpPr>
          <p:nvPr>
            <p:ph type="ftr" sz="quarter" idx="5"/>
          </p:nvPr>
        </p:nvSpPr>
        <p:spPr>
          <a:prstGeom prst="rect">
            <a:avLst/>
          </a:prstGeom>
        </p:spPr>
        <p:txBody>
          <a:bodyPr vert="horz" wrap="square" lIns="0" tIns="0" rIns="0" bIns="0" rtlCol="0">
            <a:spAutoFit/>
          </a:bodyPr>
          <a:lstStyle/>
          <a:p>
            <a:pPr marL="12700">
              <a:lnSpc>
                <a:spcPts val="1710"/>
              </a:lnSpc>
            </a:pPr>
            <a:r>
              <a:rPr dirty="0"/>
              <a:t>MRCET</a:t>
            </a:r>
            <a:r>
              <a:rPr spc="-15" dirty="0"/>
              <a:t> </a:t>
            </a:r>
            <a:r>
              <a:rPr dirty="0"/>
              <a:t>|</a:t>
            </a:r>
            <a:r>
              <a:rPr spc="-15" dirty="0"/>
              <a:t> </a:t>
            </a:r>
            <a:r>
              <a:rPr spc="-10" dirty="0"/>
              <a:t>Department</a:t>
            </a:r>
            <a:r>
              <a:rPr dirty="0"/>
              <a:t> of Emerging</a:t>
            </a:r>
            <a:r>
              <a:rPr spc="-5" dirty="0"/>
              <a:t> </a:t>
            </a:r>
            <a:r>
              <a:rPr spc="-25" dirty="0"/>
              <a:t>Technologies</a:t>
            </a:r>
            <a:r>
              <a:rPr spc="5" dirty="0"/>
              <a:t> </a:t>
            </a:r>
            <a:r>
              <a:rPr dirty="0"/>
              <a:t>|</a:t>
            </a:r>
            <a:r>
              <a:rPr spc="-5" dirty="0"/>
              <a:t> </a:t>
            </a:r>
            <a:r>
              <a:rPr spc="-10" dirty="0"/>
              <a:t>Application</a:t>
            </a:r>
            <a:r>
              <a:rPr spc="-15" dirty="0"/>
              <a:t> </a:t>
            </a:r>
            <a:r>
              <a:rPr spc="-20" dirty="0"/>
              <a:t>Development-</a:t>
            </a:r>
            <a:r>
              <a:rPr dirty="0"/>
              <a:t>II</a:t>
            </a:r>
            <a:r>
              <a:rPr spc="10" dirty="0"/>
              <a:t> </a:t>
            </a:r>
            <a:r>
              <a:rPr dirty="0"/>
              <a:t>PPT|</a:t>
            </a:r>
            <a:r>
              <a:rPr spc="-20" dirty="0"/>
              <a:t> </a:t>
            </a:r>
            <a:r>
              <a:rPr dirty="0"/>
              <a:t>III</a:t>
            </a:r>
            <a:r>
              <a:rPr spc="-20" dirty="0"/>
              <a:t> Year</a:t>
            </a:r>
            <a:r>
              <a:rPr dirty="0"/>
              <a:t> </a:t>
            </a:r>
            <a:r>
              <a:rPr spc="-55" dirty="0"/>
              <a:t>B.Tech-</a:t>
            </a:r>
            <a:r>
              <a:rPr dirty="0"/>
              <a:t>II</a:t>
            </a:r>
            <a:r>
              <a:rPr spc="-15" dirty="0"/>
              <a:t> </a:t>
            </a:r>
            <a:r>
              <a:rPr spc="-10" dirty="0"/>
              <a:t>Semester</a:t>
            </a:r>
          </a:p>
        </p:txBody>
      </p:sp>
      <p:sp>
        <p:nvSpPr>
          <p:cNvPr id="11" name="object 11"/>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spc="-50" dirty="0"/>
              <a:t>13</a:t>
            </a:fld>
            <a:endParaRPr spc="-50" dirty="0"/>
          </a:p>
        </p:txBody>
      </p:sp>
      <p:sp>
        <p:nvSpPr>
          <p:cNvPr id="12" name="object 12"/>
          <p:cNvSpPr txBox="1"/>
          <p:nvPr/>
        </p:nvSpPr>
        <p:spPr>
          <a:xfrm>
            <a:off x="919988" y="6546615"/>
            <a:ext cx="10353040" cy="261620"/>
          </a:xfrm>
          <a:prstGeom prst="rect">
            <a:avLst/>
          </a:prstGeom>
        </p:spPr>
        <p:txBody>
          <a:bodyPr vert="horz" wrap="square" lIns="0" tIns="1905" rIns="0" bIns="0" rtlCol="0">
            <a:spAutoFit/>
          </a:bodyPr>
          <a:lstStyle/>
          <a:p>
            <a:pPr marL="12700">
              <a:lnSpc>
                <a:spcPct val="100000"/>
              </a:lnSpc>
              <a:spcBef>
                <a:spcPts val="15"/>
              </a:spcBef>
            </a:pPr>
            <a:r>
              <a:rPr sz="1600" b="1" spc="-10" dirty="0">
                <a:latin typeface="Arial"/>
                <a:cs typeface="Arial"/>
              </a:rPr>
              <a:t>B.Tech</a:t>
            </a:r>
            <a:r>
              <a:rPr sz="1600" b="1" spc="-30" dirty="0">
                <a:latin typeface="Arial"/>
                <a:cs typeface="Arial"/>
              </a:rPr>
              <a:t> </a:t>
            </a:r>
            <a:r>
              <a:rPr sz="1600" b="1" spc="50" dirty="0">
                <a:latin typeface="Arial"/>
                <a:cs typeface="Arial"/>
              </a:rPr>
              <a:t>III</a:t>
            </a:r>
            <a:r>
              <a:rPr sz="1600" b="1" spc="-20" dirty="0">
                <a:latin typeface="Arial"/>
                <a:cs typeface="Arial"/>
              </a:rPr>
              <a:t> </a:t>
            </a:r>
            <a:r>
              <a:rPr sz="1600" b="1" dirty="0">
                <a:latin typeface="Arial"/>
                <a:cs typeface="Arial"/>
              </a:rPr>
              <a:t>Year</a:t>
            </a:r>
            <a:r>
              <a:rPr sz="1600" b="1" spc="-25" dirty="0">
                <a:latin typeface="Arial"/>
                <a:cs typeface="Arial"/>
              </a:rPr>
              <a:t> </a:t>
            </a:r>
            <a:r>
              <a:rPr sz="1600" b="1" spc="-95" dirty="0">
                <a:latin typeface="Arial"/>
                <a:cs typeface="Arial"/>
              </a:rPr>
              <a:t>–</a:t>
            </a:r>
            <a:r>
              <a:rPr sz="1600" b="1" spc="-5" dirty="0">
                <a:latin typeface="Arial"/>
                <a:cs typeface="Arial"/>
              </a:rPr>
              <a:t> </a:t>
            </a:r>
            <a:r>
              <a:rPr sz="1600" b="1" spc="50" dirty="0">
                <a:latin typeface="Arial"/>
                <a:cs typeface="Arial"/>
              </a:rPr>
              <a:t>II</a:t>
            </a:r>
            <a:r>
              <a:rPr sz="1600" b="1" spc="-20" dirty="0">
                <a:latin typeface="Arial"/>
                <a:cs typeface="Arial"/>
              </a:rPr>
              <a:t> </a:t>
            </a:r>
            <a:r>
              <a:rPr sz="1600" b="1" dirty="0">
                <a:latin typeface="Arial"/>
                <a:cs typeface="Arial"/>
              </a:rPr>
              <a:t>Sem</a:t>
            </a:r>
            <a:r>
              <a:rPr sz="1600" b="1" spc="-25" dirty="0">
                <a:latin typeface="Arial"/>
                <a:cs typeface="Arial"/>
              </a:rPr>
              <a:t> </a:t>
            </a:r>
            <a:r>
              <a:rPr sz="1600" b="1" dirty="0">
                <a:latin typeface="Arial"/>
                <a:cs typeface="Arial"/>
              </a:rPr>
              <a:t>|</a:t>
            </a:r>
            <a:r>
              <a:rPr sz="1600" b="1" spc="-15" dirty="0">
                <a:latin typeface="Arial"/>
                <a:cs typeface="Arial"/>
              </a:rPr>
              <a:t> </a:t>
            </a:r>
            <a:r>
              <a:rPr sz="1600" b="1" dirty="0">
                <a:latin typeface="Arial"/>
                <a:cs typeface="Arial"/>
              </a:rPr>
              <a:t>Dept</a:t>
            </a:r>
            <a:r>
              <a:rPr sz="1600" b="1" spc="-20" dirty="0">
                <a:latin typeface="Arial"/>
                <a:cs typeface="Arial"/>
              </a:rPr>
              <a:t> </a:t>
            </a:r>
            <a:r>
              <a:rPr sz="1600" b="1" dirty="0">
                <a:latin typeface="Arial"/>
                <a:cs typeface="Arial"/>
              </a:rPr>
              <a:t>of</a:t>
            </a:r>
            <a:r>
              <a:rPr sz="1600" b="1" spc="190" dirty="0">
                <a:latin typeface="Arial"/>
                <a:cs typeface="Arial"/>
              </a:rPr>
              <a:t> </a:t>
            </a:r>
            <a:r>
              <a:rPr sz="1600" b="1" dirty="0">
                <a:latin typeface="Arial"/>
                <a:cs typeface="Arial"/>
              </a:rPr>
              <a:t>Computational</a:t>
            </a:r>
            <a:r>
              <a:rPr sz="1600" b="1" spc="-25" dirty="0">
                <a:latin typeface="Arial"/>
                <a:cs typeface="Arial"/>
              </a:rPr>
              <a:t> </a:t>
            </a:r>
            <a:r>
              <a:rPr sz="1600" b="1" dirty="0">
                <a:latin typeface="Arial"/>
                <a:cs typeface="Arial"/>
              </a:rPr>
              <a:t>Intelligence|</a:t>
            </a:r>
            <a:r>
              <a:rPr sz="1600" b="1" spc="-25" dirty="0">
                <a:latin typeface="Arial"/>
                <a:cs typeface="Arial"/>
              </a:rPr>
              <a:t> </a:t>
            </a:r>
            <a:r>
              <a:rPr sz="1600" b="1" dirty="0">
                <a:latin typeface="Arial"/>
                <a:cs typeface="Arial"/>
              </a:rPr>
              <a:t>Application</a:t>
            </a:r>
            <a:r>
              <a:rPr sz="1600" b="1" spc="-35" dirty="0">
                <a:latin typeface="Arial"/>
                <a:cs typeface="Arial"/>
              </a:rPr>
              <a:t> </a:t>
            </a:r>
            <a:r>
              <a:rPr sz="1600" b="1" dirty="0">
                <a:latin typeface="Arial"/>
                <a:cs typeface="Arial"/>
              </a:rPr>
              <a:t>Development</a:t>
            </a:r>
            <a:r>
              <a:rPr sz="1600" b="1" spc="5" dirty="0">
                <a:latin typeface="Arial"/>
                <a:cs typeface="Arial"/>
              </a:rPr>
              <a:t> </a:t>
            </a:r>
            <a:r>
              <a:rPr sz="1600" b="1" spc="-95" dirty="0">
                <a:latin typeface="Arial"/>
                <a:cs typeface="Arial"/>
              </a:rPr>
              <a:t>–</a:t>
            </a:r>
            <a:r>
              <a:rPr sz="1600" b="1" spc="-10" dirty="0">
                <a:latin typeface="Arial"/>
                <a:cs typeface="Arial"/>
              </a:rPr>
              <a:t> </a:t>
            </a:r>
            <a:r>
              <a:rPr sz="1600" b="1" spc="50" dirty="0">
                <a:latin typeface="Arial"/>
                <a:cs typeface="Arial"/>
              </a:rPr>
              <a:t>II</a:t>
            </a:r>
            <a:r>
              <a:rPr sz="1600" b="1" spc="-15" dirty="0">
                <a:latin typeface="Arial"/>
                <a:cs typeface="Arial"/>
              </a:rPr>
              <a:t> </a:t>
            </a:r>
            <a:r>
              <a:rPr sz="1600" b="1" dirty="0">
                <a:latin typeface="Arial"/>
                <a:cs typeface="Arial"/>
              </a:rPr>
              <a:t>|</a:t>
            </a:r>
            <a:r>
              <a:rPr sz="1600" b="1" spc="-5" dirty="0">
                <a:latin typeface="Arial"/>
                <a:cs typeface="Arial"/>
              </a:rPr>
              <a:t> </a:t>
            </a:r>
            <a:r>
              <a:rPr sz="1600" b="1" dirty="0">
                <a:latin typeface="Arial"/>
                <a:cs typeface="Arial"/>
              </a:rPr>
              <a:t>Project</a:t>
            </a:r>
            <a:r>
              <a:rPr sz="1600" b="1" spc="-30" dirty="0">
                <a:latin typeface="Arial"/>
                <a:cs typeface="Arial"/>
              </a:rPr>
              <a:t> </a:t>
            </a:r>
            <a:r>
              <a:rPr sz="1600" b="1" spc="-10" dirty="0">
                <a:latin typeface="Arial"/>
                <a:cs typeface="Arial"/>
              </a:rPr>
              <a:t>Review</a:t>
            </a:r>
            <a:endParaRPr sz="1600">
              <a:latin typeface="Arial"/>
              <a:cs typeface="Arial"/>
            </a:endParaRPr>
          </a:p>
        </p:txBody>
      </p:sp>
    </p:spTree>
    <p:extLst>
      <p:ext uri="{BB962C8B-B14F-4D97-AF65-F5344CB8AC3E}">
        <p14:creationId xmlns:p14="http://schemas.microsoft.com/office/powerpoint/2010/main" val="159184592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10493502" y="0"/>
            <a:ext cx="1698625" cy="898525"/>
            <a:chOff x="10493502" y="0"/>
            <a:chExt cx="1698625" cy="898525"/>
          </a:xfrm>
        </p:grpSpPr>
        <p:pic>
          <p:nvPicPr>
            <p:cNvPr id="3" name="object 3"/>
            <p:cNvPicPr/>
            <p:nvPr/>
          </p:nvPicPr>
          <p:blipFill>
            <a:blip r:embed="rId2" cstate="print"/>
            <a:stretch>
              <a:fillRect/>
            </a:stretch>
          </p:blipFill>
          <p:spPr>
            <a:xfrm>
              <a:off x="11353800" y="0"/>
              <a:ext cx="822198" cy="822198"/>
            </a:xfrm>
            <a:prstGeom prst="rect">
              <a:avLst/>
            </a:prstGeom>
          </p:spPr>
        </p:pic>
        <p:pic>
          <p:nvPicPr>
            <p:cNvPr id="4" name="object 4"/>
            <p:cNvPicPr/>
            <p:nvPr/>
          </p:nvPicPr>
          <p:blipFill>
            <a:blip r:embed="rId3" cstate="print"/>
            <a:stretch>
              <a:fillRect/>
            </a:stretch>
          </p:blipFill>
          <p:spPr>
            <a:xfrm>
              <a:off x="10493502" y="0"/>
              <a:ext cx="1698498" cy="898398"/>
            </a:xfrm>
            <a:prstGeom prst="rect">
              <a:avLst/>
            </a:prstGeom>
          </p:spPr>
        </p:pic>
      </p:grpSp>
      <p:sp>
        <p:nvSpPr>
          <p:cNvPr id="5" name="object 5" descr="$PPTXTitle"/>
          <p:cNvSpPr txBox="1">
            <a:spLocks noGrp="1"/>
          </p:cNvSpPr>
          <p:nvPr>
            <p:ph type="title"/>
          </p:nvPr>
        </p:nvSpPr>
        <p:spPr>
          <a:xfrm>
            <a:off x="851161" y="315869"/>
            <a:ext cx="5864861" cy="689932"/>
          </a:xfrm>
          <a:prstGeom prst="rect">
            <a:avLst/>
          </a:prstGeom>
        </p:spPr>
        <p:txBody>
          <a:bodyPr vert="horz" wrap="square" lIns="0" tIns="12700" rIns="0" bIns="0" rtlCol="0">
            <a:spAutoFit/>
          </a:bodyPr>
          <a:lstStyle/>
          <a:p>
            <a:pPr marL="12700">
              <a:lnSpc>
                <a:spcPct val="100000"/>
              </a:lnSpc>
              <a:spcBef>
                <a:spcPts val="100"/>
              </a:spcBef>
            </a:pPr>
            <a:r>
              <a:rPr lang="en-US" spc="-10" dirty="0" smtClean="0"/>
              <a:t>Dataset / Input Details</a:t>
            </a:r>
            <a:endParaRPr spc="-10" dirty="0"/>
          </a:p>
        </p:txBody>
      </p:sp>
      <p:sp>
        <p:nvSpPr>
          <p:cNvPr id="6" name="object 6"/>
          <p:cNvSpPr txBox="1"/>
          <p:nvPr/>
        </p:nvSpPr>
        <p:spPr>
          <a:xfrm>
            <a:off x="851161" y="1055946"/>
            <a:ext cx="10360025" cy="5274906"/>
          </a:xfrm>
          <a:prstGeom prst="rect">
            <a:avLst/>
          </a:prstGeom>
        </p:spPr>
        <p:txBody>
          <a:bodyPr vert="horz" wrap="square" lIns="0" tIns="66675" rIns="0" bIns="0" rtlCol="0">
            <a:spAutoFit/>
          </a:bodyPr>
          <a:lstStyle/>
          <a:p>
            <a:pPr marL="12700" marR="5080" algn="just">
              <a:lnSpc>
                <a:spcPct val="90100"/>
              </a:lnSpc>
              <a:spcBef>
                <a:spcPts val="525"/>
              </a:spcBef>
            </a:pPr>
            <a:r>
              <a:rPr lang="en-US" sz="4700" dirty="0" smtClean="0">
                <a:latin typeface="Times New Roman" panose="02020603050405020304" pitchFamily="18" charset="0"/>
                <a:cs typeface="Times New Roman" panose="02020603050405020304" pitchFamily="18" charset="0"/>
              </a:rPr>
              <a:t>The system uses structured relational data for users, train schedules, routes, seat inventory, and transactions. Inputs include search parameters (source, destination, date, travel class), passenger details, payment credentials, cancellation requests, and admin updates for fares, schedules, and train capacities.</a:t>
            </a:r>
            <a:endParaRPr sz="4700" dirty="0">
              <a:latin typeface="Times New Roman" panose="02020603050405020304" pitchFamily="18" charset="0"/>
              <a:cs typeface="Times New Roman" panose="02020603050405020304" pitchFamily="18" charset="0"/>
            </a:endParaRPr>
          </a:p>
        </p:txBody>
      </p:sp>
      <p:grpSp>
        <p:nvGrpSpPr>
          <p:cNvPr id="7" name="object 7"/>
          <p:cNvGrpSpPr/>
          <p:nvPr/>
        </p:nvGrpSpPr>
        <p:grpSpPr>
          <a:xfrm>
            <a:off x="-6095" y="6470903"/>
            <a:ext cx="12204700" cy="393700"/>
            <a:chOff x="-6095" y="6470903"/>
            <a:chExt cx="12204700" cy="393700"/>
          </a:xfrm>
        </p:grpSpPr>
        <p:sp>
          <p:nvSpPr>
            <p:cNvPr id="8" name="object 8"/>
            <p:cNvSpPr/>
            <p:nvPr/>
          </p:nvSpPr>
          <p:spPr>
            <a:xfrm>
              <a:off x="381" y="6477380"/>
              <a:ext cx="12192000" cy="381000"/>
            </a:xfrm>
            <a:custGeom>
              <a:avLst/>
              <a:gdLst/>
              <a:ahLst/>
              <a:cxnLst/>
              <a:rect l="l" t="t" r="r" b="b"/>
              <a:pathLst>
                <a:path w="12192000" h="381000">
                  <a:moveTo>
                    <a:pt x="12191619" y="0"/>
                  </a:moveTo>
                  <a:lnTo>
                    <a:pt x="0" y="0"/>
                  </a:lnTo>
                  <a:lnTo>
                    <a:pt x="0" y="380619"/>
                  </a:lnTo>
                  <a:lnTo>
                    <a:pt x="12191619" y="380619"/>
                  </a:lnTo>
                  <a:lnTo>
                    <a:pt x="12191619" y="0"/>
                  </a:lnTo>
                  <a:close/>
                </a:path>
              </a:pathLst>
            </a:custGeom>
            <a:solidFill>
              <a:srgbClr val="5B9BD4"/>
            </a:solidFill>
          </p:spPr>
          <p:txBody>
            <a:bodyPr wrap="square" lIns="0" tIns="0" rIns="0" bIns="0" rtlCol="0"/>
            <a:lstStyle/>
            <a:p>
              <a:endParaRPr/>
            </a:p>
          </p:txBody>
        </p:sp>
        <p:sp>
          <p:nvSpPr>
            <p:cNvPr id="9" name="object 9"/>
            <p:cNvSpPr/>
            <p:nvPr/>
          </p:nvSpPr>
          <p:spPr>
            <a:xfrm>
              <a:off x="381" y="6477380"/>
              <a:ext cx="12192000" cy="381000"/>
            </a:xfrm>
            <a:custGeom>
              <a:avLst/>
              <a:gdLst/>
              <a:ahLst/>
              <a:cxnLst/>
              <a:rect l="l" t="t" r="r" b="b"/>
              <a:pathLst>
                <a:path w="12192000" h="381000">
                  <a:moveTo>
                    <a:pt x="12191619" y="0"/>
                  </a:moveTo>
                  <a:lnTo>
                    <a:pt x="0" y="0"/>
                  </a:lnTo>
                  <a:lnTo>
                    <a:pt x="0" y="380619"/>
                  </a:lnTo>
                </a:path>
              </a:pathLst>
            </a:custGeom>
            <a:ln w="12953">
              <a:solidFill>
                <a:srgbClr val="41709C"/>
              </a:solidFill>
            </a:ln>
          </p:spPr>
          <p:txBody>
            <a:bodyPr wrap="square" lIns="0" tIns="0" rIns="0" bIns="0" rtlCol="0"/>
            <a:lstStyle/>
            <a:p>
              <a:endParaRPr/>
            </a:p>
          </p:txBody>
        </p:sp>
      </p:grpSp>
      <p:sp>
        <p:nvSpPr>
          <p:cNvPr id="10" name="object 10"/>
          <p:cNvSpPr txBox="1">
            <a:spLocks noGrp="1"/>
          </p:cNvSpPr>
          <p:nvPr>
            <p:ph type="ftr" sz="quarter" idx="5"/>
          </p:nvPr>
        </p:nvSpPr>
        <p:spPr>
          <a:prstGeom prst="rect">
            <a:avLst/>
          </a:prstGeom>
        </p:spPr>
        <p:txBody>
          <a:bodyPr vert="horz" wrap="square" lIns="0" tIns="0" rIns="0" bIns="0" rtlCol="0">
            <a:spAutoFit/>
          </a:bodyPr>
          <a:lstStyle/>
          <a:p>
            <a:pPr marL="12700">
              <a:lnSpc>
                <a:spcPts val="1710"/>
              </a:lnSpc>
            </a:pPr>
            <a:r>
              <a:rPr dirty="0"/>
              <a:t>MRCET</a:t>
            </a:r>
            <a:r>
              <a:rPr spc="-15" dirty="0"/>
              <a:t> </a:t>
            </a:r>
            <a:r>
              <a:rPr dirty="0"/>
              <a:t>|</a:t>
            </a:r>
            <a:r>
              <a:rPr spc="-15" dirty="0"/>
              <a:t> </a:t>
            </a:r>
            <a:r>
              <a:rPr spc="-10" dirty="0"/>
              <a:t>Department</a:t>
            </a:r>
            <a:r>
              <a:rPr dirty="0"/>
              <a:t> of Emerging</a:t>
            </a:r>
            <a:r>
              <a:rPr spc="-5" dirty="0"/>
              <a:t> </a:t>
            </a:r>
            <a:r>
              <a:rPr spc="-25" dirty="0"/>
              <a:t>Technologies</a:t>
            </a:r>
            <a:r>
              <a:rPr spc="5" dirty="0"/>
              <a:t> </a:t>
            </a:r>
            <a:r>
              <a:rPr dirty="0"/>
              <a:t>|</a:t>
            </a:r>
            <a:r>
              <a:rPr spc="-5" dirty="0"/>
              <a:t> </a:t>
            </a:r>
            <a:r>
              <a:rPr spc="-10" dirty="0"/>
              <a:t>Application</a:t>
            </a:r>
            <a:r>
              <a:rPr spc="-15" dirty="0"/>
              <a:t> </a:t>
            </a:r>
            <a:r>
              <a:rPr spc="-20" dirty="0"/>
              <a:t>Development-</a:t>
            </a:r>
            <a:r>
              <a:rPr dirty="0"/>
              <a:t>II</a:t>
            </a:r>
            <a:r>
              <a:rPr spc="10" dirty="0"/>
              <a:t> </a:t>
            </a:r>
            <a:r>
              <a:rPr dirty="0"/>
              <a:t>PPT|</a:t>
            </a:r>
            <a:r>
              <a:rPr spc="-20" dirty="0"/>
              <a:t> </a:t>
            </a:r>
            <a:r>
              <a:rPr dirty="0"/>
              <a:t>III</a:t>
            </a:r>
            <a:r>
              <a:rPr spc="-20" dirty="0"/>
              <a:t> Year</a:t>
            </a:r>
            <a:r>
              <a:rPr dirty="0"/>
              <a:t> </a:t>
            </a:r>
            <a:r>
              <a:rPr spc="-55" dirty="0"/>
              <a:t>B.Tech-</a:t>
            </a:r>
            <a:r>
              <a:rPr dirty="0"/>
              <a:t>II</a:t>
            </a:r>
            <a:r>
              <a:rPr spc="-15" dirty="0"/>
              <a:t> </a:t>
            </a:r>
            <a:r>
              <a:rPr spc="-10" dirty="0"/>
              <a:t>Semester</a:t>
            </a:r>
          </a:p>
        </p:txBody>
      </p:sp>
      <p:sp>
        <p:nvSpPr>
          <p:cNvPr id="11" name="object 11"/>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spc="-50" dirty="0"/>
              <a:t>14</a:t>
            </a:fld>
            <a:endParaRPr spc="-50" dirty="0"/>
          </a:p>
        </p:txBody>
      </p:sp>
      <p:sp>
        <p:nvSpPr>
          <p:cNvPr id="12" name="object 12"/>
          <p:cNvSpPr txBox="1"/>
          <p:nvPr/>
        </p:nvSpPr>
        <p:spPr>
          <a:xfrm>
            <a:off x="919988" y="6546615"/>
            <a:ext cx="10353040" cy="261620"/>
          </a:xfrm>
          <a:prstGeom prst="rect">
            <a:avLst/>
          </a:prstGeom>
        </p:spPr>
        <p:txBody>
          <a:bodyPr vert="horz" wrap="square" lIns="0" tIns="1905" rIns="0" bIns="0" rtlCol="0">
            <a:spAutoFit/>
          </a:bodyPr>
          <a:lstStyle/>
          <a:p>
            <a:pPr marL="12700">
              <a:lnSpc>
                <a:spcPct val="100000"/>
              </a:lnSpc>
              <a:spcBef>
                <a:spcPts val="15"/>
              </a:spcBef>
            </a:pPr>
            <a:r>
              <a:rPr sz="1600" b="1" spc="-10" dirty="0">
                <a:latin typeface="Arial"/>
                <a:cs typeface="Arial"/>
              </a:rPr>
              <a:t>B.Tech</a:t>
            </a:r>
            <a:r>
              <a:rPr sz="1600" b="1" spc="-30" dirty="0">
                <a:latin typeface="Arial"/>
                <a:cs typeface="Arial"/>
              </a:rPr>
              <a:t> </a:t>
            </a:r>
            <a:r>
              <a:rPr sz="1600" b="1" spc="50" dirty="0">
                <a:latin typeface="Arial"/>
                <a:cs typeface="Arial"/>
              </a:rPr>
              <a:t>III</a:t>
            </a:r>
            <a:r>
              <a:rPr sz="1600" b="1" spc="-20" dirty="0">
                <a:latin typeface="Arial"/>
                <a:cs typeface="Arial"/>
              </a:rPr>
              <a:t> </a:t>
            </a:r>
            <a:r>
              <a:rPr sz="1600" b="1" dirty="0">
                <a:latin typeface="Arial"/>
                <a:cs typeface="Arial"/>
              </a:rPr>
              <a:t>Year</a:t>
            </a:r>
            <a:r>
              <a:rPr sz="1600" b="1" spc="-25" dirty="0">
                <a:latin typeface="Arial"/>
                <a:cs typeface="Arial"/>
              </a:rPr>
              <a:t> </a:t>
            </a:r>
            <a:r>
              <a:rPr sz="1600" b="1" spc="-95" dirty="0">
                <a:latin typeface="Arial"/>
                <a:cs typeface="Arial"/>
              </a:rPr>
              <a:t>–</a:t>
            </a:r>
            <a:r>
              <a:rPr sz="1600" b="1" spc="-5" dirty="0">
                <a:latin typeface="Arial"/>
                <a:cs typeface="Arial"/>
              </a:rPr>
              <a:t> </a:t>
            </a:r>
            <a:r>
              <a:rPr sz="1600" b="1" spc="50" dirty="0">
                <a:latin typeface="Arial"/>
                <a:cs typeface="Arial"/>
              </a:rPr>
              <a:t>II</a:t>
            </a:r>
            <a:r>
              <a:rPr sz="1600" b="1" spc="-20" dirty="0">
                <a:latin typeface="Arial"/>
                <a:cs typeface="Arial"/>
              </a:rPr>
              <a:t> </a:t>
            </a:r>
            <a:r>
              <a:rPr sz="1600" b="1" dirty="0">
                <a:latin typeface="Arial"/>
                <a:cs typeface="Arial"/>
              </a:rPr>
              <a:t>Sem</a:t>
            </a:r>
            <a:r>
              <a:rPr sz="1600" b="1" spc="-25" dirty="0">
                <a:latin typeface="Arial"/>
                <a:cs typeface="Arial"/>
              </a:rPr>
              <a:t> </a:t>
            </a:r>
            <a:r>
              <a:rPr sz="1600" b="1" dirty="0">
                <a:latin typeface="Arial"/>
                <a:cs typeface="Arial"/>
              </a:rPr>
              <a:t>|</a:t>
            </a:r>
            <a:r>
              <a:rPr sz="1600" b="1" spc="-15" dirty="0">
                <a:latin typeface="Arial"/>
                <a:cs typeface="Arial"/>
              </a:rPr>
              <a:t> </a:t>
            </a:r>
            <a:r>
              <a:rPr sz="1600" b="1" dirty="0">
                <a:latin typeface="Arial"/>
                <a:cs typeface="Arial"/>
              </a:rPr>
              <a:t>Dept</a:t>
            </a:r>
            <a:r>
              <a:rPr sz="1600" b="1" spc="-20" dirty="0">
                <a:latin typeface="Arial"/>
                <a:cs typeface="Arial"/>
              </a:rPr>
              <a:t> </a:t>
            </a:r>
            <a:r>
              <a:rPr sz="1600" b="1" dirty="0">
                <a:latin typeface="Arial"/>
                <a:cs typeface="Arial"/>
              </a:rPr>
              <a:t>of</a:t>
            </a:r>
            <a:r>
              <a:rPr sz="1600" b="1" spc="190" dirty="0">
                <a:latin typeface="Arial"/>
                <a:cs typeface="Arial"/>
              </a:rPr>
              <a:t> </a:t>
            </a:r>
            <a:r>
              <a:rPr sz="1600" b="1" dirty="0">
                <a:latin typeface="Arial"/>
                <a:cs typeface="Arial"/>
              </a:rPr>
              <a:t>Computational</a:t>
            </a:r>
            <a:r>
              <a:rPr sz="1600" b="1" spc="-25" dirty="0">
                <a:latin typeface="Arial"/>
                <a:cs typeface="Arial"/>
              </a:rPr>
              <a:t> </a:t>
            </a:r>
            <a:r>
              <a:rPr sz="1600" b="1" dirty="0">
                <a:latin typeface="Arial"/>
                <a:cs typeface="Arial"/>
              </a:rPr>
              <a:t>Intelligence|</a:t>
            </a:r>
            <a:r>
              <a:rPr sz="1600" b="1" spc="-25" dirty="0">
                <a:latin typeface="Arial"/>
                <a:cs typeface="Arial"/>
              </a:rPr>
              <a:t> </a:t>
            </a:r>
            <a:r>
              <a:rPr sz="1600" b="1" dirty="0">
                <a:latin typeface="Arial"/>
                <a:cs typeface="Arial"/>
              </a:rPr>
              <a:t>Application</a:t>
            </a:r>
            <a:r>
              <a:rPr sz="1600" b="1" spc="-35" dirty="0">
                <a:latin typeface="Arial"/>
                <a:cs typeface="Arial"/>
              </a:rPr>
              <a:t> </a:t>
            </a:r>
            <a:r>
              <a:rPr sz="1600" b="1" dirty="0">
                <a:latin typeface="Arial"/>
                <a:cs typeface="Arial"/>
              </a:rPr>
              <a:t>Development</a:t>
            </a:r>
            <a:r>
              <a:rPr sz="1600" b="1" spc="5" dirty="0">
                <a:latin typeface="Arial"/>
                <a:cs typeface="Arial"/>
              </a:rPr>
              <a:t> </a:t>
            </a:r>
            <a:r>
              <a:rPr sz="1600" b="1" spc="-95" dirty="0">
                <a:latin typeface="Arial"/>
                <a:cs typeface="Arial"/>
              </a:rPr>
              <a:t>–</a:t>
            </a:r>
            <a:r>
              <a:rPr sz="1600" b="1" spc="-10" dirty="0">
                <a:latin typeface="Arial"/>
                <a:cs typeface="Arial"/>
              </a:rPr>
              <a:t> </a:t>
            </a:r>
            <a:r>
              <a:rPr sz="1600" b="1" spc="50" dirty="0">
                <a:latin typeface="Arial"/>
                <a:cs typeface="Arial"/>
              </a:rPr>
              <a:t>II</a:t>
            </a:r>
            <a:r>
              <a:rPr sz="1600" b="1" spc="-15" dirty="0">
                <a:latin typeface="Arial"/>
                <a:cs typeface="Arial"/>
              </a:rPr>
              <a:t> </a:t>
            </a:r>
            <a:r>
              <a:rPr sz="1600" b="1" dirty="0">
                <a:latin typeface="Arial"/>
                <a:cs typeface="Arial"/>
              </a:rPr>
              <a:t>|</a:t>
            </a:r>
            <a:r>
              <a:rPr sz="1600" b="1" spc="-5" dirty="0">
                <a:latin typeface="Arial"/>
                <a:cs typeface="Arial"/>
              </a:rPr>
              <a:t> </a:t>
            </a:r>
            <a:r>
              <a:rPr sz="1600" b="1" dirty="0">
                <a:latin typeface="Arial"/>
                <a:cs typeface="Arial"/>
              </a:rPr>
              <a:t>Project</a:t>
            </a:r>
            <a:r>
              <a:rPr sz="1600" b="1" spc="-30" dirty="0">
                <a:latin typeface="Arial"/>
                <a:cs typeface="Arial"/>
              </a:rPr>
              <a:t> </a:t>
            </a:r>
            <a:r>
              <a:rPr sz="1600" b="1" spc="-10" dirty="0">
                <a:latin typeface="Arial"/>
                <a:cs typeface="Arial"/>
              </a:rPr>
              <a:t>Review</a:t>
            </a:r>
            <a:endParaRPr sz="1600">
              <a:latin typeface="Arial"/>
              <a:cs typeface="Arial"/>
            </a:endParaRPr>
          </a:p>
        </p:txBody>
      </p:sp>
    </p:spTree>
    <p:extLst>
      <p:ext uri="{BB962C8B-B14F-4D97-AF65-F5344CB8AC3E}">
        <p14:creationId xmlns:p14="http://schemas.microsoft.com/office/powerpoint/2010/main" val="317949519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10493502" y="0"/>
            <a:ext cx="1698625" cy="898525"/>
            <a:chOff x="10493502" y="0"/>
            <a:chExt cx="1698625" cy="898525"/>
          </a:xfrm>
        </p:grpSpPr>
        <p:pic>
          <p:nvPicPr>
            <p:cNvPr id="3" name="object 3"/>
            <p:cNvPicPr/>
            <p:nvPr/>
          </p:nvPicPr>
          <p:blipFill>
            <a:blip r:embed="rId2" cstate="print"/>
            <a:stretch>
              <a:fillRect/>
            </a:stretch>
          </p:blipFill>
          <p:spPr>
            <a:xfrm>
              <a:off x="11353800" y="0"/>
              <a:ext cx="822198" cy="822198"/>
            </a:xfrm>
            <a:prstGeom prst="rect">
              <a:avLst/>
            </a:prstGeom>
          </p:spPr>
        </p:pic>
        <p:pic>
          <p:nvPicPr>
            <p:cNvPr id="4" name="object 4"/>
            <p:cNvPicPr/>
            <p:nvPr/>
          </p:nvPicPr>
          <p:blipFill>
            <a:blip r:embed="rId3" cstate="print"/>
            <a:stretch>
              <a:fillRect/>
            </a:stretch>
          </p:blipFill>
          <p:spPr>
            <a:xfrm>
              <a:off x="10493502" y="0"/>
              <a:ext cx="1698498" cy="898398"/>
            </a:xfrm>
            <a:prstGeom prst="rect">
              <a:avLst/>
            </a:prstGeom>
          </p:spPr>
        </p:pic>
      </p:grpSp>
      <p:sp>
        <p:nvSpPr>
          <p:cNvPr id="5" name="object 5" descr="$PPTXTitle"/>
          <p:cNvSpPr txBox="1">
            <a:spLocks noGrp="1"/>
          </p:cNvSpPr>
          <p:nvPr>
            <p:ph type="title"/>
          </p:nvPr>
        </p:nvSpPr>
        <p:spPr>
          <a:xfrm>
            <a:off x="851161" y="315869"/>
            <a:ext cx="7835639" cy="689932"/>
          </a:xfrm>
          <a:prstGeom prst="rect">
            <a:avLst/>
          </a:prstGeom>
        </p:spPr>
        <p:txBody>
          <a:bodyPr vert="horz" wrap="square" lIns="0" tIns="12700" rIns="0" bIns="0" rtlCol="0">
            <a:spAutoFit/>
          </a:bodyPr>
          <a:lstStyle/>
          <a:p>
            <a:pPr marL="12700">
              <a:lnSpc>
                <a:spcPct val="100000"/>
              </a:lnSpc>
              <a:spcBef>
                <a:spcPts val="100"/>
              </a:spcBef>
            </a:pPr>
            <a:r>
              <a:rPr lang="en-US" spc="-10" dirty="0" smtClean="0"/>
              <a:t>Implementation – Module 1</a:t>
            </a:r>
            <a:endParaRPr spc="-10" dirty="0"/>
          </a:p>
        </p:txBody>
      </p:sp>
      <p:sp>
        <p:nvSpPr>
          <p:cNvPr id="6" name="object 6"/>
          <p:cNvSpPr txBox="1"/>
          <p:nvPr/>
        </p:nvSpPr>
        <p:spPr>
          <a:xfrm>
            <a:off x="851161" y="1055946"/>
            <a:ext cx="10360025" cy="704424"/>
          </a:xfrm>
          <a:prstGeom prst="rect">
            <a:avLst/>
          </a:prstGeom>
        </p:spPr>
        <p:txBody>
          <a:bodyPr vert="horz" wrap="square" lIns="0" tIns="66675" rIns="0" bIns="0" rtlCol="0">
            <a:spAutoFit/>
          </a:bodyPr>
          <a:lstStyle/>
          <a:p>
            <a:pPr marL="12700" marR="5080" algn="just">
              <a:lnSpc>
                <a:spcPct val="90100"/>
              </a:lnSpc>
              <a:spcBef>
                <a:spcPts val="525"/>
              </a:spcBef>
            </a:pPr>
            <a:r>
              <a:rPr lang="en-IN" sz="4600" dirty="0" smtClean="0">
                <a:latin typeface="Times New Roman" panose="02020603050405020304" pitchFamily="18" charset="0"/>
                <a:cs typeface="Times New Roman" panose="02020603050405020304" pitchFamily="18" charset="0"/>
              </a:rPr>
              <a:t>T</a:t>
            </a:r>
            <a:endParaRPr sz="4600" dirty="0">
              <a:latin typeface="Times New Roman" panose="02020603050405020304" pitchFamily="18" charset="0"/>
              <a:cs typeface="Times New Roman" panose="02020603050405020304" pitchFamily="18" charset="0"/>
            </a:endParaRPr>
          </a:p>
        </p:txBody>
      </p:sp>
      <p:grpSp>
        <p:nvGrpSpPr>
          <p:cNvPr id="7" name="object 7"/>
          <p:cNvGrpSpPr/>
          <p:nvPr/>
        </p:nvGrpSpPr>
        <p:grpSpPr>
          <a:xfrm>
            <a:off x="-6095" y="6470903"/>
            <a:ext cx="12204700" cy="393700"/>
            <a:chOff x="-6095" y="6470903"/>
            <a:chExt cx="12204700" cy="393700"/>
          </a:xfrm>
        </p:grpSpPr>
        <p:sp>
          <p:nvSpPr>
            <p:cNvPr id="8" name="object 8"/>
            <p:cNvSpPr/>
            <p:nvPr/>
          </p:nvSpPr>
          <p:spPr>
            <a:xfrm>
              <a:off x="381" y="6477380"/>
              <a:ext cx="12192000" cy="381000"/>
            </a:xfrm>
            <a:custGeom>
              <a:avLst/>
              <a:gdLst/>
              <a:ahLst/>
              <a:cxnLst/>
              <a:rect l="l" t="t" r="r" b="b"/>
              <a:pathLst>
                <a:path w="12192000" h="381000">
                  <a:moveTo>
                    <a:pt x="12191619" y="0"/>
                  </a:moveTo>
                  <a:lnTo>
                    <a:pt x="0" y="0"/>
                  </a:lnTo>
                  <a:lnTo>
                    <a:pt x="0" y="380619"/>
                  </a:lnTo>
                  <a:lnTo>
                    <a:pt x="12191619" y="380619"/>
                  </a:lnTo>
                  <a:lnTo>
                    <a:pt x="12191619" y="0"/>
                  </a:lnTo>
                  <a:close/>
                </a:path>
              </a:pathLst>
            </a:custGeom>
            <a:solidFill>
              <a:srgbClr val="5B9BD4"/>
            </a:solidFill>
          </p:spPr>
          <p:txBody>
            <a:bodyPr wrap="square" lIns="0" tIns="0" rIns="0" bIns="0" rtlCol="0"/>
            <a:lstStyle/>
            <a:p>
              <a:endParaRPr/>
            </a:p>
          </p:txBody>
        </p:sp>
        <p:sp>
          <p:nvSpPr>
            <p:cNvPr id="9" name="object 9"/>
            <p:cNvSpPr/>
            <p:nvPr/>
          </p:nvSpPr>
          <p:spPr>
            <a:xfrm>
              <a:off x="381" y="6477380"/>
              <a:ext cx="12192000" cy="381000"/>
            </a:xfrm>
            <a:custGeom>
              <a:avLst/>
              <a:gdLst/>
              <a:ahLst/>
              <a:cxnLst/>
              <a:rect l="l" t="t" r="r" b="b"/>
              <a:pathLst>
                <a:path w="12192000" h="381000">
                  <a:moveTo>
                    <a:pt x="12191619" y="0"/>
                  </a:moveTo>
                  <a:lnTo>
                    <a:pt x="0" y="0"/>
                  </a:lnTo>
                  <a:lnTo>
                    <a:pt x="0" y="380619"/>
                  </a:lnTo>
                </a:path>
              </a:pathLst>
            </a:custGeom>
            <a:ln w="12953">
              <a:solidFill>
                <a:srgbClr val="41709C"/>
              </a:solidFill>
            </a:ln>
          </p:spPr>
          <p:txBody>
            <a:bodyPr wrap="square" lIns="0" tIns="0" rIns="0" bIns="0" rtlCol="0"/>
            <a:lstStyle/>
            <a:p>
              <a:endParaRPr/>
            </a:p>
          </p:txBody>
        </p:sp>
      </p:grpSp>
      <p:sp>
        <p:nvSpPr>
          <p:cNvPr id="10" name="object 10"/>
          <p:cNvSpPr txBox="1">
            <a:spLocks noGrp="1"/>
          </p:cNvSpPr>
          <p:nvPr>
            <p:ph type="ftr" sz="quarter" idx="5"/>
          </p:nvPr>
        </p:nvSpPr>
        <p:spPr>
          <a:prstGeom prst="rect">
            <a:avLst/>
          </a:prstGeom>
        </p:spPr>
        <p:txBody>
          <a:bodyPr vert="horz" wrap="square" lIns="0" tIns="0" rIns="0" bIns="0" rtlCol="0">
            <a:spAutoFit/>
          </a:bodyPr>
          <a:lstStyle/>
          <a:p>
            <a:pPr marL="12700">
              <a:lnSpc>
                <a:spcPts val="1710"/>
              </a:lnSpc>
            </a:pPr>
            <a:r>
              <a:rPr dirty="0"/>
              <a:t>MRCET</a:t>
            </a:r>
            <a:r>
              <a:rPr spc="-15" dirty="0"/>
              <a:t> </a:t>
            </a:r>
            <a:r>
              <a:rPr dirty="0"/>
              <a:t>|</a:t>
            </a:r>
            <a:r>
              <a:rPr spc="-15" dirty="0"/>
              <a:t> </a:t>
            </a:r>
            <a:r>
              <a:rPr spc="-10" dirty="0"/>
              <a:t>Department</a:t>
            </a:r>
            <a:r>
              <a:rPr dirty="0"/>
              <a:t> of Emerging</a:t>
            </a:r>
            <a:r>
              <a:rPr spc="-5" dirty="0"/>
              <a:t> </a:t>
            </a:r>
            <a:r>
              <a:rPr spc="-25" dirty="0"/>
              <a:t>Technologies</a:t>
            </a:r>
            <a:r>
              <a:rPr spc="5" dirty="0"/>
              <a:t> </a:t>
            </a:r>
            <a:r>
              <a:rPr dirty="0"/>
              <a:t>|</a:t>
            </a:r>
            <a:r>
              <a:rPr spc="-5" dirty="0"/>
              <a:t> </a:t>
            </a:r>
            <a:r>
              <a:rPr spc="-10" dirty="0"/>
              <a:t>Application</a:t>
            </a:r>
            <a:r>
              <a:rPr spc="-15" dirty="0"/>
              <a:t> </a:t>
            </a:r>
            <a:r>
              <a:rPr spc="-20" dirty="0"/>
              <a:t>Development-</a:t>
            </a:r>
            <a:r>
              <a:rPr dirty="0"/>
              <a:t>II</a:t>
            </a:r>
            <a:r>
              <a:rPr spc="10" dirty="0"/>
              <a:t> </a:t>
            </a:r>
            <a:r>
              <a:rPr dirty="0"/>
              <a:t>PPT|</a:t>
            </a:r>
            <a:r>
              <a:rPr spc="-20" dirty="0"/>
              <a:t> </a:t>
            </a:r>
            <a:r>
              <a:rPr dirty="0"/>
              <a:t>III</a:t>
            </a:r>
            <a:r>
              <a:rPr spc="-20" dirty="0"/>
              <a:t> Year</a:t>
            </a:r>
            <a:r>
              <a:rPr dirty="0"/>
              <a:t> </a:t>
            </a:r>
            <a:r>
              <a:rPr spc="-55" dirty="0"/>
              <a:t>B.Tech-</a:t>
            </a:r>
            <a:r>
              <a:rPr dirty="0"/>
              <a:t>II</a:t>
            </a:r>
            <a:r>
              <a:rPr spc="-15" dirty="0"/>
              <a:t> </a:t>
            </a:r>
            <a:r>
              <a:rPr spc="-10" dirty="0"/>
              <a:t>Semester</a:t>
            </a:r>
          </a:p>
        </p:txBody>
      </p:sp>
      <p:sp>
        <p:nvSpPr>
          <p:cNvPr id="11" name="object 11"/>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spc="-50" dirty="0"/>
              <a:t>15</a:t>
            </a:fld>
            <a:endParaRPr spc="-50" dirty="0"/>
          </a:p>
        </p:txBody>
      </p:sp>
      <p:sp>
        <p:nvSpPr>
          <p:cNvPr id="12" name="object 12"/>
          <p:cNvSpPr txBox="1"/>
          <p:nvPr/>
        </p:nvSpPr>
        <p:spPr>
          <a:xfrm>
            <a:off x="919988" y="6546615"/>
            <a:ext cx="10353040" cy="261620"/>
          </a:xfrm>
          <a:prstGeom prst="rect">
            <a:avLst/>
          </a:prstGeom>
        </p:spPr>
        <p:txBody>
          <a:bodyPr vert="horz" wrap="square" lIns="0" tIns="1905" rIns="0" bIns="0" rtlCol="0">
            <a:spAutoFit/>
          </a:bodyPr>
          <a:lstStyle/>
          <a:p>
            <a:pPr marL="12700">
              <a:lnSpc>
                <a:spcPct val="100000"/>
              </a:lnSpc>
              <a:spcBef>
                <a:spcPts val="15"/>
              </a:spcBef>
            </a:pPr>
            <a:r>
              <a:rPr sz="1600" b="1" spc="-10" dirty="0">
                <a:latin typeface="Arial"/>
                <a:cs typeface="Arial"/>
              </a:rPr>
              <a:t>B.Tech</a:t>
            </a:r>
            <a:r>
              <a:rPr sz="1600" b="1" spc="-30" dirty="0">
                <a:latin typeface="Arial"/>
                <a:cs typeface="Arial"/>
              </a:rPr>
              <a:t> </a:t>
            </a:r>
            <a:r>
              <a:rPr sz="1600" b="1" spc="50" dirty="0">
                <a:latin typeface="Arial"/>
                <a:cs typeface="Arial"/>
              </a:rPr>
              <a:t>III</a:t>
            </a:r>
            <a:r>
              <a:rPr sz="1600" b="1" spc="-20" dirty="0">
                <a:latin typeface="Arial"/>
                <a:cs typeface="Arial"/>
              </a:rPr>
              <a:t> </a:t>
            </a:r>
            <a:r>
              <a:rPr sz="1600" b="1" dirty="0">
                <a:latin typeface="Arial"/>
                <a:cs typeface="Arial"/>
              </a:rPr>
              <a:t>Year</a:t>
            </a:r>
            <a:r>
              <a:rPr sz="1600" b="1" spc="-25" dirty="0">
                <a:latin typeface="Arial"/>
                <a:cs typeface="Arial"/>
              </a:rPr>
              <a:t> </a:t>
            </a:r>
            <a:r>
              <a:rPr sz="1600" b="1" spc="-95" dirty="0">
                <a:latin typeface="Arial"/>
                <a:cs typeface="Arial"/>
              </a:rPr>
              <a:t>–</a:t>
            </a:r>
            <a:r>
              <a:rPr sz="1600" b="1" spc="-5" dirty="0">
                <a:latin typeface="Arial"/>
                <a:cs typeface="Arial"/>
              </a:rPr>
              <a:t> </a:t>
            </a:r>
            <a:r>
              <a:rPr sz="1600" b="1" spc="50" dirty="0">
                <a:latin typeface="Arial"/>
                <a:cs typeface="Arial"/>
              </a:rPr>
              <a:t>II</a:t>
            </a:r>
            <a:r>
              <a:rPr sz="1600" b="1" spc="-20" dirty="0">
                <a:latin typeface="Arial"/>
                <a:cs typeface="Arial"/>
              </a:rPr>
              <a:t> </a:t>
            </a:r>
            <a:r>
              <a:rPr sz="1600" b="1" dirty="0">
                <a:latin typeface="Arial"/>
                <a:cs typeface="Arial"/>
              </a:rPr>
              <a:t>Sem</a:t>
            </a:r>
            <a:r>
              <a:rPr sz="1600" b="1" spc="-25" dirty="0">
                <a:latin typeface="Arial"/>
                <a:cs typeface="Arial"/>
              </a:rPr>
              <a:t> </a:t>
            </a:r>
            <a:r>
              <a:rPr sz="1600" b="1" dirty="0">
                <a:latin typeface="Arial"/>
                <a:cs typeface="Arial"/>
              </a:rPr>
              <a:t>|</a:t>
            </a:r>
            <a:r>
              <a:rPr sz="1600" b="1" spc="-15" dirty="0">
                <a:latin typeface="Arial"/>
                <a:cs typeface="Arial"/>
              </a:rPr>
              <a:t> </a:t>
            </a:r>
            <a:r>
              <a:rPr sz="1600" b="1" dirty="0">
                <a:latin typeface="Arial"/>
                <a:cs typeface="Arial"/>
              </a:rPr>
              <a:t>Dept</a:t>
            </a:r>
            <a:r>
              <a:rPr sz="1600" b="1" spc="-20" dirty="0">
                <a:latin typeface="Arial"/>
                <a:cs typeface="Arial"/>
              </a:rPr>
              <a:t> </a:t>
            </a:r>
            <a:r>
              <a:rPr sz="1600" b="1" dirty="0">
                <a:latin typeface="Arial"/>
                <a:cs typeface="Arial"/>
              </a:rPr>
              <a:t>of</a:t>
            </a:r>
            <a:r>
              <a:rPr sz="1600" b="1" spc="190" dirty="0">
                <a:latin typeface="Arial"/>
                <a:cs typeface="Arial"/>
              </a:rPr>
              <a:t> </a:t>
            </a:r>
            <a:r>
              <a:rPr sz="1600" b="1" dirty="0">
                <a:latin typeface="Arial"/>
                <a:cs typeface="Arial"/>
              </a:rPr>
              <a:t>Computational</a:t>
            </a:r>
            <a:r>
              <a:rPr sz="1600" b="1" spc="-25" dirty="0">
                <a:latin typeface="Arial"/>
                <a:cs typeface="Arial"/>
              </a:rPr>
              <a:t> </a:t>
            </a:r>
            <a:r>
              <a:rPr sz="1600" b="1" dirty="0">
                <a:latin typeface="Arial"/>
                <a:cs typeface="Arial"/>
              </a:rPr>
              <a:t>Intelligence|</a:t>
            </a:r>
            <a:r>
              <a:rPr sz="1600" b="1" spc="-25" dirty="0">
                <a:latin typeface="Arial"/>
                <a:cs typeface="Arial"/>
              </a:rPr>
              <a:t> </a:t>
            </a:r>
            <a:r>
              <a:rPr sz="1600" b="1" dirty="0">
                <a:latin typeface="Arial"/>
                <a:cs typeface="Arial"/>
              </a:rPr>
              <a:t>Application</a:t>
            </a:r>
            <a:r>
              <a:rPr sz="1600" b="1" spc="-35" dirty="0">
                <a:latin typeface="Arial"/>
                <a:cs typeface="Arial"/>
              </a:rPr>
              <a:t> </a:t>
            </a:r>
            <a:r>
              <a:rPr sz="1600" b="1" dirty="0">
                <a:latin typeface="Arial"/>
                <a:cs typeface="Arial"/>
              </a:rPr>
              <a:t>Development</a:t>
            </a:r>
            <a:r>
              <a:rPr sz="1600" b="1" spc="5" dirty="0">
                <a:latin typeface="Arial"/>
                <a:cs typeface="Arial"/>
              </a:rPr>
              <a:t> </a:t>
            </a:r>
            <a:r>
              <a:rPr sz="1600" b="1" spc="-95" dirty="0">
                <a:latin typeface="Arial"/>
                <a:cs typeface="Arial"/>
              </a:rPr>
              <a:t>–</a:t>
            </a:r>
            <a:r>
              <a:rPr sz="1600" b="1" spc="-10" dirty="0">
                <a:latin typeface="Arial"/>
                <a:cs typeface="Arial"/>
              </a:rPr>
              <a:t> </a:t>
            </a:r>
            <a:r>
              <a:rPr sz="1600" b="1" spc="50" dirty="0">
                <a:latin typeface="Arial"/>
                <a:cs typeface="Arial"/>
              </a:rPr>
              <a:t>II</a:t>
            </a:r>
            <a:r>
              <a:rPr sz="1600" b="1" spc="-15" dirty="0">
                <a:latin typeface="Arial"/>
                <a:cs typeface="Arial"/>
              </a:rPr>
              <a:t> </a:t>
            </a:r>
            <a:r>
              <a:rPr sz="1600" b="1" dirty="0">
                <a:latin typeface="Arial"/>
                <a:cs typeface="Arial"/>
              </a:rPr>
              <a:t>|</a:t>
            </a:r>
            <a:r>
              <a:rPr sz="1600" b="1" spc="-5" dirty="0">
                <a:latin typeface="Arial"/>
                <a:cs typeface="Arial"/>
              </a:rPr>
              <a:t> </a:t>
            </a:r>
            <a:r>
              <a:rPr sz="1600" b="1" dirty="0">
                <a:latin typeface="Arial"/>
                <a:cs typeface="Arial"/>
              </a:rPr>
              <a:t>Project</a:t>
            </a:r>
            <a:r>
              <a:rPr sz="1600" b="1" spc="-30" dirty="0">
                <a:latin typeface="Arial"/>
                <a:cs typeface="Arial"/>
              </a:rPr>
              <a:t> </a:t>
            </a:r>
            <a:r>
              <a:rPr sz="1600" b="1" spc="-10" dirty="0">
                <a:latin typeface="Arial"/>
                <a:cs typeface="Arial"/>
              </a:rPr>
              <a:t>Review</a:t>
            </a:r>
            <a:endParaRPr sz="1600">
              <a:latin typeface="Arial"/>
              <a:cs typeface="Arial"/>
            </a:endParaRPr>
          </a:p>
        </p:txBody>
      </p:sp>
    </p:spTree>
    <p:extLst>
      <p:ext uri="{BB962C8B-B14F-4D97-AF65-F5344CB8AC3E}">
        <p14:creationId xmlns:p14="http://schemas.microsoft.com/office/powerpoint/2010/main" val="83647033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10493502" y="0"/>
            <a:ext cx="1698625" cy="898525"/>
            <a:chOff x="10493502" y="0"/>
            <a:chExt cx="1698625" cy="898525"/>
          </a:xfrm>
        </p:grpSpPr>
        <p:pic>
          <p:nvPicPr>
            <p:cNvPr id="3" name="object 3"/>
            <p:cNvPicPr/>
            <p:nvPr/>
          </p:nvPicPr>
          <p:blipFill>
            <a:blip r:embed="rId2" cstate="print"/>
            <a:stretch>
              <a:fillRect/>
            </a:stretch>
          </p:blipFill>
          <p:spPr>
            <a:xfrm>
              <a:off x="11353800" y="0"/>
              <a:ext cx="822198" cy="822198"/>
            </a:xfrm>
            <a:prstGeom prst="rect">
              <a:avLst/>
            </a:prstGeom>
          </p:spPr>
        </p:pic>
        <p:pic>
          <p:nvPicPr>
            <p:cNvPr id="4" name="object 4"/>
            <p:cNvPicPr/>
            <p:nvPr/>
          </p:nvPicPr>
          <p:blipFill>
            <a:blip r:embed="rId3" cstate="print"/>
            <a:stretch>
              <a:fillRect/>
            </a:stretch>
          </p:blipFill>
          <p:spPr>
            <a:xfrm>
              <a:off x="10493502" y="0"/>
              <a:ext cx="1698498" cy="898398"/>
            </a:xfrm>
            <a:prstGeom prst="rect">
              <a:avLst/>
            </a:prstGeom>
          </p:spPr>
        </p:pic>
      </p:grpSp>
      <p:sp>
        <p:nvSpPr>
          <p:cNvPr id="5" name="object 5" descr="$PPTXTitle"/>
          <p:cNvSpPr txBox="1">
            <a:spLocks noGrp="1"/>
          </p:cNvSpPr>
          <p:nvPr>
            <p:ph type="title"/>
          </p:nvPr>
        </p:nvSpPr>
        <p:spPr>
          <a:xfrm>
            <a:off x="851161" y="315869"/>
            <a:ext cx="7835639" cy="689932"/>
          </a:xfrm>
          <a:prstGeom prst="rect">
            <a:avLst/>
          </a:prstGeom>
        </p:spPr>
        <p:txBody>
          <a:bodyPr vert="horz" wrap="square" lIns="0" tIns="12700" rIns="0" bIns="0" rtlCol="0">
            <a:spAutoFit/>
          </a:bodyPr>
          <a:lstStyle/>
          <a:p>
            <a:pPr marL="12700">
              <a:lnSpc>
                <a:spcPct val="100000"/>
              </a:lnSpc>
              <a:spcBef>
                <a:spcPts val="100"/>
              </a:spcBef>
            </a:pPr>
            <a:r>
              <a:rPr lang="en-US" spc="-10" dirty="0" smtClean="0"/>
              <a:t>Implementation – Module 2</a:t>
            </a:r>
            <a:endParaRPr spc="-10" dirty="0"/>
          </a:p>
        </p:txBody>
      </p:sp>
      <p:sp>
        <p:nvSpPr>
          <p:cNvPr id="6" name="object 6"/>
          <p:cNvSpPr txBox="1"/>
          <p:nvPr/>
        </p:nvSpPr>
        <p:spPr>
          <a:xfrm>
            <a:off x="851161" y="1055946"/>
            <a:ext cx="10360025" cy="704424"/>
          </a:xfrm>
          <a:prstGeom prst="rect">
            <a:avLst/>
          </a:prstGeom>
        </p:spPr>
        <p:txBody>
          <a:bodyPr vert="horz" wrap="square" lIns="0" tIns="66675" rIns="0" bIns="0" rtlCol="0">
            <a:spAutoFit/>
          </a:bodyPr>
          <a:lstStyle/>
          <a:p>
            <a:pPr marL="12700" marR="5080" algn="just">
              <a:lnSpc>
                <a:spcPct val="90100"/>
              </a:lnSpc>
              <a:spcBef>
                <a:spcPts val="525"/>
              </a:spcBef>
            </a:pPr>
            <a:r>
              <a:rPr lang="en-IN" sz="4600" dirty="0" smtClean="0">
                <a:latin typeface="Times New Roman" panose="02020603050405020304" pitchFamily="18" charset="0"/>
                <a:cs typeface="Times New Roman" panose="02020603050405020304" pitchFamily="18" charset="0"/>
              </a:rPr>
              <a:t>T</a:t>
            </a:r>
            <a:endParaRPr sz="4600" dirty="0">
              <a:latin typeface="Times New Roman" panose="02020603050405020304" pitchFamily="18" charset="0"/>
              <a:cs typeface="Times New Roman" panose="02020603050405020304" pitchFamily="18" charset="0"/>
            </a:endParaRPr>
          </a:p>
        </p:txBody>
      </p:sp>
      <p:grpSp>
        <p:nvGrpSpPr>
          <p:cNvPr id="7" name="object 7"/>
          <p:cNvGrpSpPr/>
          <p:nvPr/>
        </p:nvGrpSpPr>
        <p:grpSpPr>
          <a:xfrm>
            <a:off x="-6095" y="6470903"/>
            <a:ext cx="12204700" cy="393700"/>
            <a:chOff x="-6095" y="6470903"/>
            <a:chExt cx="12204700" cy="393700"/>
          </a:xfrm>
        </p:grpSpPr>
        <p:sp>
          <p:nvSpPr>
            <p:cNvPr id="8" name="object 8"/>
            <p:cNvSpPr/>
            <p:nvPr/>
          </p:nvSpPr>
          <p:spPr>
            <a:xfrm>
              <a:off x="381" y="6477380"/>
              <a:ext cx="12192000" cy="381000"/>
            </a:xfrm>
            <a:custGeom>
              <a:avLst/>
              <a:gdLst/>
              <a:ahLst/>
              <a:cxnLst/>
              <a:rect l="l" t="t" r="r" b="b"/>
              <a:pathLst>
                <a:path w="12192000" h="381000">
                  <a:moveTo>
                    <a:pt x="12191619" y="0"/>
                  </a:moveTo>
                  <a:lnTo>
                    <a:pt x="0" y="0"/>
                  </a:lnTo>
                  <a:lnTo>
                    <a:pt x="0" y="380619"/>
                  </a:lnTo>
                  <a:lnTo>
                    <a:pt x="12191619" y="380619"/>
                  </a:lnTo>
                  <a:lnTo>
                    <a:pt x="12191619" y="0"/>
                  </a:lnTo>
                  <a:close/>
                </a:path>
              </a:pathLst>
            </a:custGeom>
            <a:solidFill>
              <a:srgbClr val="5B9BD4"/>
            </a:solidFill>
          </p:spPr>
          <p:txBody>
            <a:bodyPr wrap="square" lIns="0" tIns="0" rIns="0" bIns="0" rtlCol="0"/>
            <a:lstStyle/>
            <a:p>
              <a:endParaRPr/>
            </a:p>
          </p:txBody>
        </p:sp>
        <p:sp>
          <p:nvSpPr>
            <p:cNvPr id="9" name="object 9"/>
            <p:cNvSpPr/>
            <p:nvPr/>
          </p:nvSpPr>
          <p:spPr>
            <a:xfrm>
              <a:off x="381" y="6477380"/>
              <a:ext cx="12192000" cy="381000"/>
            </a:xfrm>
            <a:custGeom>
              <a:avLst/>
              <a:gdLst/>
              <a:ahLst/>
              <a:cxnLst/>
              <a:rect l="l" t="t" r="r" b="b"/>
              <a:pathLst>
                <a:path w="12192000" h="381000">
                  <a:moveTo>
                    <a:pt x="12191619" y="0"/>
                  </a:moveTo>
                  <a:lnTo>
                    <a:pt x="0" y="0"/>
                  </a:lnTo>
                  <a:lnTo>
                    <a:pt x="0" y="380619"/>
                  </a:lnTo>
                </a:path>
              </a:pathLst>
            </a:custGeom>
            <a:ln w="12953">
              <a:solidFill>
                <a:srgbClr val="41709C"/>
              </a:solidFill>
            </a:ln>
          </p:spPr>
          <p:txBody>
            <a:bodyPr wrap="square" lIns="0" tIns="0" rIns="0" bIns="0" rtlCol="0"/>
            <a:lstStyle/>
            <a:p>
              <a:endParaRPr/>
            </a:p>
          </p:txBody>
        </p:sp>
      </p:grpSp>
      <p:sp>
        <p:nvSpPr>
          <p:cNvPr id="10" name="object 10"/>
          <p:cNvSpPr txBox="1">
            <a:spLocks noGrp="1"/>
          </p:cNvSpPr>
          <p:nvPr>
            <p:ph type="ftr" sz="quarter" idx="5"/>
          </p:nvPr>
        </p:nvSpPr>
        <p:spPr>
          <a:prstGeom prst="rect">
            <a:avLst/>
          </a:prstGeom>
        </p:spPr>
        <p:txBody>
          <a:bodyPr vert="horz" wrap="square" lIns="0" tIns="0" rIns="0" bIns="0" rtlCol="0">
            <a:spAutoFit/>
          </a:bodyPr>
          <a:lstStyle/>
          <a:p>
            <a:pPr marL="12700">
              <a:lnSpc>
                <a:spcPts val="1710"/>
              </a:lnSpc>
            </a:pPr>
            <a:r>
              <a:rPr dirty="0"/>
              <a:t>MRCET</a:t>
            </a:r>
            <a:r>
              <a:rPr spc="-15" dirty="0"/>
              <a:t> </a:t>
            </a:r>
            <a:r>
              <a:rPr dirty="0"/>
              <a:t>|</a:t>
            </a:r>
            <a:r>
              <a:rPr spc="-15" dirty="0"/>
              <a:t> </a:t>
            </a:r>
            <a:r>
              <a:rPr spc="-10" dirty="0"/>
              <a:t>Department</a:t>
            </a:r>
            <a:r>
              <a:rPr dirty="0"/>
              <a:t> of Emerging</a:t>
            </a:r>
            <a:r>
              <a:rPr spc="-5" dirty="0"/>
              <a:t> </a:t>
            </a:r>
            <a:r>
              <a:rPr spc="-25" dirty="0"/>
              <a:t>Technologies</a:t>
            </a:r>
            <a:r>
              <a:rPr spc="5" dirty="0"/>
              <a:t> </a:t>
            </a:r>
            <a:r>
              <a:rPr dirty="0"/>
              <a:t>|</a:t>
            </a:r>
            <a:r>
              <a:rPr spc="-5" dirty="0"/>
              <a:t> </a:t>
            </a:r>
            <a:r>
              <a:rPr spc="-10" dirty="0"/>
              <a:t>Application</a:t>
            </a:r>
            <a:r>
              <a:rPr spc="-15" dirty="0"/>
              <a:t> </a:t>
            </a:r>
            <a:r>
              <a:rPr spc="-20" dirty="0"/>
              <a:t>Development-</a:t>
            </a:r>
            <a:r>
              <a:rPr dirty="0"/>
              <a:t>II</a:t>
            </a:r>
            <a:r>
              <a:rPr spc="10" dirty="0"/>
              <a:t> </a:t>
            </a:r>
            <a:r>
              <a:rPr dirty="0"/>
              <a:t>PPT|</a:t>
            </a:r>
            <a:r>
              <a:rPr spc="-20" dirty="0"/>
              <a:t> </a:t>
            </a:r>
            <a:r>
              <a:rPr dirty="0"/>
              <a:t>III</a:t>
            </a:r>
            <a:r>
              <a:rPr spc="-20" dirty="0"/>
              <a:t> Year</a:t>
            </a:r>
            <a:r>
              <a:rPr dirty="0"/>
              <a:t> </a:t>
            </a:r>
            <a:r>
              <a:rPr spc="-55" dirty="0"/>
              <a:t>B.Tech-</a:t>
            </a:r>
            <a:r>
              <a:rPr dirty="0"/>
              <a:t>II</a:t>
            </a:r>
            <a:r>
              <a:rPr spc="-15" dirty="0"/>
              <a:t> </a:t>
            </a:r>
            <a:r>
              <a:rPr spc="-10" dirty="0"/>
              <a:t>Semester</a:t>
            </a:r>
          </a:p>
        </p:txBody>
      </p:sp>
      <p:sp>
        <p:nvSpPr>
          <p:cNvPr id="11" name="object 11"/>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spc="-50" dirty="0"/>
              <a:t>16</a:t>
            </a:fld>
            <a:endParaRPr spc="-50" dirty="0"/>
          </a:p>
        </p:txBody>
      </p:sp>
      <p:sp>
        <p:nvSpPr>
          <p:cNvPr id="12" name="object 12"/>
          <p:cNvSpPr txBox="1"/>
          <p:nvPr/>
        </p:nvSpPr>
        <p:spPr>
          <a:xfrm>
            <a:off x="919988" y="6546615"/>
            <a:ext cx="10353040" cy="261620"/>
          </a:xfrm>
          <a:prstGeom prst="rect">
            <a:avLst/>
          </a:prstGeom>
        </p:spPr>
        <p:txBody>
          <a:bodyPr vert="horz" wrap="square" lIns="0" tIns="1905" rIns="0" bIns="0" rtlCol="0">
            <a:spAutoFit/>
          </a:bodyPr>
          <a:lstStyle/>
          <a:p>
            <a:pPr marL="12700">
              <a:lnSpc>
                <a:spcPct val="100000"/>
              </a:lnSpc>
              <a:spcBef>
                <a:spcPts val="15"/>
              </a:spcBef>
            </a:pPr>
            <a:r>
              <a:rPr sz="1600" b="1" spc="-10" dirty="0">
                <a:latin typeface="Arial"/>
                <a:cs typeface="Arial"/>
              </a:rPr>
              <a:t>B.Tech</a:t>
            </a:r>
            <a:r>
              <a:rPr sz="1600" b="1" spc="-30" dirty="0">
                <a:latin typeface="Arial"/>
                <a:cs typeface="Arial"/>
              </a:rPr>
              <a:t> </a:t>
            </a:r>
            <a:r>
              <a:rPr sz="1600" b="1" spc="50" dirty="0">
                <a:latin typeface="Arial"/>
                <a:cs typeface="Arial"/>
              </a:rPr>
              <a:t>III</a:t>
            </a:r>
            <a:r>
              <a:rPr sz="1600" b="1" spc="-20" dirty="0">
                <a:latin typeface="Arial"/>
                <a:cs typeface="Arial"/>
              </a:rPr>
              <a:t> </a:t>
            </a:r>
            <a:r>
              <a:rPr sz="1600" b="1" dirty="0">
                <a:latin typeface="Arial"/>
                <a:cs typeface="Arial"/>
              </a:rPr>
              <a:t>Year</a:t>
            </a:r>
            <a:r>
              <a:rPr sz="1600" b="1" spc="-25" dirty="0">
                <a:latin typeface="Arial"/>
                <a:cs typeface="Arial"/>
              </a:rPr>
              <a:t> </a:t>
            </a:r>
            <a:r>
              <a:rPr sz="1600" b="1" spc="-95" dirty="0">
                <a:latin typeface="Arial"/>
                <a:cs typeface="Arial"/>
              </a:rPr>
              <a:t>–</a:t>
            </a:r>
            <a:r>
              <a:rPr sz="1600" b="1" spc="-5" dirty="0">
                <a:latin typeface="Arial"/>
                <a:cs typeface="Arial"/>
              </a:rPr>
              <a:t> </a:t>
            </a:r>
            <a:r>
              <a:rPr sz="1600" b="1" spc="50" dirty="0">
                <a:latin typeface="Arial"/>
                <a:cs typeface="Arial"/>
              </a:rPr>
              <a:t>II</a:t>
            </a:r>
            <a:r>
              <a:rPr sz="1600" b="1" spc="-20" dirty="0">
                <a:latin typeface="Arial"/>
                <a:cs typeface="Arial"/>
              </a:rPr>
              <a:t> </a:t>
            </a:r>
            <a:r>
              <a:rPr sz="1600" b="1" dirty="0">
                <a:latin typeface="Arial"/>
                <a:cs typeface="Arial"/>
              </a:rPr>
              <a:t>Sem</a:t>
            </a:r>
            <a:r>
              <a:rPr sz="1600" b="1" spc="-25" dirty="0">
                <a:latin typeface="Arial"/>
                <a:cs typeface="Arial"/>
              </a:rPr>
              <a:t> </a:t>
            </a:r>
            <a:r>
              <a:rPr sz="1600" b="1" dirty="0">
                <a:latin typeface="Arial"/>
                <a:cs typeface="Arial"/>
              </a:rPr>
              <a:t>|</a:t>
            </a:r>
            <a:r>
              <a:rPr sz="1600" b="1" spc="-15" dirty="0">
                <a:latin typeface="Arial"/>
                <a:cs typeface="Arial"/>
              </a:rPr>
              <a:t> </a:t>
            </a:r>
            <a:r>
              <a:rPr sz="1600" b="1" dirty="0">
                <a:latin typeface="Arial"/>
                <a:cs typeface="Arial"/>
              </a:rPr>
              <a:t>Dept</a:t>
            </a:r>
            <a:r>
              <a:rPr sz="1600" b="1" spc="-20" dirty="0">
                <a:latin typeface="Arial"/>
                <a:cs typeface="Arial"/>
              </a:rPr>
              <a:t> </a:t>
            </a:r>
            <a:r>
              <a:rPr sz="1600" b="1" dirty="0">
                <a:latin typeface="Arial"/>
                <a:cs typeface="Arial"/>
              </a:rPr>
              <a:t>of</a:t>
            </a:r>
            <a:r>
              <a:rPr sz="1600" b="1" spc="190" dirty="0">
                <a:latin typeface="Arial"/>
                <a:cs typeface="Arial"/>
              </a:rPr>
              <a:t> </a:t>
            </a:r>
            <a:r>
              <a:rPr sz="1600" b="1" dirty="0">
                <a:latin typeface="Arial"/>
                <a:cs typeface="Arial"/>
              </a:rPr>
              <a:t>Computational</a:t>
            </a:r>
            <a:r>
              <a:rPr sz="1600" b="1" spc="-25" dirty="0">
                <a:latin typeface="Arial"/>
                <a:cs typeface="Arial"/>
              </a:rPr>
              <a:t> </a:t>
            </a:r>
            <a:r>
              <a:rPr sz="1600" b="1" dirty="0">
                <a:latin typeface="Arial"/>
                <a:cs typeface="Arial"/>
              </a:rPr>
              <a:t>Intelligence|</a:t>
            </a:r>
            <a:r>
              <a:rPr sz="1600" b="1" spc="-25" dirty="0">
                <a:latin typeface="Arial"/>
                <a:cs typeface="Arial"/>
              </a:rPr>
              <a:t> </a:t>
            </a:r>
            <a:r>
              <a:rPr sz="1600" b="1" dirty="0">
                <a:latin typeface="Arial"/>
                <a:cs typeface="Arial"/>
              </a:rPr>
              <a:t>Application</a:t>
            </a:r>
            <a:r>
              <a:rPr sz="1600" b="1" spc="-35" dirty="0">
                <a:latin typeface="Arial"/>
                <a:cs typeface="Arial"/>
              </a:rPr>
              <a:t> </a:t>
            </a:r>
            <a:r>
              <a:rPr sz="1600" b="1" dirty="0">
                <a:latin typeface="Arial"/>
                <a:cs typeface="Arial"/>
              </a:rPr>
              <a:t>Development</a:t>
            </a:r>
            <a:r>
              <a:rPr sz="1600" b="1" spc="5" dirty="0">
                <a:latin typeface="Arial"/>
                <a:cs typeface="Arial"/>
              </a:rPr>
              <a:t> </a:t>
            </a:r>
            <a:r>
              <a:rPr sz="1600" b="1" spc="-95" dirty="0">
                <a:latin typeface="Arial"/>
                <a:cs typeface="Arial"/>
              </a:rPr>
              <a:t>–</a:t>
            </a:r>
            <a:r>
              <a:rPr sz="1600" b="1" spc="-10" dirty="0">
                <a:latin typeface="Arial"/>
                <a:cs typeface="Arial"/>
              </a:rPr>
              <a:t> </a:t>
            </a:r>
            <a:r>
              <a:rPr sz="1600" b="1" spc="50" dirty="0">
                <a:latin typeface="Arial"/>
                <a:cs typeface="Arial"/>
              </a:rPr>
              <a:t>II</a:t>
            </a:r>
            <a:r>
              <a:rPr sz="1600" b="1" spc="-15" dirty="0">
                <a:latin typeface="Arial"/>
                <a:cs typeface="Arial"/>
              </a:rPr>
              <a:t> </a:t>
            </a:r>
            <a:r>
              <a:rPr sz="1600" b="1" dirty="0">
                <a:latin typeface="Arial"/>
                <a:cs typeface="Arial"/>
              </a:rPr>
              <a:t>|</a:t>
            </a:r>
            <a:r>
              <a:rPr sz="1600" b="1" spc="-5" dirty="0">
                <a:latin typeface="Arial"/>
                <a:cs typeface="Arial"/>
              </a:rPr>
              <a:t> </a:t>
            </a:r>
            <a:r>
              <a:rPr sz="1600" b="1" dirty="0">
                <a:latin typeface="Arial"/>
                <a:cs typeface="Arial"/>
              </a:rPr>
              <a:t>Project</a:t>
            </a:r>
            <a:r>
              <a:rPr sz="1600" b="1" spc="-30" dirty="0">
                <a:latin typeface="Arial"/>
                <a:cs typeface="Arial"/>
              </a:rPr>
              <a:t> </a:t>
            </a:r>
            <a:r>
              <a:rPr sz="1600" b="1" spc="-10" dirty="0">
                <a:latin typeface="Arial"/>
                <a:cs typeface="Arial"/>
              </a:rPr>
              <a:t>Review</a:t>
            </a:r>
            <a:endParaRPr sz="1600">
              <a:latin typeface="Arial"/>
              <a:cs typeface="Arial"/>
            </a:endParaRPr>
          </a:p>
        </p:txBody>
      </p:sp>
    </p:spTree>
    <p:extLst>
      <p:ext uri="{BB962C8B-B14F-4D97-AF65-F5344CB8AC3E}">
        <p14:creationId xmlns:p14="http://schemas.microsoft.com/office/powerpoint/2010/main" val="267675931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10493502" y="0"/>
            <a:ext cx="1698625" cy="898525"/>
            <a:chOff x="10493502" y="0"/>
            <a:chExt cx="1698625" cy="898525"/>
          </a:xfrm>
        </p:grpSpPr>
        <p:pic>
          <p:nvPicPr>
            <p:cNvPr id="3" name="object 3"/>
            <p:cNvPicPr/>
            <p:nvPr/>
          </p:nvPicPr>
          <p:blipFill>
            <a:blip r:embed="rId2" cstate="print"/>
            <a:stretch>
              <a:fillRect/>
            </a:stretch>
          </p:blipFill>
          <p:spPr>
            <a:xfrm>
              <a:off x="11353800" y="0"/>
              <a:ext cx="822198" cy="822198"/>
            </a:xfrm>
            <a:prstGeom prst="rect">
              <a:avLst/>
            </a:prstGeom>
          </p:spPr>
        </p:pic>
        <p:pic>
          <p:nvPicPr>
            <p:cNvPr id="4" name="object 4"/>
            <p:cNvPicPr/>
            <p:nvPr/>
          </p:nvPicPr>
          <p:blipFill>
            <a:blip r:embed="rId3" cstate="print"/>
            <a:stretch>
              <a:fillRect/>
            </a:stretch>
          </p:blipFill>
          <p:spPr>
            <a:xfrm>
              <a:off x="10493502" y="0"/>
              <a:ext cx="1698498" cy="898398"/>
            </a:xfrm>
            <a:prstGeom prst="rect">
              <a:avLst/>
            </a:prstGeom>
          </p:spPr>
        </p:pic>
      </p:grpSp>
      <p:sp>
        <p:nvSpPr>
          <p:cNvPr id="5" name="object 5" descr="$PPTXTitle"/>
          <p:cNvSpPr txBox="1">
            <a:spLocks noGrp="1"/>
          </p:cNvSpPr>
          <p:nvPr>
            <p:ph type="title"/>
          </p:nvPr>
        </p:nvSpPr>
        <p:spPr>
          <a:xfrm>
            <a:off x="851161" y="315869"/>
            <a:ext cx="7835639" cy="689932"/>
          </a:xfrm>
          <a:prstGeom prst="rect">
            <a:avLst/>
          </a:prstGeom>
        </p:spPr>
        <p:txBody>
          <a:bodyPr vert="horz" wrap="square" lIns="0" tIns="12700" rIns="0" bIns="0" rtlCol="0">
            <a:spAutoFit/>
          </a:bodyPr>
          <a:lstStyle/>
          <a:p>
            <a:pPr marL="12700">
              <a:lnSpc>
                <a:spcPct val="100000"/>
              </a:lnSpc>
              <a:spcBef>
                <a:spcPts val="100"/>
              </a:spcBef>
            </a:pPr>
            <a:r>
              <a:rPr lang="en-US" spc="-10" dirty="0" smtClean="0"/>
              <a:t>Implementation – Module 3</a:t>
            </a:r>
            <a:endParaRPr spc="-10" dirty="0"/>
          </a:p>
        </p:txBody>
      </p:sp>
      <p:sp>
        <p:nvSpPr>
          <p:cNvPr id="6" name="object 6"/>
          <p:cNvSpPr txBox="1"/>
          <p:nvPr/>
        </p:nvSpPr>
        <p:spPr>
          <a:xfrm>
            <a:off x="851161" y="1055946"/>
            <a:ext cx="10360025" cy="704424"/>
          </a:xfrm>
          <a:prstGeom prst="rect">
            <a:avLst/>
          </a:prstGeom>
        </p:spPr>
        <p:txBody>
          <a:bodyPr vert="horz" wrap="square" lIns="0" tIns="66675" rIns="0" bIns="0" rtlCol="0">
            <a:spAutoFit/>
          </a:bodyPr>
          <a:lstStyle/>
          <a:p>
            <a:pPr marL="12700" marR="5080" algn="just">
              <a:lnSpc>
                <a:spcPct val="90100"/>
              </a:lnSpc>
              <a:spcBef>
                <a:spcPts val="525"/>
              </a:spcBef>
            </a:pPr>
            <a:r>
              <a:rPr lang="en-IN" sz="4600" dirty="0" smtClean="0">
                <a:latin typeface="Times New Roman" panose="02020603050405020304" pitchFamily="18" charset="0"/>
                <a:cs typeface="Times New Roman" panose="02020603050405020304" pitchFamily="18" charset="0"/>
              </a:rPr>
              <a:t>T</a:t>
            </a:r>
            <a:endParaRPr sz="4600" dirty="0">
              <a:latin typeface="Times New Roman" panose="02020603050405020304" pitchFamily="18" charset="0"/>
              <a:cs typeface="Times New Roman" panose="02020603050405020304" pitchFamily="18" charset="0"/>
            </a:endParaRPr>
          </a:p>
        </p:txBody>
      </p:sp>
      <p:grpSp>
        <p:nvGrpSpPr>
          <p:cNvPr id="7" name="object 7"/>
          <p:cNvGrpSpPr/>
          <p:nvPr/>
        </p:nvGrpSpPr>
        <p:grpSpPr>
          <a:xfrm>
            <a:off x="-6095" y="6470903"/>
            <a:ext cx="12204700" cy="393700"/>
            <a:chOff x="-6095" y="6470903"/>
            <a:chExt cx="12204700" cy="393700"/>
          </a:xfrm>
        </p:grpSpPr>
        <p:sp>
          <p:nvSpPr>
            <p:cNvPr id="8" name="object 8"/>
            <p:cNvSpPr/>
            <p:nvPr/>
          </p:nvSpPr>
          <p:spPr>
            <a:xfrm>
              <a:off x="381" y="6477380"/>
              <a:ext cx="12192000" cy="381000"/>
            </a:xfrm>
            <a:custGeom>
              <a:avLst/>
              <a:gdLst/>
              <a:ahLst/>
              <a:cxnLst/>
              <a:rect l="l" t="t" r="r" b="b"/>
              <a:pathLst>
                <a:path w="12192000" h="381000">
                  <a:moveTo>
                    <a:pt x="12191619" y="0"/>
                  </a:moveTo>
                  <a:lnTo>
                    <a:pt x="0" y="0"/>
                  </a:lnTo>
                  <a:lnTo>
                    <a:pt x="0" y="380619"/>
                  </a:lnTo>
                  <a:lnTo>
                    <a:pt x="12191619" y="380619"/>
                  </a:lnTo>
                  <a:lnTo>
                    <a:pt x="12191619" y="0"/>
                  </a:lnTo>
                  <a:close/>
                </a:path>
              </a:pathLst>
            </a:custGeom>
            <a:solidFill>
              <a:srgbClr val="5B9BD4"/>
            </a:solidFill>
          </p:spPr>
          <p:txBody>
            <a:bodyPr wrap="square" lIns="0" tIns="0" rIns="0" bIns="0" rtlCol="0"/>
            <a:lstStyle/>
            <a:p>
              <a:endParaRPr/>
            </a:p>
          </p:txBody>
        </p:sp>
        <p:sp>
          <p:nvSpPr>
            <p:cNvPr id="9" name="object 9"/>
            <p:cNvSpPr/>
            <p:nvPr/>
          </p:nvSpPr>
          <p:spPr>
            <a:xfrm>
              <a:off x="381" y="6477380"/>
              <a:ext cx="12192000" cy="381000"/>
            </a:xfrm>
            <a:custGeom>
              <a:avLst/>
              <a:gdLst/>
              <a:ahLst/>
              <a:cxnLst/>
              <a:rect l="l" t="t" r="r" b="b"/>
              <a:pathLst>
                <a:path w="12192000" h="381000">
                  <a:moveTo>
                    <a:pt x="12191619" y="0"/>
                  </a:moveTo>
                  <a:lnTo>
                    <a:pt x="0" y="0"/>
                  </a:lnTo>
                  <a:lnTo>
                    <a:pt x="0" y="380619"/>
                  </a:lnTo>
                </a:path>
              </a:pathLst>
            </a:custGeom>
            <a:ln w="12953">
              <a:solidFill>
                <a:srgbClr val="41709C"/>
              </a:solidFill>
            </a:ln>
          </p:spPr>
          <p:txBody>
            <a:bodyPr wrap="square" lIns="0" tIns="0" rIns="0" bIns="0" rtlCol="0"/>
            <a:lstStyle/>
            <a:p>
              <a:endParaRPr/>
            </a:p>
          </p:txBody>
        </p:sp>
      </p:grpSp>
      <p:sp>
        <p:nvSpPr>
          <p:cNvPr id="10" name="object 10"/>
          <p:cNvSpPr txBox="1">
            <a:spLocks noGrp="1"/>
          </p:cNvSpPr>
          <p:nvPr>
            <p:ph type="ftr" sz="quarter" idx="5"/>
          </p:nvPr>
        </p:nvSpPr>
        <p:spPr>
          <a:prstGeom prst="rect">
            <a:avLst/>
          </a:prstGeom>
        </p:spPr>
        <p:txBody>
          <a:bodyPr vert="horz" wrap="square" lIns="0" tIns="0" rIns="0" bIns="0" rtlCol="0">
            <a:spAutoFit/>
          </a:bodyPr>
          <a:lstStyle/>
          <a:p>
            <a:pPr marL="12700">
              <a:lnSpc>
                <a:spcPts val="1710"/>
              </a:lnSpc>
            </a:pPr>
            <a:r>
              <a:rPr dirty="0"/>
              <a:t>MRCET</a:t>
            </a:r>
            <a:r>
              <a:rPr spc="-15" dirty="0"/>
              <a:t> </a:t>
            </a:r>
            <a:r>
              <a:rPr dirty="0"/>
              <a:t>|</a:t>
            </a:r>
            <a:r>
              <a:rPr spc="-15" dirty="0"/>
              <a:t> </a:t>
            </a:r>
            <a:r>
              <a:rPr spc="-10" dirty="0"/>
              <a:t>Department</a:t>
            </a:r>
            <a:r>
              <a:rPr dirty="0"/>
              <a:t> of Emerging</a:t>
            </a:r>
            <a:r>
              <a:rPr spc="-5" dirty="0"/>
              <a:t> </a:t>
            </a:r>
            <a:r>
              <a:rPr spc="-25" dirty="0"/>
              <a:t>Technologies</a:t>
            </a:r>
            <a:r>
              <a:rPr spc="5" dirty="0"/>
              <a:t> </a:t>
            </a:r>
            <a:r>
              <a:rPr dirty="0"/>
              <a:t>|</a:t>
            </a:r>
            <a:r>
              <a:rPr spc="-5" dirty="0"/>
              <a:t> </a:t>
            </a:r>
            <a:r>
              <a:rPr spc="-10" dirty="0"/>
              <a:t>Application</a:t>
            </a:r>
            <a:r>
              <a:rPr spc="-15" dirty="0"/>
              <a:t> </a:t>
            </a:r>
            <a:r>
              <a:rPr spc="-20" dirty="0"/>
              <a:t>Development-</a:t>
            </a:r>
            <a:r>
              <a:rPr dirty="0"/>
              <a:t>II</a:t>
            </a:r>
            <a:r>
              <a:rPr spc="10" dirty="0"/>
              <a:t> </a:t>
            </a:r>
            <a:r>
              <a:rPr dirty="0"/>
              <a:t>PPT|</a:t>
            </a:r>
            <a:r>
              <a:rPr spc="-20" dirty="0"/>
              <a:t> </a:t>
            </a:r>
            <a:r>
              <a:rPr dirty="0"/>
              <a:t>III</a:t>
            </a:r>
            <a:r>
              <a:rPr spc="-20" dirty="0"/>
              <a:t> Year</a:t>
            </a:r>
            <a:r>
              <a:rPr dirty="0"/>
              <a:t> </a:t>
            </a:r>
            <a:r>
              <a:rPr spc="-55" dirty="0"/>
              <a:t>B.Tech-</a:t>
            </a:r>
            <a:r>
              <a:rPr dirty="0"/>
              <a:t>II</a:t>
            </a:r>
            <a:r>
              <a:rPr spc="-15" dirty="0"/>
              <a:t> </a:t>
            </a:r>
            <a:r>
              <a:rPr spc="-10" dirty="0"/>
              <a:t>Semester</a:t>
            </a:r>
          </a:p>
        </p:txBody>
      </p:sp>
      <p:sp>
        <p:nvSpPr>
          <p:cNvPr id="11" name="object 11"/>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spc="-50" dirty="0"/>
              <a:t>17</a:t>
            </a:fld>
            <a:endParaRPr spc="-50" dirty="0"/>
          </a:p>
        </p:txBody>
      </p:sp>
      <p:sp>
        <p:nvSpPr>
          <p:cNvPr id="12" name="object 12"/>
          <p:cNvSpPr txBox="1"/>
          <p:nvPr/>
        </p:nvSpPr>
        <p:spPr>
          <a:xfrm>
            <a:off x="919988" y="6546615"/>
            <a:ext cx="10353040" cy="261620"/>
          </a:xfrm>
          <a:prstGeom prst="rect">
            <a:avLst/>
          </a:prstGeom>
        </p:spPr>
        <p:txBody>
          <a:bodyPr vert="horz" wrap="square" lIns="0" tIns="1905" rIns="0" bIns="0" rtlCol="0">
            <a:spAutoFit/>
          </a:bodyPr>
          <a:lstStyle/>
          <a:p>
            <a:pPr marL="12700">
              <a:lnSpc>
                <a:spcPct val="100000"/>
              </a:lnSpc>
              <a:spcBef>
                <a:spcPts val="15"/>
              </a:spcBef>
            </a:pPr>
            <a:r>
              <a:rPr sz="1600" b="1" spc="-10" dirty="0">
                <a:latin typeface="Arial"/>
                <a:cs typeface="Arial"/>
              </a:rPr>
              <a:t>B.Tech</a:t>
            </a:r>
            <a:r>
              <a:rPr sz="1600" b="1" spc="-30" dirty="0">
                <a:latin typeface="Arial"/>
                <a:cs typeface="Arial"/>
              </a:rPr>
              <a:t> </a:t>
            </a:r>
            <a:r>
              <a:rPr sz="1600" b="1" spc="50" dirty="0">
                <a:latin typeface="Arial"/>
                <a:cs typeface="Arial"/>
              </a:rPr>
              <a:t>III</a:t>
            </a:r>
            <a:r>
              <a:rPr sz="1600" b="1" spc="-20" dirty="0">
                <a:latin typeface="Arial"/>
                <a:cs typeface="Arial"/>
              </a:rPr>
              <a:t> </a:t>
            </a:r>
            <a:r>
              <a:rPr sz="1600" b="1" dirty="0">
                <a:latin typeface="Arial"/>
                <a:cs typeface="Arial"/>
              </a:rPr>
              <a:t>Year</a:t>
            </a:r>
            <a:r>
              <a:rPr sz="1600" b="1" spc="-25" dirty="0">
                <a:latin typeface="Arial"/>
                <a:cs typeface="Arial"/>
              </a:rPr>
              <a:t> </a:t>
            </a:r>
            <a:r>
              <a:rPr sz="1600" b="1" spc="-95" dirty="0">
                <a:latin typeface="Arial"/>
                <a:cs typeface="Arial"/>
              </a:rPr>
              <a:t>–</a:t>
            </a:r>
            <a:r>
              <a:rPr sz="1600" b="1" spc="-5" dirty="0">
                <a:latin typeface="Arial"/>
                <a:cs typeface="Arial"/>
              </a:rPr>
              <a:t> </a:t>
            </a:r>
            <a:r>
              <a:rPr sz="1600" b="1" spc="50" dirty="0">
                <a:latin typeface="Arial"/>
                <a:cs typeface="Arial"/>
              </a:rPr>
              <a:t>II</a:t>
            </a:r>
            <a:r>
              <a:rPr sz="1600" b="1" spc="-20" dirty="0">
                <a:latin typeface="Arial"/>
                <a:cs typeface="Arial"/>
              </a:rPr>
              <a:t> </a:t>
            </a:r>
            <a:r>
              <a:rPr sz="1600" b="1" dirty="0">
                <a:latin typeface="Arial"/>
                <a:cs typeface="Arial"/>
              </a:rPr>
              <a:t>Sem</a:t>
            </a:r>
            <a:r>
              <a:rPr sz="1600" b="1" spc="-25" dirty="0">
                <a:latin typeface="Arial"/>
                <a:cs typeface="Arial"/>
              </a:rPr>
              <a:t> </a:t>
            </a:r>
            <a:r>
              <a:rPr sz="1600" b="1" dirty="0">
                <a:latin typeface="Arial"/>
                <a:cs typeface="Arial"/>
              </a:rPr>
              <a:t>|</a:t>
            </a:r>
            <a:r>
              <a:rPr sz="1600" b="1" spc="-15" dirty="0">
                <a:latin typeface="Arial"/>
                <a:cs typeface="Arial"/>
              </a:rPr>
              <a:t> </a:t>
            </a:r>
            <a:r>
              <a:rPr sz="1600" b="1" dirty="0">
                <a:latin typeface="Arial"/>
                <a:cs typeface="Arial"/>
              </a:rPr>
              <a:t>Dept</a:t>
            </a:r>
            <a:r>
              <a:rPr sz="1600" b="1" spc="-20" dirty="0">
                <a:latin typeface="Arial"/>
                <a:cs typeface="Arial"/>
              </a:rPr>
              <a:t> </a:t>
            </a:r>
            <a:r>
              <a:rPr sz="1600" b="1" dirty="0">
                <a:latin typeface="Arial"/>
                <a:cs typeface="Arial"/>
              </a:rPr>
              <a:t>of</a:t>
            </a:r>
            <a:r>
              <a:rPr sz="1600" b="1" spc="190" dirty="0">
                <a:latin typeface="Arial"/>
                <a:cs typeface="Arial"/>
              </a:rPr>
              <a:t> </a:t>
            </a:r>
            <a:r>
              <a:rPr sz="1600" b="1" dirty="0">
                <a:latin typeface="Arial"/>
                <a:cs typeface="Arial"/>
              </a:rPr>
              <a:t>Computational</a:t>
            </a:r>
            <a:r>
              <a:rPr sz="1600" b="1" spc="-25" dirty="0">
                <a:latin typeface="Arial"/>
                <a:cs typeface="Arial"/>
              </a:rPr>
              <a:t> </a:t>
            </a:r>
            <a:r>
              <a:rPr sz="1600" b="1" dirty="0">
                <a:latin typeface="Arial"/>
                <a:cs typeface="Arial"/>
              </a:rPr>
              <a:t>Intelligence|</a:t>
            </a:r>
            <a:r>
              <a:rPr sz="1600" b="1" spc="-25" dirty="0">
                <a:latin typeface="Arial"/>
                <a:cs typeface="Arial"/>
              </a:rPr>
              <a:t> </a:t>
            </a:r>
            <a:r>
              <a:rPr sz="1600" b="1" dirty="0">
                <a:latin typeface="Arial"/>
                <a:cs typeface="Arial"/>
              </a:rPr>
              <a:t>Application</a:t>
            </a:r>
            <a:r>
              <a:rPr sz="1600" b="1" spc="-35" dirty="0">
                <a:latin typeface="Arial"/>
                <a:cs typeface="Arial"/>
              </a:rPr>
              <a:t> </a:t>
            </a:r>
            <a:r>
              <a:rPr sz="1600" b="1" dirty="0">
                <a:latin typeface="Arial"/>
                <a:cs typeface="Arial"/>
              </a:rPr>
              <a:t>Development</a:t>
            </a:r>
            <a:r>
              <a:rPr sz="1600" b="1" spc="5" dirty="0">
                <a:latin typeface="Arial"/>
                <a:cs typeface="Arial"/>
              </a:rPr>
              <a:t> </a:t>
            </a:r>
            <a:r>
              <a:rPr sz="1600" b="1" spc="-95" dirty="0">
                <a:latin typeface="Arial"/>
                <a:cs typeface="Arial"/>
              </a:rPr>
              <a:t>–</a:t>
            </a:r>
            <a:r>
              <a:rPr sz="1600" b="1" spc="-10" dirty="0">
                <a:latin typeface="Arial"/>
                <a:cs typeface="Arial"/>
              </a:rPr>
              <a:t> </a:t>
            </a:r>
            <a:r>
              <a:rPr sz="1600" b="1" spc="50" dirty="0">
                <a:latin typeface="Arial"/>
                <a:cs typeface="Arial"/>
              </a:rPr>
              <a:t>II</a:t>
            </a:r>
            <a:r>
              <a:rPr sz="1600" b="1" spc="-15" dirty="0">
                <a:latin typeface="Arial"/>
                <a:cs typeface="Arial"/>
              </a:rPr>
              <a:t> </a:t>
            </a:r>
            <a:r>
              <a:rPr sz="1600" b="1" dirty="0">
                <a:latin typeface="Arial"/>
                <a:cs typeface="Arial"/>
              </a:rPr>
              <a:t>|</a:t>
            </a:r>
            <a:r>
              <a:rPr sz="1600" b="1" spc="-5" dirty="0">
                <a:latin typeface="Arial"/>
                <a:cs typeface="Arial"/>
              </a:rPr>
              <a:t> </a:t>
            </a:r>
            <a:r>
              <a:rPr sz="1600" b="1" dirty="0">
                <a:latin typeface="Arial"/>
                <a:cs typeface="Arial"/>
              </a:rPr>
              <a:t>Project</a:t>
            </a:r>
            <a:r>
              <a:rPr sz="1600" b="1" spc="-30" dirty="0">
                <a:latin typeface="Arial"/>
                <a:cs typeface="Arial"/>
              </a:rPr>
              <a:t> </a:t>
            </a:r>
            <a:r>
              <a:rPr sz="1600" b="1" spc="-10" dirty="0">
                <a:latin typeface="Arial"/>
                <a:cs typeface="Arial"/>
              </a:rPr>
              <a:t>Review</a:t>
            </a:r>
            <a:endParaRPr sz="1600">
              <a:latin typeface="Arial"/>
              <a:cs typeface="Arial"/>
            </a:endParaRPr>
          </a:p>
        </p:txBody>
      </p:sp>
    </p:spTree>
    <p:extLst>
      <p:ext uri="{BB962C8B-B14F-4D97-AF65-F5344CB8AC3E}">
        <p14:creationId xmlns:p14="http://schemas.microsoft.com/office/powerpoint/2010/main" val="143561031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10493502" y="0"/>
            <a:ext cx="1698625" cy="898525"/>
            <a:chOff x="10493502" y="0"/>
            <a:chExt cx="1698625" cy="898525"/>
          </a:xfrm>
        </p:grpSpPr>
        <p:pic>
          <p:nvPicPr>
            <p:cNvPr id="3" name="object 3"/>
            <p:cNvPicPr/>
            <p:nvPr/>
          </p:nvPicPr>
          <p:blipFill>
            <a:blip r:embed="rId2" cstate="print"/>
            <a:stretch>
              <a:fillRect/>
            </a:stretch>
          </p:blipFill>
          <p:spPr>
            <a:xfrm>
              <a:off x="11353800" y="0"/>
              <a:ext cx="822198" cy="822198"/>
            </a:xfrm>
            <a:prstGeom prst="rect">
              <a:avLst/>
            </a:prstGeom>
          </p:spPr>
        </p:pic>
        <p:pic>
          <p:nvPicPr>
            <p:cNvPr id="4" name="object 4"/>
            <p:cNvPicPr/>
            <p:nvPr/>
          </p:nvPicPr>
          <p:blipFill>
            <a:blip r:embed="rId3" cstate="print"/>
            <a:stretch>
              <a:fillRect/>
            </a:stretch>
          </p:blipFill>
          <p:spPr>
            <a:xfrm>
              <a:off x="10493502" y="0"/>
              <a:ext cx="1698498" cy="898398"/>
            </a:xfrm>
            <a:prstGeom prst="rect">
              <a:avLst/>
            </a:prstGeom>
          </p:spPr>
        </p:pic>
      </p:grpSp>
      <p:sp>
        <p:nvSpPr>
          <p:cNvPr id="5" name="object 5" descr="$PPTXTitle"/>
          <p:cNvSpPr txBox="1">
            <a:spLocks noGrp="1"/>
          </p:cNvSpPr>
          <p:nvPr>
            <p:ph type="title"/>
          </p:nvPr>
        </p:nvSpPr>
        <p:spPr>
          <a:xfrm>
            <a:off x="851161" y="315869"/>
            <a:ext cx="7835639" cy="689932"/>
          </a:xfrm>
          <a:prstGeom prst="rect">
            <a:avLst/>
          </a:prstGeom>
        </p:spPr>
        <p:txBody>
          <a:bodyPr vert="horz" wrap="square" lIns="0" tIns="12700" rIns="0" bIns="0" rtlCol="0">
            <a:spAutoFit/>
          </a:bodyPr>
          <a:lstStyle/>
          <a:p>
            <a:pPr marL="12700">
              <a:lnSpc>
                <a:spcPct val="100000"/>
              </a:lnSpc>
              <a:spcBef>
                <a:spcPts val="100"/>
              </a:spcBef>
            </a:pPr>
            <a:r>
              <a:rPr lang="en-US" spc="-10" dirty="0" smtClean="0"/>
              <a:t>Experimental Setup</a:t>
            </a:r>
            <a:endParaRPr spc="-10" dirty="0"/>
          </a:p>
        </p:txBody>
      </p:sp>
      <p:sp>
        <p:nvSpPr>
          <p:cNvPr id="6" name="object 6"/>
          <p:cNvSpPr txBox="1"/>
          <p:nvPr/>
        </p:nvSpPr>
        <p:spPr>
          <a:xfrm>
            <a:off x="851161" y="1055946"/>
            <a:ext cx="10360025" cy="5274906"/>
          </a:xfrm>
          <a:prstGeom prst="rect">
            <a:avLst/>
          </a:prstGeom>
        </p:spPr>
        <p:txBody>
          <a:bodyPr vert="horz" wrap="square" lIns="0" tIns="66675" rIns="0" bIns="0" rtlCol="0">
            <a:spAutoFit/>
          </a:bodyPr>
          <a:lstStyle/>
          <a:p>
            <a:pPr marL="12700" marR="5080" algn="just">
              <a:lnSpc>
                <a:spcPct val="90100"/>
              </a:lnSpc>
              <a:spcBef>
                <a:spcPts val="525"/>
              </a:spcBef>
            </a:pPr>
            <a:r>
              <a:rPr lang="en-IN" sz="4700" dirty="0" smtClean="0">
                <a:latin typeface="Times New Roman" panose="02020603050405020304" pitchFamily="18" charset="0"/>
                <a:cs typeface="Times New Roman" panose="02020603050405020304" pitchFamily="18" charset="0"/>
              </a:rPr>
              <a:t>The experimental setup utilizes a Node.js runtime with Express.js APIs running on a multi-core server environment. Client requests are executed via React.js web interfaces. Data testing leverages PostgreSQL databases connected through </a:t>
            </a:r>
            <a:r>
              <a:rPr lang="en-IN" sz="4700" dirty="0" err="1" smtClean="0">
                <a:latin typeface="Times New Roman" panose="02020603050405020304" pitchFamily="18" charset="0"/>
                <a:cs typeface="Times New Roman" panose="02020603050405020304" pitchFamily="18" charset="0"/>
              </a:rPr>
              <a:t>Prisma</a:t>
            </a:r>
            <a:r>
              <a:rPr lang="en-IN" sz="4700" dirty="0" smtClean="0">
                <a:latin typeface="Times New Roman" panose="02020603050405020304" pitchFamily="18" charset="0"/>
                <a:cs typeface="Times New Roman" panose="02020603050405020304" pitchFamily="18" charset="0"/>
              </a:rPr>
              <a:t> ORM alongside </a:t>
            </a:r>
            <a:r>
              <a:rPr lang="en-IN" sz="4700" dirty="0" err="1" smtClean="0">
                <a:latin typeface="Times New Roman" panose="02020603050405020304" pitchFamily="18" charset="0"/>
                <a:cs typeface="Times New Roman" panose="02020603050405020304" pitchFamily="18" charset="0"/>
              </a:rPr>
              <a:t>Redis</a:t>
            </a:r>
            <a:r>
              <a:rPr lang="en-IN" sz="4700" dirty="0" smtClean="0">
                <a:latin typeface="Times New Roman" panose="02020603050405020304" pitchFamily="18" charset="0"/>
                <a:cs typeface="Times New Roman" panose="02020603050405020304" pitchFamily="18" charset="0"/>
              </a:rPr>
              <a:t> in-memory caching for concurrent load benchmarking. </a:t>
            </a:r>
            <a:endParaRPr sz="4700" dirty="0">
              <a:latin typeface="Times New Roman" panose="02020603050405020304" pitchFamily="18" charset="0"/>
              <a:cs typeface="Times New Roman" panose="02020603050405020304" pitchFamily="18" charset="0"/>
            </a:endParaRPr>
          </a:p>
        </p:txBody>
      </p:sp>
      <p:grpSp>
        <p:nvGrpSpPr>
          <p:cNvPr id="7" name="object 7"/>
          <p:cNvGrpSpPr/>
          <p:nvPr/>
        </p:nvGrpSpPr>
        <p:grpSpPr>
          <a:xfrm>
            <a:off x="-6095" y="6470903"/>
            <a:ext cx="12204700" cy="393700"/>
            <a:chOff x="-6095" y="6470903"/>
            <a:chExt cx="12204700" cy="393700"/>
          </a:xfrm>
        </p:grpSpPr>
        <p:sp>
          <p:nvSpPr>
            <p:cNvPr id="8" name="object 8"/>
            <p:cNvSpPr/>
            <p:nvPr/>
          </p:nvSpPr>
          <p:spPr>
            <a:xfrm>
              <a:off x="381" y="6477380"/>
              <a:ext cx="12192000" cy="381000"/>
            </a:xfrm>
            <a:custGeom>
              <a:avLst/>
              <a:gdLst/>
              <a:ahLst/>
              <a:cxnLst/>
              <a:rect l="l" t="t" r="r" b="b"/>
              <a:pathLst>
                <a:path w="12192000" h="381000">
                  <a:moveTo>
                    <a:pt x="12191619" y="0"/>
                  </a:moveTo>
                  <a:lnTo>
                    <a:pt x="0" y="0"/>
                  </a:lnTo>
                  <a:lnTo>
                    <a:pt x="0" y="380619"/>
                  </a:lnTo>
                  <a:lnTo>
                    <a:pt x="12191619" y="380619"/>
                  </a:lnTo>
                  <a:lnTo>
                    <a:pt x="12191619" y="0"/>
                  </a:lnTo>
                  <a:close/>
                </a:path>
              </a:pathLst>
            </a:custGeom>
            <a:solidFill>
              <a:srgbClr val="5B9BD4"/>
            </a:solidFill>
          </p:spPr>
          <p:txBody>
            <a:bodyPr wrap="square" lIns="0" tIns="0" rIns="0" bIns="0" rtlCol="0"/>
            <a:lstStyle/>
            <a:p>
              <a:endParaRPr/>
            </a:p>
          </p:txBody>
        </p:sp>
        <p:sp>
          <p:nvSpPr>
            <p:cNvPr id="9" name="object 9"/>
            <p:cNvSpPr/>
            <p:nvPr/>
          </p:nvSpPr>
          <p:spPr>
            <a:xfrm>
              <a:off x="381" y="6477380"/>
              <a:ext cx="12192000" cy="381000"/>
            </a:xfrm>
            <a:custGeom>
              <a:avLst/>
              <a:gdLst/>
              <a:ahLst/>
              <a:cxnLst/>
              <a:rect l="l" t="t" r="r" b="b"/>
              <a:pathLst>
                <a:path w="12192000" h="381000">
                  <a:moveTo>
                    <a:pt x="12191619" y="0"/>
                  </a:moveTo>
                  <a:lnTo>
                    <a:pt x="0" y="0"/>
                  </a:lnTo>
                  <a:lnTo>
                    <a:pt x="0" y="380619"/>
                  </a:lnTo>
                </a:path>
              </a:pathLst>
            </a:custGeom>
            <a:ln w="12953">
              <a:solidFill>
                <a:srgbClr val="41709C"/>
              </a:solidFill>
            </a:ln>
          </p:spPr>
          <p:txBody>
            <a:bodyPr wrap="square" lIns="0" tIns="0" rIns="0" bIns="0" rtlCol="0"/>
            <a:lstStyle/>
            <a:p>
              <a:endParaRPr/>
            </a:p>
          </p:txBody>
        </p:sp>
      </p:grpSp>
      <p:sp>
        <p:nvSpPr>
          <p:cNvPr id="10" name="object 10"/>
          <p:cNvSpPr txBox="1">
            <a:spLocks noGrp="1"/>
          </p:cNvSpPr>
          <p:nvPr>
            <p:ph type="ftr" sz="quarter" idx="5"/>
          </p:nvPr>
        </p:nvSpPr>
        <p:spPr>
          <a:prstGeom prst="rect">
            <a:avLst/>
          </a:prstGeom>
        </p:spPr>
        <p:txBody>
          <a:bodyPr vert="horz" wrap="square" lIns="0" tIns="0" rIns="0" bIns="0" rtlCol="0">
            <a:spAutoFit/>
          </a:bodyPr>
          <a:lstStyle/>
          <a:p>
            <a:pPr marL="12700">
              <a:lnSpc>
                <a:spcPts val="1710"/>
              </a:lnSpc>
            </a:pPr>
            <a:r>
              <a:rPr dirty="0"/>
              <a:t>MRCET</a:t>
            </a:r>
            <a:r>
              <a:rPr spc="-15" dirty="0"/>
              <a:t> </a:t>
            </a:r>
            <a:r>
              <a:rPr dirty="0"/>
              <a:t>|</a:t>
            </a:r>
            <a:r>
              <a:rPr spc="-15" dirty="0"/>
              <a:t> </a:t>
            </a:r>
            <a:r>
              <a:rPr spc="-10" dirty="0"/>
              <a:t>Department</a:t>
            </a:r>
            <a:r>
              <a:rPr dirty="0"/>
              <a:t> of Emerging</a:t>
            </a:r>
            <a:r>
              <a:rPr spc="-5" dirty="0"/>
              <a:t> </a:t>
            </a:r>
            <a:r>
              <a:rPr spc="-25" dirty="0"/>
              <a:t>Technologies</a:t>
            </a:r>
            <a:r>
              <a:rPr spc="5" dirty="0"/>
              <a:t> </a:t>
            </a:r>
            <a:r>
              <a:rPr dirty="0"/>
              <a:t>|</a:t>
            </a:r>
            <a:r>
              <a:rPr spc="-5" dirty="0"/>
              <a:t> </a:t>
            </a:r>
            <a:r>
              <a:rPr spc="-10" dirty="0"/>
              <a:t>Application</a:t>
            </a:r>
            <a:r>
              <a:rPr spc="-15" dirty="0"/>
              <a:t> </a:t>
            </a:r>
            <a:r>
              <a:rPr spc="-20" dirty="0"/>
              <a:t>Development-</a:t>
            </a:r>
            <a:r>
              <a:rPr dirty="0"/>
              <a:t>II</a:t>
            </a:r>
            <a:r>
              <a:rPr spc="10" dirty="0"/>
              <a:t> </a:t>
            </a:r>
            <a:r>
              <a:rPr dirty="0"/>
              <a:t>PPT|</a:t>
            </a:r>
            <a:r>
              <a:rPr spc="-20" dirty="0"/>
              <a:t> </a:t>
            </a:r>
            <a:r>
              <a:rPr dirty="0"/>
              <a:t>III</a:t>
            </a:r>
            <a:r>
              <a:rPr spc="-20" dirty="0"/>
              <a:t> Year</a:t>
            </a:r>
            <a:r>
              <a:rPr dirty="0"/>
              <a:t> </a:t>
            </a:r>
            <a:r>
              <a:rPr spc="-55" dirty="0"/>
              <a:t>B.Tech-</a:t>
            </a:r>
            <a:r>
              <a:rPr dirty="0"/>
              <a:t>II</a:t>
            </a:r>
            <a:r>
              <a:rPr spc="-15" dirty="0"/>
              <a:t> </a:t>
            </a:r>
            <a:r>
              <a:rPr spc="-10" dirty="0"/>
              <a:t>Semester</a:t>
            </a:r>
          </a:p>
        </p:txBody>
      </p:sp>
      <p:sp>
        <p:nvSpPr>
          <p:cNvPr id="11" name="object 11"/>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spc="-50" dirty="0"/>
              <a:t>18</a:t>
            </a:fld>
            <a:endParaRPr spc="-50" dirty="0"/>
          </a:p>
        </p:txBody>
      </p:sp>
      <p:sp>
        <p:nvSpPr>
          <p:cNvPr id="12" name="object 12"/>
          <p:cNvSpPr txBox="1"/>
          <p:nvPr/>
        </p:nvSpPr>
        <p:spPr>
          <a:xfrm>
            <a:off x="919988" y="6546615"/>
            <a:ext cx="10353040" cy="261620"/>
          </a:xfrm>
          <a:prstGeom prst="rect">
            <a:avLst/>
          </a:prstGeom>
        </p:spPr>
        <p:txBody>
          <a:bodyPr vert="horz" wrap="square" lIns="0" tIns="1905" rIns="0" bIns="0" rtlCol="0">
            <a:spAutoFit/>
          </a:bodyPr>
          <a:lstStyle/>
          <a:p>
            <a:pPr marL="12700">
              <a:lnSpc>
                <a:spcPct val="100000"/>
              </a:lnSpc>
              <a:spcBef>
                <a:spcPts val="15"/>
              </a:spcBef>
            </a:pPr>
            <a:r>
              <a:rPr sz="1600" b="1" spc="-10" dirty="0">
                <a:latin typeface="Arial"/>
                <a:cs typeface="Arial"/>
              </a:rPr>
              <a:t>B.Tech</a:t>
            </a:r>
            <a:r>
              <a:rPr sz="1600" b="1" spc="-30" dirty="0">
                <a:latin typeface="Arial"/>
                <a:cs typeface="Arial"/>
              </a:rPr>
              <a:t> </a:t>
            </a:r>
            <a:r>
              <a:rPr sz="1600" b="1" spc="50" dirty="0">
                <a:latin typeface="Arial"/>
                <a:cs typeface="Arial"/>
              </a:rPr>
              <a:t>III</a:t>
            </a:r>
            <a:r>
              <a:rPr sz="1600" b="1" spc="-20" dirty="0">
                <a:latin typeface="Arial"/>
                <a:cs typeface="Arial"/>
              </a:rPr>
              <a:t> </a:t>
            </a:r>
            <a:r>
              <a:rPr sz="1600" b="1" dirty="0">
                <a:latin typeface="Arial"/>
                <a:cs typeface="Arial"/>
              </a:rPr>
              <a:t>Year</a:t>
            </a:r>
            <a:r>
              <a:rPr sz="1600" b="1" spc="-25" dirty="0">
                <a:latin typeface="Arial"/>
                <a:cs typeface="Arial"/>
              </a:rPr>
              <a:t> </a:t>
            </a:r>
            <a:r>
              <a:rPr sz="1600" b="1" spc="-95" dirty="0">
                <a:latin typeface="Arial"/>
                <a:cs typeface="Arial"/>
              </a:rPr>
              <a:t>–</a:t>
            </a:r>
            <a:r>
              <a:rPr sz="1600" b="1" spc="-5" dirty="0">
                <a:latin typeface="Arial"/>
                <a:cs typeface="Arial"/>
              </a:rPr>
              <a:t> </a:t>
            </a:r>
            <a:r>
              <a:rPr sz="1600" b="1" spc="50" dirty="0">
                <a:latin typeface="Arial"/>
                <a:cs typeface="Arial"/>
              </a:rPr>
              <a:t>II</a:t>
            </a:r>
            <a:r>
              <a:rPr sz="1600" b="1" spc="-20" dirty="0">
                <a:latin typeface="Arial"/>
                <a:cs typeface="Arial"/>
              </a:rPr>
              <a:t> </a:t>
            </a:r>
            <a:r>
              <a:rPr sz="1600" b="1" dirty="0">
                <a:latin typeface="Arial"/>
                <a:cs typeface="Arial"/>
              </a:rPr>
              <a:t>Sem</a:t>
            </a:r>
            <a:r>
              <a:rPr sz="1600" b="1" spc="-25" dirty="0">
                <a:latin typeface="Arial"/>
                <a:cs typeface="Arial"/>
              </a:rPr>
              <a:t> </a:t>
            </a:r>
            <a:r>
              <a:rPr sz="1600" b="1" dirty="0">
                <a:latin typeface="Arial"/>
                <a:cs typeface="Arial"/>
              </a:rPr>
              <a:t>|</a:t>
            </a:r>
            <a:r>
              <a:rPr sz="1600" b="1" spc="-15" dirty="0">
                <a:latin typeface="Arial"/>
                <a:cs typeface="Arial"/>
              </a:rPr>
              <a:t> </a:t>
            </a:r>
            <a:r>
              <a:rPr sz="1600" b="1" dirty="0">
                <a:latin typeface="Arial"/>
                <a:cs typeface="Arial"/>
              </a:rPr>
              <a:t>Dept</a:t>
            </a:r>
            <a:r>
              <a:rPr sz="1600" b="1" spc="-20" dirty="0">
                <a:latin typeface="Arial"/>
                <a:cs typeface="Arial"/>
              </a:rPr>
              <a:t> </a:t>
            </a:r>
            <a:r>
              <a:rPr sz="1600" b="1" dirty="0">
                <a:latin typeface="Arial"/>
                <a:cs typeface="Arial"/>
              </a:rPr>
              <a:t>of</a:t>
            </a:r>
            <a:r>
              <a:rPr sz="1600" b="1" spc="190" dirty="0">
                <a:latin typeface="Arial"/>
                <a:cs typeface="Arial"/>
              </a:rPr>
              <a:t> </a:t>
            </a:r>
            <a:r>
              <a:rPr sz="1600" b="1" dirty="0">
                <a:latin typeface="Arial"/>
                <a:cs typeface="Arial"/>
              </a:rPr>
              <a:t>Computational</a:t>
            </a:r>
            <a:r>
              <a:rPr sz="1600" b="1" spc="-25" dirty="0">
                <a:latin typeface="Arial"/>
                <a:cs typeface="Arial"/>
              </a:rPr>
              <a:t> </a:t>
            </a:r>
            <a:r>
              <a:rPr sz="1600" b="1" dirty="0">
                <a:latin typeface="Arial"/>
                <a:cs typeface="Arial"/>
              </a:rPr>
              <a:t>Intelligence|</a:t>
            </a:r>
            <a:r>
              <a:rPr sz="1600" b="1" spc="-25" dirty="0">
                <a:latin typeface="Arial"/>
                <a:cs typeface="Arial"/>
              </a:rPr>
              <a:t> </a:t>
            </a:r>
            <a:r>
              <a:rPr sz="1600" b="1" dirty="0">
                <a:latin typeface="Arial"/>
                <a:cs typeface="Arial"/>
              </a:rPr>
              <a:t>Application</a:t>
            </a:r>
            <a:r>
              <a:rPr sz="1600" b="1" spc="-35" dirty="0">
                <a:latin typeface="Arial"/>
                <a:cs typeface="Arial"/>
              </a:rPr>
              <a:t> </a:t>
            </a:r>
            <a:r>
              <a:rPr sz="1600" b="1" dirty="0">
                <a:latin typeface="Arial"/>
                <a:cs typeface="Arial"/>
              </a:rPr>
              <a:t>Development</a:t>
            </a:r>
            <a:r>
              <a:rPr sz="1600" b="1" spc="5" dirty="0">
                <a:latin typeface="Arial"/>
                <a:cs typeface="Arial"/>
              </a:rPr>
              <a:t> </a:t>
            </a:r>
            <a:r>
              <a:rPr sz="1600" b="1" spc="-95" dirty="0">
                <a:latin typeface="Arial"/>
                <a:cs typeface="Arial"/>
              </a:rPr>
              <a:t>–</a:t>
            </a:r>
            <a:r>
              <a:rPr sz="1600" b="1" spc="-10" dirty="0">
                <a:latin typeface="Arial"/>
                <a:cs typeface="Arial"/>
              </a:rPr>
              <a:t> </a:t>
            </a:r>
            <a:r>
              <a:rPr sz="1600" b="1" spc="50" dirty="0">
                <a:latin typeface="Arial"/>
                <a:cs typeface="Arial"/>
              </a:rPr>
              <a:t>II</a:t>
            </a:r>
            <a:r>
              <a:rPr sz="1600" b="1" spc="-15" dirty="0">
                <a:latin typeface="Arial"/>
                <a:cs typeface="Arial"/>
              </a:rPr>
              <a:t> </a:t>
            </a:r>
            <a:r>
              <a:rPr sz="1600" b="1" dirty="0">
                <a:latin typeface="Arial"/>
                <a:cs typeface="Arial"/>
              </a:rPr>
              <a:t>|</a:t>
            </a:r>
            <a:r>
              <a:rPr sz="1600" b="1" spc="-5" dirty="0">
                <a:latin typeface="Arial"/>
                <a:cs typeface="Arial"/>
              </a:rPr>
              <a:t> </a:t>
            </a:r>
            <a:r>
              <a:rPr sz="1600" b="1" dirty="0">
                <a:latin typeface="Arial"/>
                <a:cs typeface="Arial"/>
              </a:rPr>
              <a:t>Project</a:t>
            </a:r>
            <a:r>
              <a:rPr sz="1600" b="1" spc="-30" dirty="0">
                <a:latin typeface="Arial"/>
                <a:cs typeface="Arial"/>
              </a:rPr>
              <a:t> </a:t>
            </a:r>
            <a:r>
              <a:rPr sz="1600" b="1" spc="-10" dirty="0">
                <a:latin typeface="Arial"/>
                <a:cs typeface="Arial"/>
              </a:rPr>
              <a:t>Review</a:t>
            </a:r>
            <a:endParaRPr sz="1600">
              <a:latin typeface="Arial"/>
              <a:cs typeface="Arial"/>
            </a:endParaRPr>
          </a:p>
        </p:txBody>
      </p:sp>
    </p:spTree>
    <p:extLst>
      <p:ext uri="{BB962C8B-B14F-4D97-AF65-F5344CB8AC3E}">
        <p14:creationId xmlns:p14="http://schemas.microsoft.com/office/powerpoint/2010/main" val="393309346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10493502" y="0"/>
            <a:ext cx="1698625" cy="898525"/>
            <a:chOff x="10493502" y="0"/>
            <a:chExt cx="1698625" cy="898525"/>
          </a:xfrm>
        </p:grpSpPr>
        <p:pic>
          <p:nvPicPr>
            <p:cNvPr id="3" name="object 3"/>
            <p:cNvPicPr/>
            <p:nvPr/>
          </p:nvPicPr>
          <p:blipFill>
            <a:blip r:embed="rId2" cstate="print"/>
            <a:stretch>
              <a:fillRect/>
            </a:stretch>
          </p:blipFill>
          <p:spPr>
            <a:xfrm>
              <a:off x="11353800" y="0"/>
              <a:ext cx="822198" cy="822198"/>
            </a:xfrm>
            <a:prstGeom prst="rect">
              <a:avLst/>
            </a:prstGeom>
          </p:spPr>
        </p:pic>
        <p:pic>
          <p:nvPicPr>
            <p:cNvPr id="4" name="object 4"/>
            <p:cNvPicPr/>
            <p:nvPr/>
          </p:nvPicPr>
          <p:blipFill>
            <a:blip r:embed="rId3" cstate="print"/>
            <a:stretch>
              <a:fillRect/>
            </a:stretch>
          </p:blipFill>
          <p:spPr>
            <a:xfrm>
              <a:off x="10493502" y="0"/>
              <a:ext cx="1698498" cy="898398"/>
            </a:xfrm>
            <a:prstGeom prst="rect">
              <a:avLst/>
            </a:prstGeom>
          </p:spPr>
        </p:pic>
      </p:grpSp>
      <p:sp>
        <p:nvSpPr>
          <p:cNvPr id="5" name="object 5" descr="$PPTXTitle"/>
          <p:cNvSpPr txBox="1">
            <a:spLocks noGrp="1"/>
          </p:cNvSpPr>
          <p:nvPr>
            <p:ph type="title"/>
          </p:nvPr>
        </p:nvSpPr>
        <p:spPr>
          <a:xfrm>
            <a:off x="851161" y="315869"/>
            <a:ext cx="7835639" cy="689932"/>
          </a:xfrm>
          <a:prstGeom prst="rect">
            <a:avLst/>
          </a:prstGeom>
        </p:spPr>
        <p:txBody>
          <a:bodyPr vert="horz" wrap="square" lIns="0" tIns="12700" rIns="0" bIns="0" rtlCol="0">
            <a:spAutoFit/>
          </a:bodyPr>
          <a:lstStyle/>
          <a:p>
            <a:pPr marL="12700">
              <a:lnSpc>
                <a:spcPct val="100000"/>
              </a:lnSpc>
              <a:spcBef>
                <a:spcPts val="100"/>
              </a:spcBef>
            </a:pPr>
            <a:r>
              <a:rPr lang="en-US" spc="-10" dirty="0" smtClean="0"/>
              <a:t>Results</a:t>
            </a:r>
            <a:endParaRPr spc="-10" dirty="0"/>
          </a:p>
        </p:txBody>
      </p:sp>
      <p:sp>
        <p:nvSpPr>
          <p:cNvPr id="6" name="object 6"/>
          <p:cNvSpPr txBox="1"/>
          <p:nvPr/>
        </p:nvSpPr>
        <p:spPr>
          <a:xfrm>
            <a:off x="851161" y="1055946"/>
            <a:ext cx="10360025" cy="704424"/>
          </a:xfrm>
          <a:prstGeom prst="rect">
            <a:avLst/>
          </a:prstGeom>
        </p:spPr>
        <p:txBody>
          <a:bodyPr vert="horz" wrap="square" lIns="0" tIns="66675" rIns="0" bIns="0" rtlCol="0">
            <a:spAutoFit/>
          </a:bodyPr>
          <a:lstStyle/>
          <a:p>
            <a:pPr marL="12700" marR="5080" algn="just">
              <a:lnSpc>
                <a:spcPct val="90100"/>
              </a:lnSpc>
              <a:spcBef>
                <a:spcPts val="525"/>
              </a:spcBef>
            </a:pPr>
            <a:r>
              <a:rPr lang="en-IN" sz="4600" dirty="0" smtClean="0">
                <a:latin typeface="Times New Roman" panose="02020603050405020304" pitchFamily="18" charset="0"/>
                <a:cs typeface="Times New Roman" panose="02020603050405020304" pitchFamily="18" charset="0"/>
              </a:rPr>
              <a:t>T</a:t>
            </a:r>
            <a:endParaRPr sz="4600" dirty="0">
              <a:latin typeface="Times New Roman" panose="02020603050405020304" pitchFamily="18" charset="0"/>
              <a:cs typeface="Times New Roman" panose="02020603050405020304" pitchFamily="18" charset="0"/>
            </a:endParaRPr>
          </a:p>
        </p:txBody>
      </p:sp>
      <p:grpSp>
        <p:nvGrpSpPr>
          <p:cNvPr id="7" name="object 7"/>
          <p:cNvGrpSpPr/>
          <p:nvPr/>
        </p:nvGrpSpPr>
        <p:grpSpPr>
          <a:xfrm>
            <a:off x="-6095" y="6470903"/>
            <a:ext cx="12204700" cy="393700"/>
            <a:chOff x="-6095" y="6470903"/>
            <a:chExt cx="12204700" cy="393700"/>
          </a:xfrm>
        </p:grpSpPr>
        <p:sp>
          <p:nvSpPr>
            <p:cNvPr id="8" name="object 8"/>
            <p:cNvSpPr/>
            <p:nvPr/>
          </p:nvSpPr>
          <p:spPr>
            <a:xfrm>
              <a:off x="381" y="6477380"/>
              <a:ext cx="12192000" cy="381000"/>
            </a:xfrm>
            <a:custGeom>
              <a:avLst/>
              <a:gdLst/>
              <a:ahLst/>
              <a:cxnLst/>
              <a:rect l="l" t="t" r="r" b="b"/>
              <a:pathLst>
                <a:path w="12192000" h="381000">
                  <a:moveTo>
                    <a:pt x="12191619" y="0"/>
                  </a:moveTo>
                  <a:lnTo>
                    <a:pt x="0" y="0"/>
                  </a:lnTo>
                  <a:lnTo>
                    <a:pt x="0" y="380619"/>
                  </a:lnTo>
                  <a:lnTo>
                    <a:pt x="12191619" y="380619"/>
                  </a:lnTo>
                  <a:lnTo>
                    <a:pt x="12191619" y="0"/>
                  </a:lnTo>
                  <a:close/>
                </a:path>
              </a:pathLst>
            </a:custGeom>
            <a:solidFill>
              <a:srgbClr val="5B9BD4"/>
            </a:solidFill>
          </p:spPr>
          <p:txBody>
            <a:bodyPr wrap="square" lIns="0" tIns="0" rIns="0" bIns="0" rtlCol="0"/>
            <a:lstStyle/>
            <a:p>
              <a:endParaRPr/>
            </a:p>
          </p:txBody>
        </p:sp>
        <p:sp>
          <p:nvSpPr>
            <p:cNvPr id="9" name="object 9"/>
            <p:cNvSpPr/>
            <p:nvPr/>
          </p:nvSpPr>
          <p:spPr>
            <a:xfrm>
              <a:off x="381" y="6477380"/>
              <a:ext cx="12192000" cy="381000"/>
            </a:xfrm>
            <a:custGeom>
              <a:avLst/>
              <a:gdLst/>
              <a:ahLst/>
              <a:cxnLst/>
              <a:rect l="l" t="t" r="r" b="b"/>
              <a:pathLst>
                <a:path w="12192000" h="381000">
                  <a:moveTo>
                    <a:pt x="12191619" y="0"/>
                  </a:moveTo>
                  <a:lnTo>
                    <a:pt x="0" y="0"/>
                  </a:lnTo>
                  <a:lnTo>
                    <a:pt x="0" y="380619"/>
                  </a:lnTo>
                </a:path>
              </a:pathLst>
            </a:custGeom>
            <a:ln w="12953">
              <a:solidFill>
                <a:srgbClr val="41709C"/>
              </a:solidFill>
            </a:ln>
          </p:spPr>
          <p:txBody>
            <a:bodyPr wrap="square" lIns="0" tIns="0" rIns="0" bIns="0" rtlCol="0"/>
            <a:lstStyle/>
            <a:p>
              <a:endParaRPr/>
            </a:p>
          </p:txBody>
        </p:sp>
      </p:grpSp>
      <p:sp>
        <p:nvSpPr>
          <p:cNvPr id="10" name="object 10"/>
          <p:cNvSpPr txBox="1">
            <a:spLocks noGrp="1"/>
          </p:cNvSpPr>
          <p:nvPr>
            <p:ph type="ftr" sz="quarter" idx="5"/>
          </p:nvPr>
        </p:nvSpPr>
        <p:spPr>
          <a:prstGeom prst="rect">
            <a:avLst/>
          </a:prstGeom>
        </p:spPr>
        <p:txBody>
          <a:bodyPr vert="horz" wrap="square" lIns="0" tIns="0" rIns="0" bIns="0" rtlCol="0">
            <a:spAutoFit/>
          </a:bodyPr>
          <a:lstStyle/>
          <a:p>
            <a:pPr marL="12700">
              <a:lnSpc>
                <a:spcPts val="1710"/>
              </a:lnSpc>
            </a:pPr>
            <a:r>
              <a:rPr dirty="0"/>
              <a:t>MRCET</a:t>
            </a:r>
            <a:r>
              <a:rPr spc="-15" dirty="0"/>
              <a:t> </a:t>
            </a:r>
            <a:r>
              <a:rPr dirty="0"/>
              <a:t>|</a:t>
            </a:r>
            <a:r>
              <a:rPr spc="-15" dirty="0"/>
              <a:t> </a:t>
            </a:r>
            <a:r>
              <a:rPr spc="-10" dirty="0"/>
              <a:t>Department</a:t>
            </a:r>
            <a:r>
              <a:rPr dirty="0"/>
              <a:t> of Emerging</a:t>
            </a:r>
            <a:r>
              <a:rPr spc="-5" dirty="0"/>
              <a:t> </a:t>
            </a:r>
            <a:r>
              <a:rPr spc="-25" dirty="0"/>
              <a:t>Technologies</a:t>
            </a:r>
            <a:r>
              <a:rPr spc="5" dirty="0"/>
              <a:t> </a:t>
            </a:r>
            <a:r>
              <a:rPr dirty="0"/>
              <a:t>|</a:t>
            </a:r>
            <a:r>
              <a:rPr spc="-5" dirty="0"/>
              <a:t> </a:t>
            </a:r>
            <a:r>
              <a:rPr spc="-10" dirty="0"/>
              <a:t>Application</a:t>
            </a:r>
            <a:r>
              <a:rPr spc="-15" dirty="0"/>
              <a:t> </a:t>
            </a:r>
            <a:r>
              <a:rPr spc="-20" dirty="0"/>
              <a:t>Development-</a:t>
            </a:r>
            <a:r>
              <a:rPr dirty="0"/>
              <a:t>II</a:t>
            </a:r>
            <a:r>
              <a:rPr spc="10" dirty="0"/>
              <a:t> </a:t>
            </a:r>
            <a:r>
              <a:rPr dirty="0"/>
              <a:t>PPT|</a:t>
            </a:r>
            <a:r>
              <a:rPr spc="-20" dirty="0"/>
              <a:t> </a:t>
            </a:r>
            <a:r>
              <a:rPr dirty="0"/>
              <a:t>III</a:t>
            </a:r>
            <a:r>
              <a:rPr spc="-20" dirty="0"/>
              <a:t> Year</a:t>
            </a:r>
            <a:r>
              <a:rPr dirty="0"/>
              <a:t> </a:t>
            </a:r>
            <a:r>
              <a:rPr spc="-55" dirty="0"/>
              <a:t>B.Tech-</a:t>
            </a:r>
            <a:r>
              <a:rPr dirty="0"/>
              <a:t>II</a:t>
            </a:r>
            <a:r>
              <a:rPr spc="-15" dirty="0"/>
              <a:t> </a:t>
            </a:r>
            <a:r>
              <a:rPr spc="-10" dirty="0"/>
              <a:t>Semester</a:t>
            </a:r>
          </a:p>
        </p:txBody>
      </p:sp>
      <p:sp>
        <p:nvSpPr>
          <p:cNvPr id="11" name="object 11"/>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spc="-50" dirty="0"/>
              <a:t>19</a:t>
            </a:fld>
            <a:endParaRPr spc="-50" dirty="0"/>
          </a:p>
        </p:txBody>
      </p:sp>
      <p:sp>
        <p:nvSpPr>
          <p:cNvPr id="12" name="object 12"/>
          <p:cNvSpPr txBox="1"/>
          <p:nvPr/>
        </p:nvSpPr>
        <p:spPr>
          <a:xfrm>
            <a:off x="919988" y="6546615"/>
            <a:ext cx="10353040" cy="261620"/>
          </a:xfrm>
          <a:prstGeom prst="rect">
            <a:avLst/>
          </a:prstGeom>
        </p:spPr>
        <p:txBody>
          <a:bodyPr vert="horz" wrap="square" lIns="0" tIns="1905" rIns="0" bIns="0" rtlCol="0">
            <a:spAutoFit/>
          </a:bodyPr>
          <a:lstStyle/>
          <a:p>
            <a:pPr marL="12700">
              <a:lnSpc>
                <a:spcPct val="100000"/>
              </a:lnSpc>
              <a:spcBef>
                <a:spcPts val="15"/>
              </a:spcBef>
            </a:pPr>
            <a:r>
              <a:rPr sz="1600" b="1" spc="-10" dirty="0">
                <a:latin typeface="Arial"/>
                <a:cs typeface="Arial"/>
              </a:rPr>
              <a:t>B.Tech</a:t>
            </a:r>
            <a:r>
              <a:rPr sz="1600" b="1" spc="-30" dirty="0">
                <a:latin typeface="Arial"/>
                <a:cs typeface="Arial"/>
              </a:rPr>
              <a:t> </a:t>
            </a:r>
            <a:r>
              <a:rPr sz="1600" b="1" spc="50" dirty="0">
                <a:latin typeface="Arial"/>
                <a:cs typeface="Arial"/>
              </a:rPr>
              <a:t>III</a:t>
            </a:r>
            <a:r>
              <a:rPr sz="1600" b="1" spc="-20" dirty="0">
                <a:latin typeface="Arial"/>
                <a:cs typeface="Arial"/>
              </a:rPr>
              <a:t> </a:t>
            </a:r>
            <a:r>
              <a:rPr sz="1600" b="1" dirty="0">
                <a:latin typeface="Arial"/>
                <a:cs typeface="Arial"/>
              </a:rPr>
              <a:t>Year</a:t>
            </a:r>
            <a:r>
              <a:rPr sz="1600" b="1" spc="-25" dirty="0">
                <a:latin typeface="Arial"/>
                <a:cs typeface="Arial"/>
              </a:rPr>
              <a:t> </a:t>
            </a:r>
            <a:r>
              <a:rPr sz="1600" b="1" spc="-95" dirty="0">
                <a:latin typeface="Arial"/>
                <a:cs typeface="Arial"/>
              </a:rPr>
              <a:t>–</a:t>
            </a:r>
            <a:r>
              <a:rPr sz="1600" b="1" spc="-5" dirty="0">
                <a:latin typeface="Arial"/>
                <a:cs typeface="Arial"/>
              </a:rPr>
              <a:t> </a:t>
            </a:r>
            <a:r>
              <a:rPr sz="1600" b="1" spc="50" dirty="0">
                <a:latin typeface="Arial"/>
                <a:cs typeface="Arial"/>
              </a:rPr>
              <a:t>II</a:t>
            </a:r>
            <a:r>
              <a:rPr sz="1600" b="1" spc="-20" dirty="0">
                <a:latin typeface="Arial"/>
                <a:cs typeface="Arial"/>
              </a:rPr>
              <a:t> </a:t>
            </a:r>
            <a:r>
              <a:rPr sz="1600" b="1" dirty="0">
                <a:latin typeface="Arial"/>
                <a:cs typeface="Arial"/>
              </a:rPr>
              <a:t>Sem</a:t>
            </a:r>
            <a:r>
              <a:rPr sz="1600" b="1" spc="-25" dirty="0">
                <a:latin typeface="Arial"/>
                <a:cs typeface="Arial"/>
              </a:rPr>
              <a:t> </a:t>
            </a:r>
            <a:r>
              <a:rPr sz="1600" b="1" dirty="0">
                <a:latin typeface="Arial"/>
                <a:cs typeface="Arial"/>
              </a:rPr>
              <a:t>|</a:t>
            </a:r>
            <a:r>
              <a:rPr sz="1600" b="1" spc="-15" dirty="0">
                <a:latin typeface="Arial"/>
                <a:cs typeface="Arial"/>
              </a:rPr>
              <a:t> </a:t>
            </a:r>
            <a:r>
              <a:rPr sz="1600" b="1" dirty="0">
                <a:latin typeface="Arial"/>
                <a:cs typeface="Arial"/>
              </a:rPr>
              <a:t>Dept</a:t>
            </a:r>
            <a:r>
              <a:rPr sz="1600" b="1" spc="-20" dirty="0">
                <a:latin typeface="Arial"/>
                <a:cs typeface="Arial"/>
              </a:rPr>
              <a:t> </a:t>
            </a:r>
            <a:r>
              <a:rPr sz="1600" b="1" dirty="0">
                <a:latin typeface="Arial"/>
                <a:cs typeface="Arial"/>
              </a:rPr>
              <a:t>of</a:t>
            </a:r>
            <a:r>
              <a:rPr sz="1600" b="1" spc="190" dirty="0">
                <a:latin typeface="Arial"/>
                <a:cs typeface="Arial"/>
              </a:rPr>
              <a:t> </a:t>
            </a:r>
            <a:r>
              <a:rPr sz="1600" b="1" dirty="0">
                <a:latin typeface="Arial"/>
                <a:cs typeface="Arial"/>
              </a:rPr>
              <a:t>Computational</a:t>
            </a:r>
            <a:r>
              <a:rPr sz="1600" b="1" spc="-25" dirty="0">
                <a:latin typeface="Arial"/>
                <a:cs typeface="Arial"/>
              </a:rPr>
              <a:t> </a:t>
            </a:r>
            <a:r>
              <a:rPr sz="1600" b="1" dirty="0">
                <a:latin typeface="Arial"/>
                <a:cs typeface="Arial"/>
              </a:rPr>
              <a:t>Intelligence|</a:t>
            </a:r>
            <a:r>
              <a:rPr sz="1600" b="1" spc="-25" dirty="0">
                <a:latin typeface="Arial"/>
                <a:cs typeface="Arial"/>
              </a:rPr>
              <a:t> </a:t>
            </a:r>
            <a:r>
              <a:rPr sz="1600" b="1" dirty="0">
                <a:latin typeface="Arial"/>
                <a:cs typeface="Arial"/>
              </a:rPr>
              <a:t>Application</a:t>
            </a:r>
            <a:r>
              <a:rPr sz="1600" b="1" spc="-35" dirty="0">
                <a:latin typeface="Arial"/>
                <a:cs typeface="Arial"/>
              </a:rPr>
              <a:t> </a:t>
            </a:r>
            <a:r>
              <a:rPr sz="1600" b="1" dirty="0">
                <a:latin typeface="Arial"/>
                <a:cs typeface="Arial"/>
              </a:rPr>
              <a:t>Development</a:t>
            </a:r>
            <a:r>
              <a:rPr sz="1600" b="1" spc="5" dirty="0">
                <a:latin typeface="Arial"/>
                <a:cs typeface="Arial"/>
              </a:rPr>
              <a:t> </a:t>
            </a:r>
            <a:r>
              <a:rPr sz="1600" b="1" spc="-95" dirty="0">
                <a:latin typeface="Arial"/>
                <a:cs typeface="Arial"/>
              </a:rPr>
              <a:t>–</a:t>
            </a:r>
            <a:r>
              <a:rPr sz="1600" b="1" spc="-10" dirty="0">
                <a:latin typeface="Arial"/>
                <a:cs typeface="Arial"/>
              </a:rPr>
              <a:t> </a:t>
            </a:r>
            <a:r>
              <a:rPr sz="1600" b="1" spc="50" dirty="0">
                <a:latin typeface="Arial"/>
                <a:cs typeface="Arial"/>
              </a:rPr>
              <a:t>II</a:t>
            </a:r>
            <a:r>
              <a:rPr sz="1600" b="1" spc="-15" dirty="0">
                <a:latin typeface="Arial"/>
                <a:cs typeface="Arial"/>
              </a:rPr>
              <a:t> </a:t>
            </a:r>
            <a:r>
              <a:rPr sz="1600" b="1" dirty="0">
                <a:latin typeface="Arial"/>
                <a:cs typeface="Arial"/>
              </a:rPr>
              <a:t>|</a:t>
            </a:r>
            <a:r>
              <a:rPr sz="1600" b="1" spc="-5" dirty="0">
                <a:latin typeface="Arial"/>
                <a:cs typeface="Arial"/>
              </a:rPr>
              <a:t> </a:t>
            </a:r>
            <a:r>
              <a:rPr sz="1600" b="1" dirty="0">
                <a:latin typeface="Arial"/>
                <a:cs typeface="Arial"/>
              </a:rPr>
              <a:t>Project</a:t>
            </a:r>
            <a:r>
              <a:rPr sz="1600" b="1" spc="-30" dirty="0">
                <a:latin typeface="Arial"/>
                <a:cs typeface="Arial"/>
              </a:rPr>
              <a:t> </a:t>
            </a:r>
            <a:r>
              <a:rPr sz="1600" b="1" spc="-10" dirty="0">
                <a:latin typeface="Arial"/>
                <a:cs typeface="Arial"/>
              </a:rPr>
              <a:t>Review</a:t>
            </a:r>
            <a:endParaRPr sz="1600">
              <a:latin typeface="Arial"/>
              <a:cs typeface="Arial"/>
            </a:endParaRPr>
          </a:p>
        </p:txBody>
      </p:sp>
    </p:spTree>
    <p:extLst>
      <p:ext uri="{BB962C8B-B14F-4D97-AF65-F5344CB8AC3E}">
        <p14:creationId xmlns:p14="http://schemas.microsoft.com/office/powerpoint/2010/main" val="279083982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10493502" y="0"/>
            <a:ext cx="1698625" cy="898525"/>
            <a:chOff x="10493502" y="0"/>
            <a:chExt cx="1698625" cy="898525"/>
          </a:xfrm>
        </p:grpSpPr>
        <p:pic>
          <p:nvPicPr>
            <p:cNvPr id="3" name="object 3"/>
            <p:cNvPicPr/>
            <p:nvPr/>
          </p:nvPicPr>
          <p:blipFill>
            <a:blip r:embed="rId2" cstate="print"/>
            <a:stretch>
              <a:fillRect/>
            </a:stretch>
          </p:blipFill>
          <p:spPr>
            <a:xfrm>
              <a:off x="11353800" y="0"/>
              <a:ext cx="822198" cy="822198"/>
            </a:xfrm>
            <a:prstGeom prst="rect">
              <a:avLst/>
            </a:prstGeom>
          </p:spPr>
        </p:pic>
        <p:pic>
          <p:nvPicPr>
            <p:cNvPr id="4" name="object 4"/>
            <p:cNvPicPr/>
            <p:nvPr/>
          </p:nvPicPr>
          <p:blipFill>
            <a:blip r:embed="rId3" cstate="print"/>
            <a:stretch>
              <a:fillRect/>
            </a:stretch>
          </p:blipFill>
          <p:spPr>
            <a:xfrm>
              <a:off x="10493502" y="0"/>
              <a:ext cx="1698498" cy="898398"/>
            </a:xfrm>
            <a:prstGeom prst="rect">
              <a:avLst/>
            </a:prstGeom>
          </p:spPr>
        </p:pic>
      </p:grpSp>
      <p:sp>
        <p:nvSpPr>
          <p:cNvPr id="5" name="object 5" descr="$PPTXTitle"/>
          <p:cNvSpPr txBox="1">
            <a:spLocks noGrp="1"/>
          </p:cNvSpPr>
          <p:nvPr>
            <p:ph type="title"/>
          </p:nvPr>
        </p:nvSpPr>
        <p:spPr>
          <a:xfrm>
            <a:off x="851161" y="315869"/>
            <a:ext cx="7835639" cy="689932"/>
          </a:xfrm>
          <a:prstGeom prst="rect">
            <a:avLst/>
          </a:prstGeom>
        </p:spPr>
        <p:txBody>
          <a:bodyPr vert="horz" wrap="square" lIns="0" tIns="12700" rIns="0" bIns="0" rtlCol="0">
            <a:spAutoFit/>
          </a:bodyPr>
          <a:lstStyle/>
          <a:p>
            <a:pPr marL="12700">
              <a:lnSpc>
                <a:spcPct val="100000"/>
              </a:lnSpc>
              <a:spcBef>
                <a:spcPts val="100"/>
              </a:spcBef>
            </a:pPr>
            <a:r>
              <a:rPr lang="en-US" spc="-10" dirty="0" smtClean="0"/>
              <a:t>Performance Evaluation</a:t>
            </a:r>
            <a:endParaRPr spc="-10" dirty="0"/>
          </a:p>
        </p:txBody>
      </p:sp>
      <p:sp>
        <p:nvSpPr>
          <p:cNvPr id="6" name="object 6"/>
          <p:cNvSpPr txBox="1"/>
          <p:nvPr/>
        </p:nvSpPr>
        <p:spPr>
          <a:xfrm>
            <a:off x="851161" y="1055946"/>
            <a:ext cx="10360025" cy="704424"/>
          </a:xfrm>
          <a:prstGeom prst="rect">
            <a:avLst/>
          </a:prstGeom>
        </p:spPr>
        <p:txBody>
          <a:bodyPr vert="horz" wrap="square" lIns="0" tIns="66675" rIns="0" bIns="0" rtlCol="0">
            <a:spAutoFit/>
          </a:bodyPr>
          <a:lstStyle/>
          <a:p>
            <a:pPr marL="12700" marR="5080" algn="just">
              <a:lnSpc>
                <a:spcPct val="90100"/>
              </a:lnSpc>
              <a:spcBef>
                <a:spcPts val="525"/>
              </a:spcBef>
            </a:pPr>
            <a:r>
              <a:rPr lang="en-IN" sz="4600" dirty="0" smtClean="0">
                <a:latin typeface="Times New Roman" panose="02020603050405020304" pitchFamily="18" charset="0"/>
                <a:cs typeface="Times New Roman" panose="02020603050405020304" pitchFamily="18" charset="0"/>
              </a:rPr>
              <a:t>T</a:t>
            </a:r>
            <a:endParaRPr sz="4600" dirty="0">
              <a:latin typeface="Times New Roman" panose="02020603050405020304" pitchFamily="18" charset="0"/>
              <a:cs typeface="Times New Roman" panose="02020603050405020304" pitchFamily="18" charset="0"/>
            </a:endParaRPr>
          </a:p>
        </p:txBody>
      </p:sp>
      <p:grpSp>
        <p:nvGrpSpPr>
          <p:cNvPr id="7" name="object 7"/>
          <p:cNvGrpSpPr/>
          <p:nvPr/>
        </p:nvGrpSpPr>
        <p:grpSpPr>
          <a:xfrm>
            <a:off x="-6095" y="6470903"/>
            <a:ext cx="12204700" cy="393700"/>
            <a:chOff x="-6095" y="6470903"/>
            <a:chExt cx="12204700" cy="393700"/>
          </a:xfrm>
        </p:grpSpPr>
        <p:sp>
          <p:nvSpPr>
            <p:cNvPr id="8" name="object 8"/>
            <p:cNvSpPr/>
            <p:nvPr/>
          </p:nvSpPr>
          <p:spPr>
            <a:xfrm>
              <a:off x="381" y="6477380"/>
              <a:ext cx="12192000" cy="381000"/>
            </a:xfrm>
            <a:custGeom>
              <a:avLst/>
              <a:gdLst/>
              <a:ahLst/>
              <a:cxnLst/>
              <a:rect l="l" t="t" r="r" b="b"/>
              <a:pathLst>
                <a:path w="12192000" h="381000">
                  <a:moveTo>
                    <a:pt x="12191619" y="0"/>
                  </a:moveTo>
                  <a:lnTo>
                    <a:pt x="0" y="0"/>
                  </a:lnTo>
                  <a:lnTo>
                    <a:pt x="0" y="380619"/>
                  </a:lnTo>
                  <a:lnTo>
                    <a:pt x="12191619" y="380619"/>
                  </a:lnTo>
                  <a:lnTo>
                    <a:pt x="12191619" y="0"/>
                  </a:lnTo>
                  <a:close/>
                </a:path>
              </a:pathLst>
            </a:custGeom>
            <a:solidFill>
              <a:srgbClr val="5B9BD4"/>
            </a:solidFill>
          </p:spPr>
          <p:txBody>
            <a:bodyPr wrap="square" lIns="0" tIns="0" rIns="0" bIns="0" rtlCol="0"/>
            <a:lstStyle/>
            <a:p>
              <a:endParaRPr/>
            </a:p>
          </p:txBody>
        </p:sp>
        <p:sp>
          <p:nvSpPr>
            <p:cNvPr id="9" name="object 9"/>
            <p:cNvSpPr/>
            <p:nvPr/>
          </p:nvSpPr>
          <p:spPr>
            <a:xfrm>
              <a:off x="381" y="6477380"/>
              <a:ext cx="12192000" cy="381000"/>
            </a:xfrm>
            <a:custGeom>
              <a:avLst/>
              <a:gdLst/>
              <a:ahLst/>
              <a:cxnLst/>
              <a:rect l="l" t="t" r="r" b="b"/>
              <a:pathLst>
                <a:path w="12192000" h="381000">
                  <a:moveTo>
                    <a:pt x="12191619" y="0"/>
                  </a:moveTo>
                  <a:lnTo>
                    <a:pt x="0" y="0"/>
                  </a:lnTo>
                  <a:lnTo>
                    <a:pt x="0" y="380619"/>
                  </a:lnTo>
                </a:path>
              </a:pathLst>
            </a:custGeom>
            <a:ln w="12953">
              <a:solidFill>
                <a:srgbClr val="41709C"/>
              </a:solidFill>
            </a:ln>
          </p:spPr>
          <p:txBody>
            <a:bodyPr wrap="square" lIns="0" tIns="0" rIns="0" bIns="0" rtlCol="0"/>
            <a:lstStyle/>
            <a:p>
              <a:endParaRPr/>
            </a:p>
          </p:txBody>
        </p:sp>
      </p:grpSp>
      <p:sp>
        <p:nvSpPr>
          <p:cNvPr id="10" name="object 10"/>
          <p:cNvSpPr txBox="1">
            <a:spLocks noGrp="1"/>
          </p:cNvSpPr>
          <p:nvPr>
            <p:ph type="ftr" sz="quarter" idx="5"/>
          </p:nvPr>
        </p:nvSpPr>
        <p:spPr>
          <a:prstGeom prst="rect">
            <a:avLst/>
          </a:prstGeom>
        </p:spPr>
        <p:txBody>
          <a:bodyPr vert="horz" wrap="square" lIns="0" tIns="0" rIns="0" bIns="0" rtlCol="0">
            <a:spAutoFit/>
          </a:bodyPr>
          <a:lstStyle/>
          <a:p>
            <a:pPr marL="12700">
              <a:lnSpc>
                <a:spcPts val="1710"/>
              </a:lnSpc>
            </a:pPr>
            <a:r>
              <a:rPr dirty="0"/>
              <a:t>MRCET</a:t>
            </a:r>
            <a:r>
              <a:rPr spc="-15" dirty="0"/>
              <a:t> </a:t>
            </a:r>
            <a:r>
              <a:rPr dirty="0"/>
              <a:t>|</a:t>
            </a:r>
            <a:r>
              <a:rPr spc="-15" dirty="0"/>
              <a:t> </a:t>
            </a:r>
            <a:r>
              <a:rPr spc="-10" dirty="0"/>
              <a:t>Department</a:t>
            </a:r>
            <a:r>
              <a:rPr dirty="0"/>
              <a:t> of Emerging</a:t>
            </a:r>
            <a:r>
              <a:rPr spc="-5" dirty="0"/>
              <a:t> </a:t>
            </a:r>
            <a:r>
              <a:rPr spc="-25" dirty="0"/>
              <a:t>Technologies</a:t>
            </a:r>
            <a:r>
              <a:rPr spc="5" dirty="0"/>
              <a:t> </a:t>
            </a:r>
            <a:r>
              <a:rPr dirty="0"/>
              <a:t>|</a:t>
            </a:r>
            <a:r>
              <a:rPr spc="-5" dirty="0"/>
              <a:t> </a:t>
            </a:r>
            <a:r>
              <a:rPr spc="-10" dirty="0"/>
              <a:t>Application</a:t>
            </a:r>
            <a:r>
              <a:rPr spc="-15" dirty="0"/>
              <a:t> </a:t>
            </a:r>
            <a:r>
              <a:rPr spc="-20" dirty="0"/>
              <a:t>Development-</a:t>
            </a:r>
            <a:r>
              <a:rPr dirty="0"/>
              <a:t>II</a:t>
            </a:r>
            <a:r>
              <a:rPr spc="10" dirty="0"/>
              <a:t> </a:t>
            </a:r>
            <a:r>
              <a:rPr dirty="0"/>
              <a:t>PPT|</a:t>
            </a:r>
            <a:r>
              <a:rPr spc="-20" dirty="0"/>
              <a:t> </a:t>
            </a:r>
            <a:r>
              <a:rPr dirty="0"/>
              <a:t>III</a:t>
            </a:r>
            <a:r>
              <a:rPr spc="-20" dirty="0"/>
              <a:t> Year</a:t>
            </a:r>
            <a:r>
              <a:rPr dirty="0"/>
              <a:t> </a:t>
            </a:r>
            <a:r>
              <a:rPr spc="-55" dirty="0"/>
              <a:t>B.Tech-</a:t>
            </a:r>
            <a:r>
              <a:rPr dirty="0"/>
              <a:t>II</a:t>
            </a:r>
            <a:r>
              <a:rPr spc="-15" dirty="0"/>
              <a:t> </a:t>
            </a:r>
            <a:r>
              <a:rPr spc="-10" dirty="0"/>
              <a:t>Semester</a:t>
            </a:r>
          </a:p>
        </p:txBody>
      </p:sp>
      <p:sp>
        <p:nvSpPr>
          <p:cNvPr id="11" name="object 11"/>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spc="-50" dirty="0"/>
              <a:t>20</a:t>
            </a:fld>
            <a:endParaRPr spc="-50" dirty="0"/>
          </a:p>
        </p:txBody>
      </p:sp>
      <p:sp>
        <p:nvSpPr>
          <p:cNvPr id="12" name="object 12"/>
          <p:cNvSpPr txBox="1"/>
          <p:nvPr/>
        </p:nvSpPr>
        <p:spPr>
          <a:xfrm>
            <a:off x="919988" y="6546615"/>
            <a:ext cx="10353040" cy="261620"/>
          </a:xfrm>
          <a:prstGeom prst="rect">
            <a:avLst/>
          </a:prstGeom>
        </p:spPr>
        <p:txBody>
          <a:bodyPr vert="horz" wrap="square" lIns="0" tIns="1905" rIns="0" bIns="0" rtlCol="0">
            <a:spAutoFit/>
          </a:bodyPr>
          <a:lstStyle/>
          <a:p>
            <a:pPr marL="12700">
              <a:lnSpc>
                <a:spcPct val="100000"/>
              </a:lnSpc>
              <a:spcBef>
                <a:spcPts val="15"/>
              </a:spcBef>
            </a:pPr>
            <a:r>
              <a:rPr sz="1600" b="1" spc="-10" dirty="0">
                <a:latin typeface="Arial"/>
                <a:cs typeface="Arial"/>
              </a:rPr>
              <a:t>B.Tech</a:t>
            </a:r>
            <a:r>
              <a:rPr sz="1600" b="1" spc="-30" dirty="0">
                <a:latin typeface="Arial"/>
                <a:cs typeface="Arial"/>
              </a:rPr>
              <a:t> </a:t>
            </a:r>
            <a:r>
              <a:rPr sz="1600" b="1" spc="50" dirty="0">
                <a:latin typeface="Arial"/>
                <a:cs typeface="Arial"/>
              </a:rPr>
              <a:t>III</a:t>
            </a:r>
            <a:r>
              <a:rPr sz="1600" b="1" spc="-20" dirty="0">
                <a:latin typeface="Arial"/>
                <a:cs typeface="Arial"/>
              </a:rPr>
              <a:t> </a:t>
            </a:r>
            <a:r>
              <a:rPr sz="1600" b="1" dirty="0">
                <a:latin typeface="Arial"/>
                <a:cs typeface="Arial"/>
              </a:rPr>
              <a:t>Year</a:t>
            </a:r>
            <a:r>
              <a:rPr sz="1600" b="1" spc="-25" dirty="0">
                <a:latin typeface="Arial"/>
                <a:cs typeface="Arial"/>
              </a:rPr>
              <a:t> </a:t>
            </a:r>
            <a:r>
              <a:rPr sz="1600" b="1" spc="-95" dirty="0">
                <a:latin typeface="Arial"/>
                <a:cs typeface="Arial"/>
              </a:rPr>
              <a:t>–</a:t>
            </a:r>
            <a:r>
              <a:rPr sz="1600" b="1" spc="-5" dirty="0">
                <a:latin typeface="Arial"/>
                <a:cs typeface="Arial"/>
              </a:rPr>
              <a:t> </a:t>
            </a:r>
            <a:r>
              <a:rPr sz="1600" b="1" spc="50" dirty="0">
                <a:latin typeface="Arial"/>
                <a:cs typeface="Arial"/>
              </a:rPr>
              <a:t>II</a:t>
            </a:r>
            <a:r>
              <a:rPr sz="1600" b="1" spc="-20" dirty="0">
                <a:latin typeface="Arial"/>
                <a:cs typeface="Arial"/>
              </a:rPr>
              <a:t> </a:t>
            </a:r>
            <a:r>
              <a:rPr sz="1600" b="1" dirty="0">
                <a:latin typeface="Arial"/>
                <a:cs typeface="Arial"/>
              </a:rPr>
              <a:t>Sem</a:t>
            </a:r>
            <a:r>
              <a:rPr sz="1600" b="1" spc="-25" dirty="0">
                <a:latin typeface="Arial"/>
                <a:cs typeface="Arial"/>
              </a:rPr>
              <a:t> </a:t>
            </a:r>
            <a:r>
              <a:rPr sz="1600" b="1" dirty="0">
                <a:latin typeface="Arial"/>
                <a:cs typeface="Arial"/>
              </a:rPr>
              <a:t>|</a:t>
            </a:r>
            <a:r>
              <a:rPr sz="1600" b="1" spc="-15" dirty="0">
                <a:latin typeface="Arial"/>
                <a:cs typeface="Arial"/>
              </a:rPr>
              <a:t> </a:t>
            </a:r>
            <a:r>
              <a:rPr sz="1600" b="1" dirty="0">
                <a:latin typeface="Arial"/>
                <a:cs typeface="Arial"/>
              </a:rPr>
              <a:t>Dept</a:t>
            </a:r>
            <a:r>
              <a:rPr sz="1600" b="1" spc="-20" dirty="0">
                <a:latin typeface="Arial"/>
                <a:cs typeface="Arial"/>
              </a:rPr>
              <a:t> </a:t>
            </a:r>
            <a:r>
              <a:rPr sz="1600" b="1" dirty="0">
                <a:latin typeface="Arial"/>
                <a:cs typeface="Arial"/>
              </a:rPr>
              <a:t>of</a:t>
            </a:r>
            <a:r>
              <a:rPr sz="1600" b="1" spc="190" dirty="0">
                <a:latin typeface="Arial"/>
                <a:cs typeface="Arial"/>
              </a:rPr>
              <a:t> </a:t>
            </a:r>
            <a:r>
              <a:rPr sz="1600" b="1" dirty="0">
                <a:latin typeface="Arial"/>
                <a:cs typeface="Arial"/>
              </a:rPr>
              <a:t>Computational</a:t>
            </a:r>
            <a:r>
              <a:rPr sz="1600" b="1" spc="-25" dirty="0">
                <a:latin typeface="Arial"/>
                <a:cs typeface="Arial"/>
              </a:rPr>
              <a:t> </a:t>
            </a:r>
            <a:r>
              <a:rPr sz="1600" b="1" dirty="0">
                <a:latin typeface="Arial"/>
                <a:cs typeface="Arial"/>
              </a:rPr>
              <a:t>Intelligence|</a:t>
            </a:r>
            <a:r>
              <a:rPr sz="1600" b="1" spc="-25" dirty="0">
                <a:latin typeface="Arial"/>
                <a:cs typeface="Arial"/>
              </a:rPr>
              <a:t> </a:t>
            </a:r>
            <a:r>
              <a:rPr sz="1600" b="1" dirty="0">
                <a:latin typeface="Arial"/>
                <a:cs typeface="Arial"/>
              </a:rPr>
              <a:t>Application</a:t>
            </a:r>
            <a:r>
              <a:rPr sz="1600" b="1" spc="-35" dirty="0">
                <a:latin typeface="Arial"/>
                <a:cs typeface="Arial"/>
              </a:rPr>
              <a:t> </a:t>
            </a:r>
            <a:r>
              <a:rPr sz="1600" b="1" dirty="0">
                <a:latin typeface="Arial"/>
                <a:cs typeface="Arial"/>
              </a:rPr>
              <a:t>Development</a:t>
            </a:r>
            <a:r>
              <a:rPr sz="1600" b="1" spc="5" dirty="0">
                <a:latin typeface="Arial"/>
                <a:cs typeface="Arial"/>
              </a:rPr>
              <a:t> </a:t>
            </a:r>
            <a:r>
              <a:rPr sz="1600" b="1" spc="-95" dirty="0">
                <a:latin typeface="Arial"/>
                <a:cs typeface="Arial"/>
              </a:rPr>
              <a:t>–</a:t>
            </a:r>
            <a:r>
              <a:rPr sz="1600" b="1" spc="-10" dirty="0">
                <a:latin typeface="Arial"/>
                <a:cs typeface="Arial"/>
              </a:rPr>
              <a:t> </a:t>
            </a:r>
            <a:r>
              <a:rPr sz="1600" b="1" spc="50" dirty="0">
                <a:latin typeface="Arial"/>
                <a:cs typeface="Arial"/>
              </a:rPr>
              <a:t>II</a:t>
            </a:r>
            <a:r>
              <a:rPr sz="1600" b="1" spc="-15" dirty="0">
                <a:latin typeface="Arial"/>
                <a:cs typeface="Arial"/>
              </a:rPr>
              <a:t> </a:t>
            </a:r>
            <a:r>
              <a:rPr sz="1600" b="1" dirty="0">
                <a:latin typeface="Arial"/>
                <a:cs typeface="Arial"/>
              </a:rPr>
              <a:t>|</a:t>
            </a:r>
            <a:r>
              <a:rPr sz="1600" b="1" spc="-5" dirty="0">
                <a:latin typeface="Arial"/>
                <a:cs typeface="Arial"/>
              </a:rPr>
              <a:t> </a:t>
            </a:r>
            <a:r>
              <a:rPr sz="1600" b="1" dirty="0">
                <a:latin typeface="Arial"/>
                <a:cs typeface="Arial"/>
              </a:rPr>
              <a:t>Project</a:t>
            </a:r>
            <a:r>
              <a:rPr sz="1600" b="1" spc="-30" dirty="0">
                <a:latin typeface="Arial"/>
                <a:cs typeface="Arial"/>
              </a:rPr>
              <a:t> </a:t>
            </a:r>
            <a:r>
              <a:rPr sz="1600" b="1" spc="-10" dirty="0">
                <a:latin typeface="Arial"/>
                <a:cs typeface="Arial"/>
              </a:rPr>
              <a:t>Review</a:t>
            </a:r>
            <a:endParaRPr sz="1600">
              <a:latin typeface="Arial"/>
              <a:cs typeface="Arial"/>
            </a:endParaRPr>
          </a:p>
        </p:txBody>
      </p:sp>
    </p:spTree>
    <p:extLst>
      <p:ext uri="{BB962C8B-B14F-4D97-AF65-F5344CB8AC3E}">
        <p14:creationId xmlns:p14="http://schemas.microsoft.com/office/powerpoint/2010/main" val="343497125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10493502" y="0"/>
            <a:ext cx="1698625" cy="898525"/>
            <a:chOff x="10493502" y="0"/>
            <a:chExt cx="1698625" cy="898525"/>
          </a:xfrm>
        </p:grpSpPr>
        <p:pic>
          <p:nvPicPr>
            <p:cNvPr id="3" name="object 3"/>
            <p:cNvPicPr/>
            <p:nvPr/>
          </p:nvPicPr>
          <p:blipFill>
            <a:blip r:embed="rId2" cstate="print"/>
            <a:stretch>
              <a:fillRect/>
            </a:stretch>
          </p:blipFill>
          <p:spPr>
            <a:xfrm>
              <a:off x="11353800" y="0"/>
              <a:ext cx="822198" cy="822198"/>
            </a:xfrm>
            <a:prstGeom prst="rect">
              <a:avLst/>
            </a:prstGeom>
          </p:spPr>
        </p:pic>
        <p:pic>
          <p:nvPicPr>
            <p:cNvPr id="4" name="object 4"/>
            <p:cNvPicPr/>
            <p:nvPr/>
          </p:nvPicPr>
          <p:blipFill>
            <a:blip r:embed="rId3" cstate="print"/>
            <a:stretch>
              <a:fillRect/>
            </a:stretch>
          </p:blipFill>
          <p:spPr>
            <a:xfrm>
              <a:off x="10493502" y="0"/>
              <a:ext cx="1698498" cy="898398"/>
            </a:xfrm>
            <a:prstGeom prst="rect">
              <a:avLst/>
            </a:prstGeom>
          </p:spPr>
        </p:pic>
      </p:grpSp>
      <p:sp>
        <p:nvSpPr>
          <p:cNvPr id="5" name="object 5" descr="$PPTXTitle"/>
          <p:cNvSpPr txBox="1">
            <a:spLocks noGrp="1"/>
          </p:cNvSpPr>
          <p:nvPr>
            <p:ph type="title"/>
          </p:nvPr>
        </p:nvSpPr>
        <p:spPr>
          <a:xfrm>
            <a:off x="851161" y="315869"/>
            <a:ext cx="7835639" cy="689932"/>
          </a:xfrm>
          <a:prstGeom prst="rect">
            <a:avLst/>
          </a:prstGeom>
        </p:spPr>
        <p:txBody>
          <a:bodyPr vert="horz" wrap="square" lIns="0" tIns="12700" rIns="0" bIns="0" rtlCol="0">
            <a:spAutoFit/>
          </a:bodyPr>
          <a:lstStyle/>
          <a:p>
            <a:pPr marL="12700">
              <a:lnSpc>
                <a:spcPct val="100000"/>
              </a:lnSpc>
              <a:spcBef>
                <a:spcPts val="100"/>
              </a:spcBef>
            </a:pPr>
            <a:r>
              <a:rPr lang="en-US" spc="-10" dirty="0" smtClean="0"/>
              <a:t>Screenshots / Working Demo</a:t>
            </a:r>
            <a:endParaRPr spc="-10" dirty="0"/>
          </a:p>
        </p:txBody>
      </p:sp>
      <p:sp>
        <p:nvSpPr>
          <p:cNvPr id="6" name="object 6"/>
          <p:cNvSpPr txBox="1"/>
          <p:nvPr/>
        </p:nvSpPr>
        <p:spPr>
          <a:xfrm>
            <a:off x="851161" y="1055946"/>
            <a:ext cx="10360025" cy="704424"/>
          </a:xfrm>
          <a:prstGeom prst="rect">
            <a:avLst/>
          </a:prstGeom>
        </p:spPr>
        <p:txBody>
          <a:bodyPr vert="horz" wrap="square" lIns="0" tIns="66675" rIns="0" bIns="0" rtlCol="0">
            <a:spAutoFit/>
          </a:bodyPr>
          <a:lstStyle/>
          <a:p>
            <a:pPr marL="12700" marR="5080" algn="just">
              <a:lnSpc>
                <a:spcPct val="90100"/>
              </a:lnSpc>
              <a:spcBef>
                <a:spcPts val="525"/>
              </a:spcBef>
            </a:pPr>
            <a:r>
              <a:rPr lang="en-IN" sz="4600" dirty="0" smtClean="0">
                <a:latin typeface="Times New Roman" panose="02020603050405020304" pitchFamily="18" charset="0"/>
                <a:cs typeface="Times New Roman" panose="02020603050405020304" pitchFamily="18" charset="0"/>
              </a:rPr>
              <a:t>T</a:t>
            </a:r>
            <a:endParaRPr sz="4600" dirty="0">
              <a:latin typeface="Times New Roman" panose="02020603050405020304" pitchFamily="18" charset="0"/>
              <a:cs typeface="Times New Roman" panose="02020603050405020304" pitchFamily="18" charset="0"/>
            </a:endParaRPr>
          </a:p>
        </p:txBody>
      </p:sp>
      <p:grpSp>
        <p:nvGrpSpPr>
          <p:cNvPr id="7" name="object 7"/>
          <p:cNvGrpSpPr/>
          <p:nvPr/>
        </p:nvGrpSpPr>
        <p:grpSpPr>
          <a:xfrm>
            <a:off x="-6095" y="6470903"/>
            <a:ext cx="12204700" cy="393700"/>
            <a:chOff x="-6095" y="6470903"/>
            <a:chExt cx="12204700" cy="393700"/>
          </a:xfrm>
        </p:grpSpPr>
        <p:sp>
          <p:nvSpPr>
            <p:cNvPr id="8" name="object 8"/>
            <p:cNvSpPr/>
            <p:nvPr/>
          </p:nvSpPr>
          <p:spPr>
            <a:xfrm>
              <a:off x="381" y="6477380"/>
              <a:ext cx="12192000" cy="381000"/>
            </a:xfrm>
            <a:custGeom>
              <a:avLst/>
              <a:gdLst/>
              <a:ahLst/>
              <a:cxnLst/>
              <a:rect l="l" t="t" r="r" b="b"/>
              <a:pathLst>
                <a:path w="12192000" h="381000">
                  <a:moveTo>
                    <a:pt x="12191619" y="0"/>
                  </a:moveTo>
                  <a:lnTo>
                    <a:pt x="0" y="0"/>
                  </a:lnTo>
                  <a:lnTo>
                    <a:pt x="0" y="380619"/>
                  </a:lnTo>
                  <a:lnTo>
                    <a:pt x="12191619" y="380619"/>
                  </a:lnTo>
                  <a:lnTo>
                    <a:pt x="12191619" y="0"/>
                  </a:lnTo>
                  <a:close/>
                </a:path>
              </a:pathLst>
            </a:custGeom>
            <a:solidFill>
              <a:srgbClr val="5B9BD4"/>
            </a:solidFill>
          </p:spPr>
          <p:txBody>
            <a:bodyPr wrap="square" lIns="0" tIns="0" rIns="0" bIns="0" rtlCol="0"/>
            <a:lstStyle/>
            <a:p>
              <a:endParaRPr/>
            </a:p>
          </p:txBody>
        </p:sp>
        <p:sp>
          <p:nvSpPr>
            <p:cNvPr id="9" name="object 9"/>
            <p:cNvSpPr/>
            <p:nvPr/>
          </p:nvSpPr>
          <p:spPr>
            <a:xfrm>
              <a:off x="381" y="6477380"/>
              <a:ext cx="12192000" cy="381000"/>
            </a:xfrm>
            <a:custGeom>
              <a:avLst/>
              <a:gdLst/>
              <a:ahLst/>
              <a:cxnLst/>
              <a:rect l="l" t="t" r="r" b="b"/>
              <a:pathLst>
                <a:path w="12192000" h="381000">
                  <a:moveTo>
                    <a:pt x="12191619" y="0"/>
                  </a:moveTo>
                  <a:lnTo>
                    <a:pt x="0" y="0"/>
                  </a:lnTo>
                  <a:lnTo>
                    <a:pt x="0" y="380619"/>
                  </a:lnTo>
                </a:path>
              </a:pathLst>
            </a:custGeom>
            <a:ln w="12953">
              <a:solidFill>
                <a:srgbClr val="41709C"/>
              </a:solidFill>
            </a:ln>
          </p:spPr>
          <p:txBody>
            <a:bodyPr wrap="square" lIns="0" tIns="0" rIns="0" bIns="0" rtlCol="0"/>
            <a:lstStyle/>
            <a:p>
              <a:endParaRPr/>
            </a:p>
          </p:txBody>
        </p:sp>
      </p:grpSp>
      <p:sp>
        <p:nvSpPr>
          <p:cNvPr id="10" name="object 10"/>
          <p:cNvSpPr txBox="1">
            <a:spLocks noGrp="1"/>
          </p:cNvSpPr>
          <p:nvPr>
            <p:ph type="ftr" sz="quarter" idx="5"/>
          </p:nvPr>
        </p:nvSpPr>
        <p:spPr>
          <a:prstGeom prst="rect">
            <a:avLst/>
          </a:prstGeom>
        </p:spPr>
        <p:txBody>
          <a:bodyPr vert="horz" wrap="square" lIns="0" tIns="0" rIns="0" bIns="0" rtlCol="0">
            <a:spAutoFit/>
          </a:bodyPr>
          <a:lstStyle/>
          <a:p>
            <a:pPr marL="12700">
              <a:lnSpc>
                <a:spcPts val="1710"/>
              </a:lnSpc>
            </a:pPr>
            <a:r>
              <a:rPr dirty="0"/>
              <a:t>MRCET</a:t>
            </a:r>
            <a:r>
              <a:rPr spc="-15" dirty="0"/>
              <a:t> </a:t>
            </a:r>
            <a:r>
              <a:rPr dirty="0"/>
              <a:t>|</a:t>
            </a:r>
            <a:r>
              <a:rPr spc="-15" dirty="0"/>
              <a:t> </a:t>
            </a:r>
            <a:r>
              <a:rPr spc="-10" dirty="0"/>
              <a:t>Department</a:t>
            </a:r>
            <a:r>
              <a:rPr dirty="0"/>
              <a:t> of Emerging</a:t>
            </a:r>
            <a:r>
              <a:rPr spc="-5" dirty="0"/>
              <a:t> </a:t>
            </a:r>
            <a:r>
              <a:rPr spc="-25" dirty="0"/>
              <a:t>Technologies</a:t>
            </a:r>
            <a:r>
              <a:rPr spc="5" dirty="0"/>
              <a:t> </a:t>
            </a:r>
            <a:r>
              <a:rPr dirty="0"/>
              <a:t>|</a:t>
            </a:r>
            <a:r>
              <a:rPr spc="-5" dirty="0"/>
              <a:t> </a:t>
            </a:r>
            <a:r>
              <a:rPr spc="-10" dirty="0"/>
              <a:t>Application</a:t>
            </a:r>
            <a:r>
              <a:rPr spc="-15" dirty="0"/>
              <a:t> </a:t>
            </a:r>
            <a:r>
              <a:rPr spc="-20" dirty="0"/>
              <a:t>Development-</a:t>
            </a:r>
            <a:r>
              <a:rPr dirty="0"/>
              <a:t>II</a:t>
            </a:r>
            <a:r>
              <a:rPr spc="10" dirty="0"/>
              <a:t> </a:t>
            </a:r>
            <a:r>
              <a:rPr dirty="0"/>
              <a:t>PPT|</a:t>
            </a:r>
            <a:r>
              <a:rPr spc="-20" dirty="0"/>
              <a:t> </a:t>
            </a:r>
            <a:r>
              <a:rPr dirty="0"/>
              <a:t>III</a:t>
            </a:r>
            <a:r>
              <a:rPr spc="-20" dirty="0"/>
              <a:t> Year</a:t>
            </a:r>
            <a:r>
              <a:rPr dirty="0"/>
              <a:t> </a:t>
            </a:r>
            <a:r>
              <a:rPr spc="-55" dirty="0"/>
              <a:t>B.Tech-</a:t>
            </a:r>
            <a:r>
              <a:rPr dirty="0"/>
              <a:t>II</a:t>
            </a:r>
            <a:r>
              <a:rPr spc="-15" dirty="0"/>
              <a:t> </a:t>
            </a:r>
            <a:r>
              <a:rPr spc="-10" dirty="0"/>
              <a:t>Semester</a:t>
            </a:r>
          </a:p>
        </p:txBody>
      </p:sp>
      <p:sp>
        <p:nvSpPr>
          <p:cNvPr id="11" name="object 11"/>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spc="-50" dirty="0"/>
              <a:t>21</a:t>
            </a:fld>
            <a:endParaRPr spc="-50" dirty="0"/>
          </a:p>
        </p:txBody>
      </p:sp>
      <p:sp>
        <p:nvSpPr>
          <p:cNvPr id="12" name="object 12"/>
          <p:cNvSpPr txBox="1"/>
          <p:nvPr/>
        </p:nvSpPr>
        <p:spPr>
          <a:xfrm>
            <a:off x="919988" y="6546615"/>
            <a:ext cx="10353040" cy="261620"/>
          </a:xfrm>
          <a:prstGeom prst="rect">
            <a:avLst/>
          </a:prstGeom>
        </p:spPr>
        <p:txBody>
          <a:bodyPr vert="horz" wrap="square" lIns="0" tIns="1905" rIns="0" bIns="0" rtlCol="0">
            <a:spAutoFit/>
          </a:bodyPr>
          <a:lstStyle/>
          <a:p>
            <a:pPr marL="12700">
              <a:lnSpc>
                <a:spcPct val="100000"/>
              </a:lnSpc>
              <a:spcBef>
                <a:spcPts val="15"/>
              </a:spcBef>
            </a:pPr>
            <a:r>
              <a:rPr sz="1600" b="1" spc="-10" dirty="0">
                <a:latin typeface="Arial"/>
                <a:cs typeface="Arial"/>
              </a:rPr>
              <a:t>B.Tech</a:t>
            </a:r>
            <a:r>
              <a:rPr sz="1600" b="1" spc="-30" dirty="0">
                <a:latin typeface="Arial"/>
                <a:cs typeface="Arial"/>
              </a:rPr>
              <a:t> </a:t>
            </a:r>
            <a:r>
              <a:rPr sz="1600" b="1" spc="50" dirty="0">
                <a:latin typeface="Arial"/>
                <a:cs typeface="Arial"/>
              </a:rPr>
              <a:t>III</a:t>
            </a:r>
            <a:r>
              <a:rPr sz="1600" b="1" spc="-20" dirty="0">
                <a:latin typeface="Arial"/>
                <a:cs typeface="Arial"/>
              </a:rPr>
              <a:t> </a:t>
            </a:r>
            <a:r>
              <a:rPr sz="1600" b="1" dirty="0">
                <a:latin typeface="Arial"/>
                <a:cs typeface="Arial"/>
              </a:rPr>
              <a:t>Year</a:t>
            </a:r>
            <a:r>
              <a:rPr sz="1600" b="1" spc="-25" dirty="0">
                <a:latin typeface="Arial"/>
                <a:cs typeface="Arial"/>
              </a:rPr>
              <a:t> </a:t>
            </a:r>
            <a:r>
              <a:rPr sz="1600" b="1" spc="-95" dirty="0">
                <a:latin typeface="Arial"/>
                <a:cs typeface="Arial"/>
              </a:rPr>
              <a:t>–</a:t>
            </a:r>
            <a:r>
              <a:rPr sz="1600" b="1" spc="-5" dirty="0">
                <a:latin typeface="Arial"/>
                <a:cs typeface="Arial"/>
              </a:rPr>
              <a:t> </a:t>
            </a:r>
            <a:r>
              <a:rPr sz="1600" b="1" spc="50" dirty="0">
                <a:latin typeface="Arial"/>
                <a:cs typeface="Arial"/>
              </a:rPr>
              <a:t>II</a:t>
            </a:r>
            <a:r>
              <a:rPr sz="1600" b="1" spc="-20" dirty="0">
                <a:latin typeface="Arial"/>
                <a:cs typeface="Arial"/>
              </a:rPr>
              <a:t> </a:t>
            </a:r>
            <a:r>
              <a:rPr sz="1600" b="1" dirty="0">
                <a:latin typeface="Arial"/>
                <a:cs typeface="Arial"/>
              </a:rPr>
              <a:t>Sem</a:t>
            </a:r>
            <a:r>
              <a:rPr sz="1600" b="1" spc="-25" dirty="0">
                <a:latin typeface="Arial"/>
                <a:cs typeface="Arial"/>
              </a:rPr>
              <a:t> </a:t>
            </a:r>
            <a:r>
              <a:rPr sz="1600" b="1" dirty="0">
                <a:latin typeface="Arial"/>
                <a:cs typeface="Arial"/>
              </a:rPr>
              <a:t>|</a:t>
            </a:r>
            <a:r>
              <a:rPr sz="1600" b="1" spc="-15" dirty="0">
                <a:latin typeface="Arial"/>
                <a:cs typeface="Arial"/>
              </a:rPr>
              <a:t> </a:t>
            </a:r>
            <a:r>
              <a:rPr sz="1600" b="1" dirty="0">
                <a:latin typeface="Arial"/>
                <a:cs typeface="Arial"/>
              </a:rPr>
              <a:t>Dept</a:t>
            </a:r>
            <a:r>
              <a:rPr sz="1600" b="1" spc="-20" dirty="0">
                <a:latin typeface="Arial"/>
                <a:cs typeface="Arial"/>
              </a:rPr>
              <a:t> </a:t>
            </a:r>
            <a:r>
              <a:rPr sz="1600" b="1" dirty="0">
                <a:latin typeface="Arial"/>
                <a:cs typeface="Arial"/>
              </a:rPr>
              <a:t>of</a:t>
            </a:r>
            <a:r>
              <a:rPr sz="1600" b="1" spc="190" dirty="0">
                <a:latin typeface="Arial"/>
                <a:cs typeface="Arial"/>
              </a:rPr>
              <a:t> </a:t>
            </a:r>
            <a:r>
              <a:rPr sz="1600" b="1" dirty="0">
                <a:latin typeface="Arial"/>
                <a:cs typeface="Arial"/>
              </a:rPr>
              <a:t>Computational</a:t>
            </a:r>
            <a:r>
              <a:rPr sz="1600" b="1" spc="-25" dirty="0">
                <a:latin typeface="Arial"/>
                <a:cs typeface="Arial"/>
              </a:rPr>
              <a:t> </a:t>
            </a:r>
            <a:r>
              <a:rPr sz="1600" b="1" dirty="0">
                <a:latin typeface="Arial"/>
                <a:cs typeface="Arial"/>
              </a:rPr>
              <a:t>Intelligence|</a:t>
            </a:r>
            <a:r>
              <a:rPr sz="1600" b="1" spc="-25" dirty="0">
                <a:latin typeface="Arial"/>
                <a:cs typeface="Arial"/>
              </a:rPr>
              <a:t> </a:t>
            </a:r>
            <a:r>
              <a:rPr sz="1600" b="1" dirty="0">
                <a:latin typeface="Arial"/>
                <a:cs typeface="Arial"/>
              </a:rPr>
              <a:t>Application</a:t>
            </a:r>
            <a:r>
              <a:rPr sz="1600" b="1" spc="-35" dirty="0">
                <a:latin typeface="Arial"/>
                <a:cs typeface="Arial"/>
              </a:rPr>
              <a:t> </a:t>
            </a:r>
            <a:r>
              <a:rPr sz="1600" b="1" dirty="0">
                <a:latin typeface="Arial"/>
                <a:cs typeface="Arial"/>
              </a:rPr>
              <a:t>Development</a:t>
            </a:r>
            <a:r>
              <a:rPr sz="1600" b="1" spc="5" dirty="0">
                <a:latin typeface="Arial"/>
                <a:cs typeface="Arial"/>
              </a:rPr>
              <a:t> </a:t>
            </a:r>
            <a:r>
              <a:rPr sz="1600" b="1" spc="-95" dirty="0">
                <a:latin typeface="Arial"/>
                <a:cs typeface="Arial"/>
              </a:rPr>
              <a:t>–</a:t>
            </a:r>
            <a:r>
              <a:rPr sz="1600" b="1" spc="-10" dirty="0">
                <a:latin typeface="Arial"/>
                <a:cs typeface="Arial"/>
              </a:rPr>
              <a:t> </a:t>
            </a:r>
            <a:r>
              <a:rPr sz="1600" b="1" spc="50" dirty="0">
                <a:latin typeface="Arial"/>
                <a:cs typeface="Arial"/>
              </a:rPr>
              <a:t>II</a:t>
            </a:r>
            <a:r>
              <a:rPr sz="1600" b="1" spc="-15" dirty="0">
                <a:latin typeface="Arial"/>
                <a:cs typeface="Arial"/>
              </a:rPr>
              <a:t> </a:t>
            </a:r>
            <a:r>
              <a:rPr sz="1600" b="1" dirty="0">
                <a:latin typeface="Arial"/>
                <a:cs typeface="Arial"/>
              </a:rPr>
              <a:t>|</a:t>
            </a:r>
            <a:r>
              <a:rPr sz="1600" b="1" spc="-5" dirty="0">
                <a:latin typeface="Arial"/>
                <a:cs typeface="Arial"/>
              </a:rPr>
              <a:t> </a:t>
            </a:r>
            <a:r>
              <a:rPr sz="1600" b="1" dirty="0">
                <a:latin typeface="Arial"/>
                <a:cs typeface="Arial"/>
              </a:rPr>
              <a:t>Project</a:t>
            </a:r>
            <a:r>
              <a:rPr sz="1600" b="1" spc="-30" dirty="0">
                <a:latin typeface="Arial"/>
                <a:cs typeface="Arial"/>
              </a:rPr>
              <a:t> </a:t>
            </a:r>
            <a:r>
              <a:rPr sz="1600" b="1" spc="-10" dirty="0">
                <a:latin typeface="Arial"/>
                <a:cs typeface="Arial"/>
              </a:rPr>
              <a:t>Review</a:t>
            </a:r>
            <a:endParaRPr sz="1600">
              <a:latin typeface="Arial"/>
              <a:cs typeface="Arial"/>
            </a:endParaRPr>
          </a:p>
        </p:txBody>
      </p:sp>
    </p:spTree>
    <p:extLst>
      <p:ext uri="{BB962C8B-B14F-4D97-AF65-F5344CB8AC3E}">
        <p14:creationId xmlns:p14="http://schemas.microsoft.com/office/powerpoint/2010/main" val="109082635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10493502" y="0"/>
            <a:ext cx="1698625" cy="898525"/>
            <a:chOff x="10493502" y="0"/>
            <a:chExt cx="1698625" cy="898525"/>
          </a:xfrm>
        </p:grpSpPr>
        <p:pic>
          <p:nvPicPr>
            <p:cNvPr id="3" name="object 3"/>
            <p:cNvPicPr/>
            <p:nvPr/>
          </p:nvPicPr>
          <p:blipFill>
            <a:blip r:embed="rId2" cstate="print"/>
            <a:stretch>
              <a:fillRect/>
            </a:stretch>
          </p:blipFill>
          <p:spPr>
            <a:xfrm>
              <a:off x="11353800" y="0"/>
              <a:ext cx="822198" cy="822198"/>
            </a:xfrm>
            <a:prstGeom prst="rect">
              <a:avLst/>
            </a:prstGeom>
          </p:spPr>
        </p:pic>
        <p:pic>
          <p:nvPicPr>
            <p:cNvPr id="4" name="object 4"/>
            <p:cNvPicPr/>
            <p:nvPr/>
          </p:nvPicPr>
          <p:blipFill>
            <a:blip r:embed="rId3" cstate="print"/>
            <a:stretch>
              <a:fillRect/>
            </a:stretch>
          </p:blipFill>
          <p:spPr>
            <a:xfrm>
              <a:off x="10493502" y="0"/>
              <a:ext cx="1698498" cy="898398"/>
            </a:xfrm>
            <a:prstGeom prst="rect">
              <a:avLst/>
            </a:prstGeom>
          </p:spPr>
        </p:pic>
      </p:grpSp>
      <p:sp>
        <p:nvSpPr>
          <p:cNvPr id="5" name="object 5" descr="$PPTXTitle"/>
          <p:cNvSpPr txBox="1">
            <a:spLocks noGrp="1"/>
          </p:cNvSpPr>
          <p:nvPr>
            <p:ph type="title"/>
          </p:nvPr>
        </p:nvSpPr>
        <p:spPr>
          <a:xfrm>
            <a:off x="851161" y="315869"/>
            <a:ext cx="8521439" cy="689932"/>
          </a:xfrm>
          <a:prstGeom prst="rect">
            <a:avLst/>
          </a:prstGeom>
        </p:spPr>
        <p:txBody>
          <a:bodyPr vert="horz" wrap="square" lIns="0" tIns="12700" rIns="0" bIns="0" rtlCol="0">
            <a:spAutoFit/>
          </a:bodyPr>
          <a:lstStyle/>
          <a:p>
            <a:pPr marL="12700">
              <a:lnSpc>
                <a:spcPct val="100000"/>
              </a:lnSpc>
              <a:spcBef>
                <a:spcPts val="100"/>
              </a:spcBef>
            </a:pPr>
            <a:r>
              <a:rPr lang="en-US" spc="-10" dirty="0" smtClean="0"/>
              <a:t>Comparison with Existing System</a:t>
            </a:r>
            <a:endParaRPr spc="-10" dirty="0"/>
          </a:p>
        </p:txBody>
      </p:sp>
      <p:sp>
        <p:nvSpPr>
          <p:cNvPr id="6" name="object 6"/>
          <p:cNvSpPr txBox="1"/>
          <p:nvPr/>
        </p:nvSpPr>
        <p:spPr>
          <a:xfrm>
            <a:off x="851161" y="1055946"/>
            <a:ext cx="10360025" cy="4831707"/>
          </a:xfrm>
          <a:prstGeom prst="rect">
            <a:avLst/>
          </a:prstGeom>
        </p:spPr>
        <p:txBody>
          <a:bodyPr vert="horz" wrap="square" lIns="0" tIns="66675" rIns="0" bIns="0" rtlCol="0">
            <a:spAutoFit/>
          </a:bodyPr>
          <a:lstStyle/>
          <a:p>
            <a:pPr marL="12700" marR="5080" algn="just">
              <a:lnSpc>
                <a:spcPct val="90100"/>
              </a:lnSpc>
              <a:spcBef>
                <a:spcPts val="525"/>
              </a:spcBef>
            </a:pPr>
            <a:r>
              <a:rPr lang="en-IN" sz="4300" dirty="0" smtClean="0"/>
              <a:t>The experimental setup utilizes a Node.js runtime with Express.js APIs running on a multi-core server environment. Client requests are executed via React.js web interfaces. Data testing leverages PostgreSQL databases connected through </a:t>
            </a:r>
            <a:r>
              <a:rPr lang="en-IN" sz="4300" dirty="0" err="1" smtClean="0"/>
              <a:t>Prisma</a:t>
            </a:r>
            <a:r>
              <a:rPr lang="en-IN" sz="4300" dirty="0" smtClean="0"/>
              <a:t> ORM alongside </a:t>
            </a:r>
            <a:r>
              <a:rPr lang="en-IN" sz="4300" dirty="0" err="1" smtClean="0"/>
              <a:t>Redis</a:t>
            </a:r>
            <a:r>
              <a:rPr lang="en-IN" sz="4300" dirty="0" smtClean="0"/>
              <a:t> in-memory caching for concurrent load benchmarking. </a:t>
            </a:r>
            <a:endParaRPr sz="4300" dirty="0">
              <a:latin typeface="Times New Roman" panose="02020603050405020304" pitchFamily="18" charset="0"/>
              <a:cs typeface="Times New Roman" panose="02020603050405020304" pitchFamily="18" charset="0"/>
            </a:endParaRPr>
          </a:p>
        </p:txBody>
      </p:sp>
      <p:grpSp>
        <p:nvGrpSpPr>
          <p:cNvPr id="7" name="object 7"/>
          <p:cNvGrpSpPr/>
          <p:nvPr/>
        </p:nvGrpSpPr>
        <p:grpSpPr>
          <a:xfrm>
            <a:off x="-6095" y="6470903"/>
            <a:ext cx="12204700" cy="393700"/>
            <a:chOff x="-6095" y="6470903"/>
            <a:chExt cx="12204700" cy="393700"/>
          </a:xfrm>
        </p:grpSpPr>
        <p:sp>
          <p:nvSpPr>
            <p:cNvPr id="8" name="object 8"/>
            <p:cNvSpPr/>
            <p:nvPr/>
          </p:nvSpPr>
          <p:spPr>
            <a:xfrm>
              <a:off x="381" y="6477380"/>
              <a:ext cx="12192000" cy="381000"/>
            </a:xfrm>
            <a:custGeom>
              <a:avLst/>
              <a:gdLst/>
              <a:ahLst/>
              <a:cxnLst/>
              <a:rect l="l" t="t" r="r" b="b"/>
              <a:pathLst>
                <a:path w="12192000" h="381000">
                  <a:moveTo>
                    <a:pt x="12191619" y="0"/>
                  </a:moveTo>
                  <a:lnTo>
                    <a:pt x="0" y="0"/>
                  </a:lnTo>
                  <a:lnTo>
                    <a:pt x="0" y="380619"/>
                  </a:lnTo>
                  <a:lnTo>
                    <a:pt x="12191619" y="380619"/>
                  </a:lnTo>
                  <a:lnTo>
                    <a:pt x="12191619" y="0"/>
                  </a:lnTo>
                  <a:close/>
                </a:path>
              </a:pathLst>
            </a:custGeom>
            <a:solidFill>
              <a:srgbClr val="5B9BD4"/>
            </a:solidFill>
          </p:spPr>
          <p:txBody>
            <a:bodyPr wrap="square" lIns="0" tIns="0" rIns="0" bIns="0" rtlCol="0"/>
            <a:lstStyle/>
            <a:p>
              <a:endParaRPr/>
            </a:p>
          </p:txBody>
        </p:sp>
        <p:sp>
          <p:nvSpPr>
            <p:cNvPr id="9" name="object 9"/>
            <p:cNvSpPr/>
            <p:nvPr/>
          </p:nvSpPr>
          <p:spPr>
            <a:xfrm>
              <a:off x="381" y="6477380"/>
              <a:ext cx="12192000" cy="381000"/>
            </a:xfrm>
            <a:custGeom>
              <a:avLst/>
              <a:gdLst/>
              <a:ahLst/>
              <a:cxnLst/>
              <a:rect l="l" t="t" r="r" b="b"/>
              <a:pathLst>
                <a:path w="12192000" h="381000">
                  <a:moveTo>
                    <a:pt x="12191619" y="0"/>
                  </a:moveTo>
                  <a:lnTo>
                    <a:pt x="0" y="0"/>
                  </a:lnTo>
                  <a:lnTo>
                    <a:pt x="0" y="380619"/>
                  </a:lnTo>
                </a:path>
              </a:pathLst>
            </a:custGeom>
            <a:ln w="12953">
              <a:solidFill>
                <a:srgbClr val="41709C"/>
              </a:solidFill>
            </a:ln>
          </p:spPr>
          <p:txBody>
            <a:bodyPr wrap="square" lIns="0" tIns="0" rIns="0" bIns="0" rtlCol="0"/>
            <a:lstStyle/>
            <a:p>
              <a:endParaRPr/>
            </a:p>
          </p:txBody>
        </p:sp>
      </p:grpSp>
      <p:sp>
        <p:nvSpPr>
          <p:cNvPr id="10" name="object 10"/>
          <p:cNvSpPr txBox="1">
            <a:spLocks noGrp="1"/>
          </p:cNvSpPr>
          <p:nvPr>
            <p:ph type="ftr" sz="quarter" idx="5"/>
          </p:nvPr>
        </p:nvSpPr>
        <p:spPr>
          <a:prstGeom prst="rect">
            <a:avLst/>
          </a:prstGeom>
        </p:spPr>
        <p:txBody>
          <a:bodyPr vert="horz" wrap="square" lIns="0" tIns="0" rIns="0" bIns="0" rtlCol="0">
            <a:spAutoFit/>
          </a:bodyPr>
          <a:lstStyle/>
          <a:p>
            <a:pPr marL="12700">
              <a:lnSpc>
                <a:spcPts val="1710"/>
              </a:lnSpc>
            </a:pPr>
            <a:r>
              <a:rPr dirty="0"/>
              <a:t>MRCET</a:t>
            </a:r>
            <a:r>
              <a:rPr spc="-15" dirty="0"/>
              <a:t> </a:t>
            </a:r>
            <a:r>
              <a:rPr dirty="0"/>
              <a:t>|</a:t>
            </a:r>
            <a:r>
              <a:rPr spc="-15" dirty="0"/>
              <a:t> </a:t>
            </a:r>
            <a:r>
              <a:rPr spc="-10" dirty="0"/>
              <a:t>Department</a:t>
            </a:r>
            <a:r>
              <a:rPr dirty="0"/>
              <a:t> of Emerging</a:t>
            </a:r>
            <a:r>
              <a:rPr spc="-5" dirty="0"/>
              <a:t> </a:t>
            </a:r>
            <a:r>
              <a:rPr spc="-25" dirty="0"/>
              <a:t>Technologies</a:t>
            </a:r>
            <a:r>
              <a:rPr spc="5" dirty="0"/>
              <a:t> </a:t>
            </a:r>
            <a:r>
              <a:rPr dirty="0"/>
              <a:t>|</a:t>
            </a:r>
            <a:r>
              <a:rPr spc="-5" dirty="0"/>
              <a:t> </a:t>
            </a:r>
            <a:r>
              <a:rPr spc="-10" dirty="0"/>
              <a:t>Application</a:t>
            </a:r>
            <a:r>
              <a:rPr spc="-15" dirty="0"/>
              <a:t> </a:t>
            </a:r>
            <a:r>
              <a:rPr spc="-20" dirty="0"/>
              <a:t>Development-</a:t>
            </a:r>
            <a:r>
              <a:rPr dirty="0"/>
              <a:t>II</a:t>
            </a:r>
            <a:r>
              <a:rPr spc="10" dirty="0"/>
              <a:t> </a:t>
            </a:r>
            <a:r>
              <a:rPr dirty="0"/>
              <a:t>PPT|</a:t>
            </a:r>
            <a:r>
              <a:rPr spc="-20" dirty="0"/>
              <a:t> </a:t>
            </a:r>
            <a:r>
              <a:rPr dirty="0"/>
              <a:t>III</a:t>
            </a:r>
            <a:r>
              <a:rPr spc="-20" dirty="0"/>
              <a:t> Year</a:t>
            </a:r>
            <a:r>
              <a:rPr dirty="0"/>
              <a:t> </a:t>
            </a:r>
            <a:r>
              <a:rPr spc="-55" dirty="0"/>
              <a:t>B.Tech-</a:t>
            </a:r>
            <a:r>
              <a:rPr dirty="0"/>
              <a:t>II</a:t>
            </a:r>
            <a:r>
              <a:rPr spc="-15" dirty="0"/>
              <a:t> </a:t>
            </a:r>
            <a:r>
              <a:rPr spc="-10" dirty="0"/>
              <a:t>Semester</a:t>
            </a:r>
          </a:p>
        </p:txBody>
      </p:sp>
      <p:sp>
        <p:nvSpPr>
          <p:cNvPr id="11" name="object 11"/>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spc="-50" dirty="0"/>
              <a:t>22</a:t>
            </a:fld>
            <a:endParaRPr spc="-50" dirty="0"/>
          </a:p>
        </p:txBody>
      </p:sp>
      <p:sp>
        <p:nvSpPr>
          <p:cNvPr id="12" name="object 12"/>
          <p:cNvSpPr txBox="1"/>
          <p:nvPr/>
        </p:nvSpPr>
        <p:spPr>
          <a:xfrm>
            <a:off x="919988" y="6546615"/>
            <a:ext cx="10353040" cy="261620"/>
          </a:xfrm>
          <a:prstGeom prst="rect">
            <a:avLst/>
          </a:prstGeom>
        </p:spPr>
        <p:txBody>
          <a:bodyPr vert="horz" wrap="square" lIns="0" tIns="1905" rIns="0" bIns="0" rtlCol="0">
            <a:spAutoFit/>
          </a:bodyPr>
          <a:lstStyle/>
          <a:p>
            <a:pPr marL="12700">
              <a:lnSpc>
                <a:spcPct val="100000"/>
              </a:lnSpc>
              <a:spcBef>
                <a:spcPts val="15"/>
              </a:spcBef>
            </a:pPr>
            <a:r>
              <a:rPr sz="1600" b="1" spc="-10" dirty="0">
                <a:latin typeface="Arial"/>
                <a:cs typeface="Arial"/>
              </a:rPr>
              <a:t>B.Tech</a:t>
            </a:r>
            <a:r>
              <a:rPr sz="1600" b="1" spc="-30" dirty="0">
                <a:latin typeface="Arial"/>
                <a:cs typeface="Arial"/>
              </a:rPr>
              <a:t> </a:t>
            </a:r>
            <a:r>
              <a:rPr sz="1600" b="1" spc="50" dirty="0">
                <a:latin typeface="Arial"/>
                <a:cs typeface="Arial"/>
              </a:rPr>
              <a:t>III</a:t>
            </a:r>
            <a:r>
              <a:rPr sz="1600" b="1" spc="-20" dirty="0">
                <a:latin typeface="Arial"/>
                <a:cs typeface="Arial"/>
              </a:rPr>
              <a:t> </a:t>
            </a:r>
            <a:r>
              <a:rPr sz="1600" b="1" dirty="0">
                <a:latin typeface="Arial"/>
                <a:cs typeface="Arial"/>
              </a:rPr>
              <a:t>Year</a:t>
            </a:r>
            <a:r>
              <a:rPr sz="1600" b="1" spc="-25" dirty="0">
                <a:latin typeface="Arial"/>
                <a:cs typeface="Arial"/>
              </a:rPr>
              <a:t> </a:t>
            </a:r>
            <a:r>
              <a:rPr sz="1600" b="1" spc="-95" dirty="0">
                <a:latin typeface="Arial"/>
                <a:cs typeface="Arial"/>
              </a:rPr>
              <a:t>–</a:t>
            </a:r>
            <a:r>
              <a:rPr sz="1600" b="1" spc="-5" dirty="0">
                <a:latin typeface="Arial"/>
                <a:cs typeface="Arial"/>
              </a:rPr>
              <a:t> </a:t>
            </a:r>
            <a:r>
              <a:rPr sz="1600" b="1" spc="50" dirty="0">
                <a:latin typeface="Arial"/>
                <a:cs typeface="Arial"/>
              </a:rPr>
              <a:t>II</a:t>
            </a:r>
            <a:r>
              <a:rPr sz="1600" b="1" spc="-20" dirty="0">
                <a:latin typeface="Arial"/>
                <a:cs typeface="Arial"/>
              </a:rPr>
              <a:t> </a:t>
            </a:r>
            <a:r>
              <a:rPr sz="1600" b="1" dirty="0">
                <a:latin typeface="Arial"/>
                <a:cs typeface="Arial"/>
              </a:rPr>
              <a:t>Sem</a:t>
            </a:r>
            <a:r>
              <a:rPr sz="1600" b="1" spc="-25" dirty="0">
                <a:latin typeface="Arial"/>
                <a:cs typeface="Arial"/>
              </a:rPr>
              <a:t> </a:t>
            </a:r>
            <a:r>
              <a:rPr sz="1600" b="1" dirty="0">
                <a:latin typeface="Arial"/>
                <a:cs typeface="Arial"/>
              </a:rPr>
              <a:t>|</a:t>
            </a:r>
            <a:r>
              <a:rPr sz="1600" b="1" spc="-15" dirty="0">
                <a:latin typeface="Arial"/>
                <a:cs typeface="Arial"/>
              </a:rPr>
              <a:t> </a:t>
            </a:r>
            <a:r>
              <a:rPr sz="1600" b="1" dirty="0">
                <a:latin typeface="Arial"/>
                <a:cs typeface="Arial"/>
              </a:rPr>
              <a:t>Dept</a:t>
            </a:r>
            <a:r>
              <a:rPr sz="1600" b="1" spc="-20" dirty="0">
                <a:latin typeface="Arial"/>
                <a:cs typeface="Arial"/>
              </a:rPr>
              <a:t> </a:t>
            </a:r>
            <a:r>
              <a:rPr sz="1600" b="1" dirty="0">
                <a:latin typeface="Arial"/>
                <a:cs typeface="Arial"/>
              </a:rPr>
              <a:t>of</a:t>
            </a:r>
            <a:r>
              <a:rPr sz="1600" b="1" spc="190" dirty="0">
                <a:latin typeface="Arial"/>
                <a:cs typeface="Arial"/>
              </a:rPr>
              <a:t> </a:t>
            </a:r>
            <a:r>
              <a:rPr sz="1600" b="1" dirty="0">
                <a:latin typeface="Arial"/>
                <a:cs typeface="Arial"/>
              </a:rPr>
              <a:t>Computational</a:t>
            </a:r>
            <a:r>
              <a:rPr sz="1600" b="1" spc="-25" dirty="0">
                <a:latin typeface="Arial"/>
                <a:cs typeface="Arial"/>
              </a:rPr>
              <a:t> </a:t>
            </a:r>
            <a:r>
              <a:rPr sz="1600" b="1" dirty="0">
                <a:latin typeface="Arial"/>
                <a:cs typeface="Arial"/>
              </a:rPr>
              <a:t>Intelligence|</a:t>
            </a:r>
            <a:r>
              <a:rPr sz="1600" b="1" spc="-25" dirty="0">
                <a:latin typeface="Arial"/>
                <a:cs typeface="Arial"/>
              </a:rPr>
              <a:t> </a:t>
            </a:r>
            <a:r>
              <a:rPr sz="1600" b="1" dirty="0">
                <a:latin typeface="Arial"/>
                <a:cs typeface="Arial"/>
              </a:rPr>
              <a:t>Application</a:t>
            </a:r>
            <a:r>
              <a:rPr sz="1600" b="1" spc="-35" dirty="0">
                <a:latin typeface="Arial"/>
                <a:cs typeface="Arial"/>
              </a:rPr>
              <a:t> </a:t>
            </a:r>
            <a:r>
              <a:rPr sz="1600" b="1" dirty="0">
                <a:latin typeface="Arial"/>
                <a:cs typeface="Arial"/>
              </a:rPr>
              <a:t>Development</a:t>
            </a:r>
            <a:r>
              <a:rPr sz="1600" b="1" spc="5" dirty="0">
                <a:latin typeface="Arial"/>
                <a:cs typeface="Arial"/>
              </a:rPr>
              <a:t> </a:t>
            </a:r>
            <a:r>
              <a:rPr sz="1600" b="1" spc="-95" dirty="0">
                <a:latin typeface="Arial"/>
                <a:cs typeface="Arial"/>
              </a:rPr>
              <a:t>–</a:t>
            </a:r>
            <a:r>
              <a:rPr sz="1600" b="1" spc="-10" dirty="0">
                <a:latin typeface="Arial"/>
                <a:cs typeface="Arial"/>
              </a:rPr>
              <a:t> </a:t>
            </a:r>
            <a:r>
              <a:rPr sz="1600" b="1" spc="50" dirty="0">
                <a:latin typeface="Arial"/>
                <a:cs typeface="Arial"/>
              </a:rPr>
              <a:t>II</a:t>
            </a:r>
            <a:r>
              <a:rPr sz="1600" b="1" spc="-15" dirty="0">
                <a:latin typeface="Arial"/>
                <a:cs typeface="Arial"/>
              </a:rPr>
              <a:t> </a:t>
            </a:r>
            <a:r>
              <a:rPr sz="1600" b="1" dirty="0">
                <a:latin typeface="Arial"/>
                <a:cs typeface="Arial"/>
              </a:rPr>
              <a:t>|</a:t>
            </a:r>
            <a:r>
              <a:rPr sz="1600" b="1" spc="-5" dirty="0">
                <a:latin typeface="Arial"/>
                <a:cs typeface="Arial"/>
              </a:rPr>
              <a:t> </a:t>
            </a:r>
            <a:r>
              <a:rPr sz="1600" b="1" dirty="0">
                <a:latin typeface="Arial"/>
                <a:cs typeface="Arial"/>
              </a:rPr>
              <a:t>Project</a:t>
            </a:r>
            <a:r>
              <a:rPr sz="1600" b="1" spc="-30" dirty="0">
                <a:latin typeface="Arial"/>
                <a:cs typeface="Arial"/>
              </a:rPr>
              <a:t> </a:t>
            </a:r>
            <a:r>
              <a:rPr sz="1600" b="1" spc="-10" dirty="0">
                <a:latin typeface="Arial"/>
                <a:cs typeface="Arial"/>
              </a:rPr>
              <a:t>Review</a:t>
            </a:r>
            <a:endParaRPr sz="1600">
              <a:latin typeface="Arial"/>
              <a:cs typeface="Arial"/>
            </a:endParaRPr>
          </a:p>
        </p:txBody>
      </p:sp>
    </p:spTree>
    <p:extLst>
      <p:ext uri="{BB962C8B-B14F-4D97-AF65-F5344CB8AC3E}">
        <p14:creationId xmlns:p14="http://schemas.microsoft.com/office/powerpoint/2010/main" val="419456360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10493502" y="0"/>
            <a:ext cx="1698625" cy="898525"/>
            <a:chOff x="10493502" y="0"/>
            <a:chExt cx="1698625" cy="898525"/>
          </a:xfrm>
        </p:grpSpPr>
        <p:pic>
          <p:nvPicPr>
            <p:cNvPr id="3" name="object 3"/>
            <p:cNvPicPr/>
            <p:nvPr/>
          </p:nvPicPr>
          <p:blipFill>
            <a:blip r:embed="rId2" cstate="print"/>
            <a:stretch>
              <a:fillRect/>
            </a:stretch>
          </p:blipFill>
          <p:spPr>
            <a:xfrm>
              <a:off x="11353800" y="0"/>
              <a:ext cx="822198" cy="822198"/>
            </a:xfrm>
            <a:prstGeom prst="rect">
              <a:avLst/>
            </a:prstGeom>
          </p:spPr>
        </p:pic>
        <p:pic>
          <p:nvPicPr>
            <p:cNvPr id="4" name="object 4"/>
            <p:cNvPicPr/>
            <p:nvPr/>
          </p:nvPicPr>
          <p:blipFill>
            <a:blip r:embed="rId3" cstate="print"/>
            <a:stretch>
              <a:fillRect/>
            </a:stretch>
          </p:blipFill>
          <p:spPr>
            <a:xfrm>
              <a:off x="10493502" y="0"/>
              <a:ext cx="1698498" cy="898398"/>
            </a:xfrm>
            <a:prstGeom prst="rect">
              <a:avLst/>
            </a:prstGeom>
          </p:spPr>
        </p:pic>
      </p:grpSp>
      <p:sp>
        <p:nvSpPr>
          <p:cNvPr id="5" name="object 5" descr="$PPTXTitle"/>
          <p:cNvSpPr txBox="1">
            <a:spLocks noGrp="1"/>
          </p:cNvSpPr>
          <p:nvPr>
            <p:ph type="title"/>
          </p:nvPr>
        </p:nvSpPr>
        <p:spPr>
          <a:xfrm>
            <a:off x="851161" y="315869"/>
            <a:ext cx="8521439" cy="689932"/>
          </a:xfrm>
          <a:prstGeom prst="rect">
            <a:avLst/>
          </a:prstGeom>
        </p:spPr>
        <p:txBody>
          <a:bodyPr vert="horz" wrap="square" lIns="0" tIns="12700" rIns="0" bIns="0" rtlCol="0">
            <a:spAutoFit/>
          </a:bodyPr>
          <a:lstStyle/>
          <a:p>
            <a:pPr marL="12700">
              <a:lnSpc>
                <a:spcPct val="100000"/>
              </a:lnSpc>
              <a:spcBef>
                <a:spcPts val="100"/>
              </a:spcBef>
            </a:pPr>
            <a:r>
              <a:rPr lang="en-US" spc="-10" dirty="0" smtClean="0"/>
              <a:t>Challenges and Solutions</a:t>
            </a:r>
            <a:endParaRPr spc="-10" dirty="0"/>
          </a:p>
        </p:txBody>
      </p:sp>
      <p:sp>
        <p:nvSpPr>
          <p:cNvPr id="6" name="object 6"/>
          <p:cNvSpPr txBox="1"/>
          <p:nvPr/>
        </p:nvSpPr>
        <p:spPr>
          <a:xfrm>
            <a:off x="851161" y="1055946"/>
            <a:ext cx="10360025" cy="5053306"/>
          </a:xfrm>
          <a:prstGeom prst="rect">
            <a:avLst/>
          </a:prstGeom>
        </p:spPr>
        <p:txBody>
          <a:bodyPr vert="horz" wrap="square" lIns="0" tIns="66675" rIns="0" bIns="0" rtlCol="0">
            <a:spAutoFit/>
          </a:bodyPr>
          <a:lstStyle/>
          <a:p>
            <a:pPr marL="12700" marR="5080" algn="just">
              <a:lnSpc>
                <a:spcPct val="90100"/>
              </a:lnSpc>
              <a:spcBef>
                <a:spcPts val="525"/>
              </a:spcBef>
            </a:pPr>
            <a:r>
              <a:rPr lang="en-US" sz="4500" dirty="0" smtClean="0">
                <a:latin typeface="Times New Roman" panose="02020603050405020304" pitchFamily="18" charset="0"/>
                <a:cs typeface="Times New Roman" panose="02020603050405020304" pitchFamily="18" charset="0"/>
              </a:rPr>
              <a:t>High concurrency during peak booking causes overbooking and database latency. The system resolves this using </a:t>
            </a:r>
            <a:r>
              <a:rPr lang="en-US" sz="4500" dirty="0" err="1" smtClean="0">
                <a:latin typeface="Times New Roman" panose="02020603050405020304" pitchFamily="18" charset="0"/>
                <a:cs typeface="Times New Roman" panose="02020603050405020304" pitchFamily="18" charset="0"/>
              </a:rPr>
              <a:t>Redis</a:t>
            </a:r>
            <a:r>
              <a:rPr lang="en-US" sz="4500" dirty="0" smtClean="0">
                <a:latin typeface="Times New Roman" panose="02020603050405020304" pitchFamily="18" charset="0"/>
                <a:cs typeface="Times New Roman" panose="02020603050405020304" pitchFamily="18" charset="0"/>
              </a:rPr>
              <a:t> in-memory caching for instant seat inventory locking, PostgreSQL with ACID compliance to prevent race conditions, and Socket.io for real-time seat availability updates across clients.</a:t>
            </a:r>
            <a:endParaRPr sz="4500" dirty="0">
              <a:latin typeface="Times New Roman" panose="02020603050405020304" pitchFamily="18" charset="0"/>
              <a:cs typeface="Times New Roman" panose="02020603050405020304" pitchFamily="18" charset="0"/>
            </a:endParaRPr>
          </a:p>
        </p:txBody>
      </p:sp>
      <p:grpSp>
        <p:nvGrpSpPr>
          <p:cNvPr id="7" name="object 7"/>
          <p:cNvGrpSpPr/>
          <p:nvPr/>
        </p:nvGrpSpPr>
        <p:grpSpPr>
          <a:xfrm>
            <a:off x="-6095" y="6470903"/>
            <a:ext cx="12204700" cy="393700"/>
            <a:chOff x="-6095" y="6470903"/>
            <a:chExt cx="12204700" cy="393700"/>
          </a:xfrm>
        </p:grpSpPr>
        <p:sp>
          <p:nvSpPr>
            <p:cNvPr id="8" name="object 8"/>
            <p:cNvSpPr/>
            <p:nvPr/>
          </p:nvSpPr>
          <p:spPr>
            <a:xfrm>
              <a:off x="381" y="6477380"/>
              <a:ext cx="12192000" cy="381000"/>
            </a:xfrm>
            <a:custGeom>
              <a:avLst/>
              <a:gdLst/>
              <a:ahLst/>
              <a:cxnLst/>
              <a:rect l="l" t="t" r="r" b="b"/>
              <a:pathLst>
                <a:path w="12192000" h="381000">
                  <a:moveTo>
                    <a:pt x="12191619" y="0"/>
                  </a:moveTo>
                  <a:lnTo>
                    <a:pt x="0" y="0"/>
                  </a:lnTo>
                  <a:lnTo>
                    <a:pt x="0" y="380619"/>
                  </a:lnTo>
                  <a:lnTo>
                    <a:pt x="12191619" y="380619"/>
                  </a:lnTo>
                  <a:lnTo>
                    <a:pt x="12191619" y="0"/>
                  </a:lnTo>
                  <a:close/>
                </a:path>
              </a:pathLst>
            </a:custGeom>
            <a:solidFill>
              <a:srgbClr val="5B9BD4"/>
            </a:solidFill>
          </p:spPr>
          <p:txBody>
            <a:bodyPr wrap="square" lIns="0" tIns="0" rIns="0" bIns="0" rtlCol="0"/>
            <a:lstStyle/>
            <a:p>
              <a:endParaRPr/>
            </a:p>
          </p:txBody>
        </p:sp>
        <p:sp>
          <p:nvSpPr>
            <p:cNvPr id="9" name="object 9"/>
            <p:cNvSpPr/>
            <p:nvPr/>
          </p:nvSpPr>
          <p:spPr>
            <a:xfrm>
              <a:off x="381" y="6477380"/>
              <a:ext cx="12192000" cy="381000"/>
            </a:xfrm>
            <a:custGeom>
              <a:avLst/>
              <a:gdLst/>
              <a:ahLst/>
              <a:cxnLst/>
              <a:rect l="l" t="t" r="r" b="b"/>
              <a:pathLst>
                <a:path w="12192000" h="381000">
                  <a:moveTo>
                    <a:pt x="12191619" y="0"/>
                  </a:moveTo>
                  <a:lnTo>
                    <a:pt x="0" y="0"/>
                  </a:lnTo>
                  <a:lnTo>
                    <a:pt x="0" y="380619"/>
                  </a:lnTo>
                </a:path>
              </a:pathLst>
            </a:custGeom>
            <a:ln w="12953">
              <a:solidFill>
                <a:srgbClr val="41709C"/>
              </a:solidFill>
            </a:ln>
          </p:spPr>
          <p:txBody>
            <a:bodyPr wrap="square" lIns="0" tIns="0" rIns="0" bIns="0" rtlCol="0"/>
            <a:lstStyle/>
            <a:p>
              <a:endParaRPr/>
            </a:p>
          </p:txBody>
        </p:sp>
      </p:grpSp>
      <p:sp>
        <p:nvSpPr>
          <p:cNvPr id="10" name="object 10"/>
          <p:cNvSpPr txBox="1">
            <a:spLocks noGrp="1"/>
          </p:cNvSpPr>
          <p:nvPr>
            <p:ph type="ftr" sz="quarter" idx="5"/>
          </p:nvPr>
        </p:nvSpPr>
        <p:spPr>
          <a:prstGeom prst="rect">
            <a:avLst/>
          </a:prstGeom>
        </p:spPr>
        <p:txBody>
          <a:bodyPr vert="horz" wrap="square" lIns="0" tIns="0" rIns="0" bIns="0" rtlCol="0">
            <a:spAutoFit/>
          </a:bodyPr>
          <a:lstStyle/>
          <a:p>
            <a:pPr marL="12700">
              <a:lnSpc>
                <a:spcPts val="1710"/>
              </a:lnSpc>
            </a:pPr>
            <a:r>
              <a:rPr dirty="0"/>
              <a:t>MRCET</a:t>
            </a:r>
            <a:r>
              <a:rPr spc="-15" dirty="0"/>
              <a:t> </a:t>
            </a:r>
            <a:r>
              <a:rPr dirty="0"/>
              <a:t>|</a:t>
            </a:r>
            <a:r>
              <a:rPr spc="-15" dirty="0"/>
              <a:t> </a:t>
            </a:r>
            <a:r>
              <a:rPr spc="-10" dirty="0"/>
              <a:t>Department</a:t>
            </a:r>
            <a:r>
              <a:rPr dirty="0"/>
              <a:t> of Emerging</a:t>
            </a:r>
            <a:r>
              <a:rPr spc="-5" dirty="0"/>
              <a:t> </a:t>
            </a:r>
            <a:r>
              <a:rPr spc="-25" dirty="0"/>
              <a:t>Technologies</a:t>
            </a:r>
            <a:r>
              <a:rPr spc="5" dirty="0"/>
              <a:t> </a:t>
            </a:r>
            <a:r>
              <a:rPr dirty="0"/>
              <a:t>|</a:t>
            </a:r>
            <a:r>
              <a:rPr spc="-5" dirty="0"/>
              <a:t> </a:t>
            </a:r>
            <a:r>
              <a:rPr spc="-10" dirty="0"/>
              <a:t>Application</a:t>
            </a:r>
            <a:r>
              <a:rPr spc="-15" dirty="0"/>
              <a:t> </a:t>
            </a:r>
            <a:r>
              <a:rPr spc="-20" dirty="0"/>
              <a:t>Development-</a:t>
            </a:r>
            <a:r>
              <a:rPr dirty="0"/>
              <a:t>II</a:t>
            </a:r>
            <a:r>
              <a:rPr spc="10" dirty="0"/>
              <a:t> </a:t>
            </a:r>
            <a:r>
              <a:rPr dirty="0"/>
              <a:t>PPT|</a:t>
            </a:r>
            <a:r>
              <a:rPr spc="-20" dirty="0"/>
              <a:t> </a:t>
            </a:r>
            <a:r>
              <a:rPr dirty="0"/>
              <a:t>III</a:t>
            </a:r>
            <a:r>
              <a:rPr spc="-20" dirty="0"/>
              <a:t> Year</a:t>
            </a:r>
            <a:r>
              <a:rPr dirty="0"/>
              <a:t> </a:t>
            </a:r>
            <a:r>
              <a:rPr spc="-55" dirty="0"/>
              <a:t>B.Tech-</a:t>
            </a:r>
            <a:r>
              <a:rPr dirty="0"/>
              <a:t>II</a:t>
            </a:r>
            <a:r>
              <a:rPr spc="-15" dirty="0"/>
              <a:t> </a:t>
            </a:r>
            <a:r>
              <a:rPr spc="-10" dirty="0"/>
              <a:t>Semester</a:t>
            </a:r>
          </a:p>
        </p:txBody>
      </p:sp>
      <p:sp>
        <p:nvSpPr>
          <p:cNvPr id="11" name="object 11"/>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spc="-50" dirty="0"/>
              <a:t>23</a:t>
            </a:fld>
            <a:endParaRPr spc="-50" dirty="0"/>
          </a:p>
        </p:txBody>
      </p:sp>
      <p:sp>
        <p:nvSpPr>
          <p:cNvPr id="12" name="object 12"/>
          <p:cNvSpPr txBox="1"/>
          <p:nvPr/>
        </p:nvSpPr>
        <p:spPr>
          <a:xfrm>
            <a:off x="919988" y="6546615"/>
            <a:ext cx="10353040" cy="261620"/>
          </a:xfrm>
          <a:prstGeom prst="rect">
            <a:avLst/>
          </a:prstGeom>
        </p:spPr>
        <p:txBody>
          <a:bodyPr vert="horz" wrap="square" lIns="0" tIns="1905" rIns="0" bIns="0" rtlCol="0">
            <a:spAutoFit/>
          </a:bodyPr>
          <a:lstStyle/>
          <a:p>
            <a:pPr marL="12700">
              <a:lnSpc>
                <a:spcPct val="100000"/>
              </a:lnSpc>
              <a:spcBef>
                <a:spcPts val="15"/>
              </a:spcBef>
            </a:pPr>
            <a:r>
              <a:rPr sz="1600" b="1" spc="-10" dirty="0">
                <a:latin typeface="Arial"/>
                <a:cs typeface="Arial"/>
              </a:rPr>
              <a:t>B.Tech</a:t>
            </a:r>
            <a:r>
              <a:rPr sz="1600" b="1" spc="-30" dirty="0">
                <a:latin typeface="Arial"/>
                <a:cs typeface="Arial"/>
              </a:rPr>
              <a:t> </a:t>
            </a:r>
            <a:r>
              <a:rPr sz="1600" b="1" spc="50" dirty="0">
                <a:latin typeface="Arial"/>
                <a:cs typeface="Arial"/>
              </a:rPr>
              <a:t>III</a:t>
            </a:r>
            <a:r>
              <a:rPr sz="1600" b="1" spc="-20" dirty="0">
                <a:latin typeface="Arial"/>
                <a:cs typeface="Arial"/>
              </a:rPr>
              <a:t> </a:t>
            </a:r>
            <a:r>
              <a:rPr sz="1600" b="1" dirty="0">
                <a:latin typeface="Arial"/>
                <a:cs typeface="Arial"/>
              </a:rPr>
              <a:t>Year</a:t>
            </a:r>
            <a:r>
              <a:rPr sz="1600" b="1" spc="-25" dirty="0">
                <a:latin typeface="Arial"/>
                <a:cs typeface="Arial"/>
              </a:rPr>
              <a:t> </a:t>
            </a:r>
            <a:r>
              <a:rPr sz="1600" b="1" spc="-95" dirty="0">
                <a:latin typeface="Arial"/>
                <a:cs typeface="Arial"/>
              </a:rPr>
              <a:t>–</a:t>
            </a:r>
            <a:r>
              <a:rPr sz="1600" b="1" spc="-5" dirty="0">
                <a:latin typeface="Arial"/>
                <a:cs typeface="Arial"/>
              </a:rPr>
              <a:t> </a:t>
            </a:r>
            <a:r>
              <a:rPr sz="1600" b="1" spc="50" dirty="0">
                <a:latin typeface="Arial"/>
                <a:cs typeface="Arial"/>
              </a:rPr>
              <a:t>II</a:t>
            </a:r>
            <a:r>
              <a:rPr sz="1600" b="1" spc="-20" dirty="0">
                <a:latin typeface="Arial"/>
                <a:cs typeface="Arial"/>
              </a:rPr>
              <a:t> </a:t>
            </a:r>
            <a:r>
              <a:rPr sz="1600" b="1" dirty="0">
                <a:latin typeface="Arial"/>
                <a:cs typeface="Arial"/>
              </a:rPr>
              <a:t>Sem</a:t>
            </a:r>
            <a:r>
              <a:rPr sz="1600" b="1" spc="-25" dirty="0">
                <a:latin typeface="Arial"/>
                <a:cs typeface="Arial"/>
              </a:rPr>
              <a:t> </a:t>
            </a:r>
            <a:r>
              <a:rPr sz="1600" b="1" dirty="0">
                <a:latin typeface="Arial"/>
                <a:cs typeface="Arial"/>
              </a:rPr>
              <a:t>|</a:t>
            </a:r>
            <a:r>
              <a:rPr sz="1600" b="1" spc="-15" dirty="0">
                <a:latin typeface="Arial"/>
                <a:cs typeface="Arial"/>
              </a:rPr>
              <a:t> </a:t>
            </a:r>
            <a:r>
              <a:rPr sz="1600" b="1" dirty="0">
                <a:latin typeface="Arial"/>
                <a:cs typeface="Arial"/>
              </a:rPr>
              <a:t>Dept</a:t>
            </a:r>
            <a:r>
              <a:rPr sz="1600" b="1" spc="-20" dirty="0">
                <a:latin typeface="Arial"/>
                <a:cs typeface="Arial"/>
              </a:rPr>
              <a:t> </a:t>
            </a:r>
            <a:r>
              <a:rPr sz="1600" b="1" dirty="0">
                <a:latin typeface="Arial"/>
                <a:cs typeface="Arial"/>
              </a:rPr>
              <a:t>of</a:t>
            </a:r>
            <a:r>
              <a:rPr sz="1600" b="1" spc="190" dirty="0">
                <a:latin typeface="Arial"/>
                <a:cs typeface="Arial"/>
              </a:rPr>
              <a:t> </a:t>
            </a:r>
            <a:r>
              <a:rPr sz="1600" b="1" dirty="0">
                <a:latin typeface="Arial"/>
                <a:cs typeface="Arial"/>
              </a:rPr>
              <a:t>Computational</a:t>
            </a:r>
            <a:r>
              <a:rPr sz="1600" b="1" spc="-25" dirty="0">
                <a:latin typeface="Arial"/>
                <a:cs typeface="Arial"/>
              </a:rPr>
              <a:t> </a:t>
            </a:r>
            <a:r>
              <a:rPr sz="1600" b="1" dirty="0">
                <a:latin typeface="Arial"/>
                <a:cs typeface="Arial"/>
              </a:rPr>
              <a:t>Intelligence|</a:t>
            </a:r>
            <a:r>
              <a:rPr sz="1600" b="1" spc="-25" dirty="0">
                <a:latin typeface="Arial"/>
                <a:cs typeface="Arial"/>
              </a:rPr>
              <a:t> </a:t>
            </a:r>
            <a:r>
              <a:rPr sz="1600" b="1" dirty="0">
                <a:latin typeface="Arial"/>
                <a:cs typeface="Arial"/>
              </a:rPr>
              <a:t>Application</a:t>
            </a:r>
            <a:r>
              <a:rPr sz="1600" b="1" spc="-35" dirty="0">
                <a:latin typeface="Arial"/>
                <a:cs typeface="Arial"/>
              </a:rPr>
              <a:t> </a:t>
            </a:r>
            <a:r>
              <a:rPr sz="1600" b="1" dirty="0">
                <a:latin typeface="Arial"/>
                <a:cs typeface="Arial"/>
              </a:rPr>
              <a:t>Development</a:t>
            </a:r>
            <a:r>
              <a:rPr sz="1600" b="1" spc="5" dirty="0">
                <a:latin typeface="Arial"/>
                <a:cs typeface="Arial"/>
              </a:rPr>
              <a:t> </a:t>
            </a:r>
            <a:r>
              <a:rPr sz="1600" b="1" spc="-95" dirty="0">
                <a:latin typeface="Arial"/>
                <a:cs typeface="Arial"/>
              </a:rPr>
              <a:t>–</a:t>
            </a:r>
            <a:r>
              <a:rPr sz="1600" b="1" spc="-10" dirty="0">
                <a:latin typeface="Arial"/>
                <a:cs typeface="Arial"/>
              </a:rPr>
              <a:t> </a:t>
            </a:r>
            <a:r>
              <a:rPr sz="1600" b="1" spc="50" dirty="0">
                <a:latin typeface="Arial"/>
                <a:cs typeface="Arial"/>
              </a:rPr>
              <a:t>II</a:t>
            </a:r>
            <a:r>
              <a:rPr sz="1600" b="1" spc="-15" dirty="0">
                <a:latin typeface="Arial"/>
                <a:cs typeface="Arial"/>
              </a:rPr>
              <a:t> </a:t>
            </a:r>
            <a:r>
              <a:rPr sz="1600" b="1" dirty="0">
                <a:latin typeface="Arial"/>
                <a:cs typeface="Arial"/>
              </a:rPr>
              <a:t>|</a:t>
            </a:r>
            <a:r>
              <a:rPr sz="1600" b="1" spc="-5" dirty="0">
                <a:latin typeface="Arial"/>
                <a:cs typeface="Arial"/>
              </a:rPr>
              <a:t> </a:t>
            </a:r>
            <a:r>
              <a:rPr sz="1600" b="1" dirty="0">
                <a:latin typeface="Arial"/>
                <a:cs typeface="Arial"/>
              </a:rPr>
              <a:t>Project</a:t>
            </a:r>
            <a:r>
              <a:rPr sz="1600" b="1" spc="-30" dirty="0">
                <a:latin typeface="Arial"/>
                <a:cs typeface="Arial"/>
              </a:rPr>
              <a:t> </a:t>
            </a:r>
            <a:r>
              <a:rPr sz="1600" b="1" spc="-10" dirty="0">
                <a:latin typeface="Arial"/>
                <a:cs typeface="Arial"/>
              </a:rPr>
              <a:t>Review</a:t>
            </a:r>
            <a:endParaRPr sz="1600">
              <a:latin typeface="Arial"/>
              <a:cs typeface="Arial"/>
            </a:endParaRPr>
          </a:p>
        </p:txBody>
      </p:sp>
    </p:spTree>
    <p:extLst>
      <p:ext uri="{BB962C8B-B14F-4D97-AF65-F5344CB8AC3E}">
        <p14:creationId xmlns:p14="http://schemas.microsoft.com/office/powerpoint/2010/main" val="34891485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10493502" y="0"/>
            <a:ext cx="1698625" cy="898525"/>
            <a:chOff x="10493502" y="0"/>
            <a:chExt cx="1698625" cy="898525"/>
          </a:xfrm>
        </p:grpSpPr>
        <p:pic>
          <p:nvPicPr>
            <p:cNvPr id="3" name="object 3"/>
            <p:cNvPicPr/>
            <p:nvPr/>
          </p:nvPicPr>
          <p:blipFill>
            <a:blip r:embed="rId2" cstate="print"/>
            <a:stretch>
              <a:fillRect/>
            </a:stretch>
          </p:blipFill>
          <p:spPr>
            <a:xfrm>
              <a:off x="11353800" y="0"/>
              <a:ext cx="822198" cy="822198"/>
            </a:xfrm>
            <a:prstGeom prst="rect">
              <a:avLst/>
            </a:prstGeom>
          </p:spPr>
        </p:pic>
        <p:pic>
          <p:nvPicPr>
            <p:cNvPr id="4" name="object 4"/>
            <p:cNvPicPr/>
            <p:nvPr/>
          </p:nvPicPr>
          <p:blipFill>
            <a:blip r:embed="rId3" cstate="print"/>
            <a:stretch>
              <a:fillRect/>
            </a:stretch>
          </p:blipFill>
          <p:spPr>
            <a:xfrm>
              <a:off x="10493502" y="0"/>
              <a:ext cx="1698498" cy="898398"/>
            </a:xfrm>
            <a:prstGeom prst="rect">
              <a:avLst/>
            </a:prstGeom>
          </p:spPr>
        </p:pic>
      </p:grpSp>
      <p:sp>
        <p:nvSpPr>
          <p:cNvPr id="5" name="object 5" descr="$PPTXTitle"/>
          <p:cNvSpPr txBox="1">
            <a:spLocks noGrp="1"/>
          </p:cNvSpPr>
          <p:nvPr>
            <p:ph type="title"/>
          </p:nvPr>
        </p:nvSpPr>
        <p:spPr>
          <a:xfrm>
            <a:off x="851161" y="315869"/>
            <a:ext cx="8521439" cy="689932"/>
          </a:xfrm>
          <a:prstGeom prst="rect">
            <a:avLst/>
          </a:prstGeom>
        </p:spPr>
        <p:txBody>
          <a:bodyPr vert="horz" wrap="square" lIns="0" tIns="12700" rIns="0" bIns="0" rtlCol="0">
            <a:spAutoFit/>
          </a:bodyPr>
          <a:lstStyle/>
          <a:p>
            <a:pPr marL="12700">
              <a:lnSpc>
                <a:spcPct val="100000"/>
              </a:lnSpc>
              <a:spcBef>
                <a:spcPts val="100"/>
              </a:spcBef>
            </a:pPr>
            <a:r>
              <a:rPr lang="en-US" spc="-10" dirty="0" smtClean="0"/>
              <a:t>Future Work</a:t>
            </a:r>
            <a:endParaRPr spc="-10" dirty="0"/>
          </a:p>
        </p:txBody>
      </p:sp>
      <p:sp>
        <p:nvSpPr>
          <p:cNvPr id="6" name="object 6"/>
          <p:cNvSpPr txBox="1"/>
          <p:nvPr/>
        </p:nvSpPr>
        <p:spPr>
          <a:xfrm>
            <a:off x="851161" y="1055946"/>
            <a:ext cx="10360025" cy="5551904"/>
          </a:xfrm>
          <a:prstGeom prst="rect">
            <a:avLst/>
          </a:prstGeom>
        </p:spPr>
        <p:txBody>
          <a:bodyPr vert="horz" wrap="square" lIns="0" tIns="66675" rIns="0" bIns="0" rtlCol="0">
            <a:spAutoFit/>
          </a:bodyPr>
          <a:lstStyle/>
          <a:p>
            <a:pPr marL="12700" marR="5080" algn="just">
              <a:lnSpc>
                <a:spcPct val="90100"/>
              </a:lnSpc>
              <a:spcBef>
                <a:spcPts val="525"/>
              </a:spcBef>
            </a:pPr>
            <a:r>
              <a:rPr lang="en-US" sz="4300" dirty="0" smtClean="0">
                <a:latin typeface="Times New Roman" panose="02020603050405020304" pitchFamily="18" charset="0"/>
                <a:cs typeface="Times New Roman" panose="02020603050405020304" pitchFamily="18" charset="0"/>
              </a:rPr>
              <a:t>Future work includes integrating AI-driven dynamic pricing, mobile app support, and automated seat allocation algorithms. Expanding </a:t>
            </a:r>
            <a:r>
              <a:rPr lang="en-US" sz="4300" dirty="0" err="1" smtClean="0">
                <a:latin typeface="Times New Roman" panose="02020603050405020304" pitchFamily="18" charset="0"/>
                <a:cs typeface="Times New Roman" panose="02020603050405020304" pitchFamily="18" charset="0"/>
              </a:rPr>
              <a:t>microservices</a:t>
            </a:r>
            <a:r>
              <a:rPr lang="en-US" sz="4300" dirty="0" smtClean="0">
                <a:latin typeface="Times New Roman" panose="02020603050405020304" pitchFamily="18" charset="0"/>
                <a:cs typeface="Times New Roman" panose="02020603050405020304" pitchFamily="18" charset="0"/>
              </a:rPr>
              <a:t> architecture, adding multi-modal transit connections, and incorporating </a:t>
            </a:r>
            <a:r>
              <a:rPr lang="en-US" sz="4300" dirty="0" err="1" smtClean="0">
                <a:latin typeface="Times New Roman" panose="02020603050405020304" pitchFamily="18" charset="0"/>
                <a:cs typeface="Times New Roman" panose="02020603050405020304" pitchFamily="18" charset="0"/>
              </a:rPr>
              <a:t>IoT</a:t>
            </a:r>
            <a:r>
              <a:rPr lang="en-US" sz="4300" dirty="0" smtClean="0">
                <a:latin typeface="Times New Roman" panose="02020603050405020304" pitchFamily="18" charset="0"/>
                <a:cs typeface="Times New Roman" panose="02020603050405020304" pitchFamily="18" charset="0"/>
              </a:rPr>
              <a:t>-based train tracking will further optimize operational scalability, passenger convenience, and real-time navigation during high-demand periods. </a:t>
            </a:r>
            <a:endParaRPr sz="4300" dirty="0">
              <a:latin typeface="Times New Roman" panose="02020603050405020304" pitchFamily="18" charset="0"/>
              <a:cs typeface="Times New Roman" panose="02020603050405020304" pitchFamily="18" charset="0"/>
            </a:endParaRPr>
          </a:p>
        </p:txBody>
      </p:sp>
      <p:grpSp>
        <p:nvGrpSpPr>
          <p:cNvPr id="7" name="object 7"/>
          <p:cNvGrpSpPr/>
          <p:nvPr/>
        </p:nvGrpSpPr>
        <p:grpSpPr>
          <a:xfrm>
            <a:off x="-6095" y="6470903"/>
            <a:ext cx="12204700" cy="393700"/>
            <a:chOff x="-6095" y="6470903"/>
            <a:chExt cx="12204700" cy="393700"/>
          </a:xfrm>
        </p:grpSpPr>
        <p:sp>
          <p:nvSpPr>
            <p:cNvPr id="8" name="object 8"/>
            <p:cNvSpPr/>
            <p:nvPr/>
          </p:nvSpPr>
          <p:spPr>
            <a:xfrm>
              <a:off x="381" y="6477380"/>
              <a:ext cx="12192000" cy="381000"/>
            </a:xfrm>
            <a:custGeom>
              <a:avLst/>
              <a:gdLst/>
              <a:ahLst/>
              <a:cxnLst/>
              <a:rect l="l" t="t" r="r" b="b"/>
              <a:pathLst>
                <a:path w="12192000" h="381000">
                  <a:moveTo>
                    <a:pt x="12191619" y="0"/>
                  </a:moveTo>
                  <a:lnTo>
                    <a:pt x="0" y="0"/>
                  </a:lnTo>
                  <a:lnTo>
                    <a:pt x="0" y="380619"/>
                  </a:lnTo>
                  <a:lnTo>
                    <a:pt x="12191619" y="380619"/>
                  </a:lnTo>
                  <a:lnTo>
                    <a:pt x="12191619" y="0"/>
                  </a:lnTo>
                  <a:close/>
                </a:path>
              </a:pathLst>
            </a:custGeom>
            <a:solidFill>
              <a:srgbClr val="5B9BD4"/>
            </a:solidFill>
          </p:spPr>
          <p:txBody>
            <a:bodyPr wrap="square" lIns="0" tIns="0" rIns="0" bIns="0" rtlCol="0"/>
            <a:lstStyle/>
            <a:p>
              <a:endParaRPr/>
            </a:p>
          </p:txBody>
        </p:sp>
        <p:sp>
          <p:nvSpPr>
            <p:cNvPr id="9" name="object 9"/>
            <p:cNvSpPr/>
            <p:nvPr/>
          </p:nvSpPr>
          <p:spPr>
            <a:xfrm>
              <a:off x="381" y="6477380"/>
              <a:ext cx="12192000" cy="381000"/>
            </a:xfrm>
            <a:custGeom>
              <a:avLst/>
              <a:gdLst/>
              <a:ahLst/>
              <a:cxnLst/>
              <a:rect l="l" t="t" r="r" b="b"/>
              <a:pathLst>
                <a:path w="12192000" h="381000">
                  <a:moveTo>
                    <a:pt x="12191619" y="0"/>
                  </a:moveTo>
                  <a:lnTo>
                    <a:pt x="0" y="0"/>
                  </a:lnTo>
                  <a:lnTo>
                    <a:pt x="0" y="380619"/>
                  </a:lnTo>
                </a:path>
              </a:pathLst>
            </a:custGeom>
            <a:ln w="12953">
              <a:solidFill>
                <a:srgbClr val="41709C"/>
              </a:solidFill>
            </a:ln>
          </p:spPr>
          <p:txBody>
            <a:bodyPr wrap="square" lIns="0" tIns="0" rIns="0" bIns="0" rtlCol="0"/>
            <a:lstStyle/>
            <a:p>
              <a:endParaRPr/>
            </a:p>
          </p:txBody>
        </p:sp>
      </p:grpSp>
      <p:sp>
        <p:nvSpPr>
          <p:cNvPr id="10" name="object 10"/>
          <p:cNvSpPr txBox="1">
            <a:spLocks noGrp="1"/>
          </p:cNvSpPr>
          <p:nvPr>
            <p:ph type="ftr" sz="quarter" idx="5"/>
          </p:nvPr>
        </p:nvSpPr>
        <p:spPr>
          <a:prstGeom prst="rect">
            <a:avLst/>
          </a:prstGeom>
        </p:spPr>
        <p:txBody>
          <a:bodyPr vert="horz" wrap="square" lIns="0" tIns="0" rIns="0" bIns="0" rtlCol="0">
            <a:spAutoFit/>
          </a:bodyPr>
          <a:lstStyle/>
          <a:p>
            <a:pPr marL="12700">
              <a:lnSpc>
                <a:spcPts val="1710"/>
              </a:lnSpc>
            </a:pPr>
            <a:r>
              <a:rPr dirty="0"/>
              <a:t>MRCET</a:t>
            </a:r>
            <a:r>
              <a:rPr spc="-15" dirty="0"/>
              <a:t> </a:t>
            </a:r>
            <a:r>
              <a:rPr dirty="0"/>
              <a:t>|</a:t>
            </a:r>
            <a:r>
              <a:rPr spc="-15" dirty="0"/>
              <a:t> </a:t>
            </a:r>
            <a:r>
              <a:rPr spc="-10" dirty="0"/>
              <a:t>Department</a:t>
            </a:r>
            <a:r>
              <a:rPr dirty="0"/>
              <a:t> of Emerging</a:t>
            </a:r>
            <a:r>
              <a:rPr spc="-5" dirty="0"/>
              <a:t> </a:t>
            </a:r>
            <a:r>
              <a:rPr spc="-25" dirty="0"/>
              <a:t>Technologies</a:t>
            </a:r>
            <a:r>
              <a:rPr spc="5" dirty="0"/>
              <a:t> </a:t>
            </a:r>
            <a:r>
              <a:rPr dirty="0"/>
              <a:t>|</a:t>
            </a:r>
            <a:r>
              <a:rPr spc="-5" dirty="0"/>
              <a:t> </a:t>
            </a:r>
            <a:r>
              <a:rPr spc="-10" dirty="0"/>
              <a:t>Application</a:t>
            </a:r>
            <a:r>
              <a:rPr spc="-15" dirty="0"/>
              <a:t> </a:t>
            </a:r>
            <a:r>
              <a:rPr spc="-20" dirty="0"/>
              <a:t>Development-</a:t>
            </a:r>
            <a:r>
              <a:rPr dirty="0"/>
              <a:t>II</a:t>
            </a:r>
            <a:r>
              <a:rPr spc="10" dirty="0"/>
              <a:t> </a:t>
            </a:r>
            <a:r>
              <a:rPr dirty="0"/>
              <a:t>PPT|</a:t>
            </a:r>
            <a:r>
              <a:rPr spc="-20" dirty="0"/>
              <a:t> </a:t>
            </a:r>
            <a:r>
              <a:rPr dirty="0"/>
              <a:t>III</a:t>
            </a:r>
            <a:r>
              <a:rPr spc="-20" dirty="0"/>
              <a:t> Year</a:t>
            </a:r>
            <a:r>
              <a:rPr dirty="0"/>
              <a:t> </a:t>
            </a:r>
            <a:r>
              <a:rPr spc="-55" dirty="0"/>
              <a:t>B.Tech-</a:t>
            </a:r>
            <a:r>
              <a:rPr dirty="0"/>
              <a:t>II</a:t>
            </a:r>
            <a:r>
              <a:rPr spc="-15" dirty="0"/>
              <a:t> </a:t>
            </a:r>
            <a:r>
              <a:rPr spc="-10" dirty="0"/>
              <a:t>Semester</a:t>
            </a:r>
          </a:p>
        </p:txBody>
      </p:sp>
      <p:sp>
        <p:nvSpPr>
          <p:cNvPr id="11" name="object 11"/>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spc="-50" dirty="0"/>
              <a:t>24</a:t>
            </a:fld>
            <a:endParaRPr spc="-50" dirty="0"/>
          </a:p>
        </p:txBody>
      </p:sp>
      <p:sp>
        <p:nvSpPr>
          <p:cNvPr id="12" name="object 12"/>
          <p:cNvSpPr txBox="1"/>
          <p:nvPr/>
        </p:nvSpPr>
        <p:spPr>
          <a:xfrm>
            <a:off x="919988" y="6546615"/>
            <a:ext cx="10353040" cy="261620"/>
          </a:xfrm>
          <a:prstGeom prst="rect">
            <a:avLst/>
          </a:prstGeom>
        </p:spPr>
        <p:txBody>
          <a:bodyPr vert="horz" wrap="square" lIns="0" tIns="1905" rIns="0" bIns="0" rtlCol="0">
            <a:spAutoFit/>
          </a:bodyPr>
          <a:lstStyle/>
          <a:p>
            <a:pPr marL="12700">
              <a:lnSpc>
                <a:spcPct val="100000"/>
              </a:lnSpc>
              <a:spcBef>
                <a:spcPts val="15"/>
              </a:spcBef>
            </a:pPr>
            <a:r>
              <a:rPr sz="1600" b="1" spc="-10" dirty="0">
                <a:latin typeface="Arial"/>
                <a:cs typeface="Arial"/>
              </a:rPr>
              <a:t>B.Tech</a:t>
            </a:r>
            <a:r>
              <a:rPr sz="1600" b="1" spc="-30" dirty="0">
                <a:latin typeface="Arial"/>
                <a:cs typeface="Arial"/>
              </a:rPr>
              <a:t> </a:t>
            </a:r>
            <a:r>
              <a:rPr sz="1600" b="1" spc="50" dirty="0">
                <a:latin typeface="Arial"/>
                <a:cs typeface="Arial"/>
              </a:rPr>
              <a:t>III</a:t>
            </a:r>
            <a:r>
              <a:rPr sz="1600" b="1" spc="-20" dirty="0">
                <a:latin typeface="Arial"/>
                <a:cs typeface="Arial"/>
              </a:rPr>
              <a:t> </a:t>
            </a:r>
            <a:r>
              <a:rPr sz="1600" b="1" dirty="0">
                <a:latin typeface="Arial"/>
                <a:cs typeface="Arial"/>
              </a:rPr>
              <a:t>Year</a:t>
            </a:r>
            <a:r>
              <a:rPr sz="1600" b="1" spc="-25" dirty="0">
                <a:latin typeface="Arial"/>
                <a:cs typeface="Arial"/>
              </a:rPr>
              <a:t> </a:t>
            </a:r>
            <a:r>
              <a:rPr sz="1600" b="1" spc="-95" dirty="0">
                <a:latin typeface="Arial"/>
                <a:cs typeface="Arial"/>
              </a:rPr>
              <a:t>–</a:t>
            </a:r>
            <a:r>
              <a:rPr sz="1600" b="1" spc="-5" dirty="0">
                <a:latin typeface="Arial"/>
                <a:cs typeface="Arial"/>
              </a:rPr>
              <a:t> </a:t>
            </a:r>
            <a:r>
              <a:rPr sz="1600" b="1" spc="50" dirty="0">
                <a:latin typeface="Arial"/>
                <a:cs typeface="Arial"/>
              </a:rPr>
              <a:t>II</a:t>
            </a:r>
            <a:r>
              <a:rPr sz="1600" b="1" spc="-20" dirty="0">
                <a:latin typeface="Arial"/>
                <a:cs typeface="Arial"/>
              </a:rPr>
              <a:t> </a:t>
            </a:r>
            <a:r>
              <a:rPr sz="1600" b="1" dirty="0">
                <a:latin typeface="Arial"/>
                <a:cs typeface="Arial"/>
              </a:rPr>
              <a:t>Sem</a:t>
            </a:r>
            <a:r>
              <a:rPr sz="1600" b="1" spc="-25" dirty="0">
                <a:latin typeface="Arial"/>
                <a:cs typeface="Arial"/>
              </a:rPr>
              <a:t> </a:t>
            </a:r>
            <a:r>
              <a:rPr sz="1600" b="1" dirty="0">
                <a:latin typeface="Arial"/>
                <a:cs typeface="Arial"/>
              </a:rPr>
              <a:t>|</a:t>
            </a:r>
            <a:r>
              <a:rPr sz="1600" b="1" spc="-15" dirty="0">
                <a:latin typeface="Arial"/>
                <a:cs typeface="Arial"/>
              </a:rPr>
              <a:t> </a:t>
            </a:r>
            <a:r>
              <a:rPr sz="1600" b="1" dirty="0">
                <a:latin typeface="Arial"/>
                <a:cs typeface="Arial"/>
              </a:rPr>
              <a:t>Dept</a:t>
            </a:r>
            <a:r>
              <a:rPr sz="1600" b="1" spc="-20" dirty="0">
                <a:latin typeface="Arial"/>
                <a:cs typeface="Arial"/>
              </a:rPr>
              <a:t> </a:t>
            </a:r>
            <a:r>
              <a:rPr sz="1600" b="1" dirty="0">
                <a:latin typeface="Arial"/>
                <a:cs typeface="Arial"/>
              </a:rPr>
              <a:t>of</a:t>
            </a:r>
            <a:r>
              <a:rPr sz="1600" b="1" spc="190" dirty="0">
                <a:latin typeface="Arial"/>
                <a:cs typeface="Arial"/>
              </a:rPr>
              <a:t> </a:t>
            </a:r>
            <a:r>
              <a:rPr sz="1600" b="1" dirty="0">
                <a:latin typeface="Arial"/>
                <a:cs typeface="Arial"/>
              </a:rPr>
              <a:t>Computational</a:t>
            </a:r>
            <a:r>
              <a:rPr sz="1600" b="1" spc="-25" dirty="0">
                <a:latin typeface="Arial"/>
                <a:cs typeface="Arial"/>
              </a:rPr>
              <a:t> </a:t>
            </a:r>
            <a:r>
              <a:rPr sz="1600" b="1" dirty="0">
                <a:latin typeface="Arial"/>
                <a:cs typeface="Arial"/>
              </a:rPr>
              <a:t>Intelligence|</a:t>
            </a:r>
            <a:r>
              <a:rPr sz="1600" b="1" spc="-25" dirty="0">
                <a:latin typeface="Arial"/>
                <a:cs typeface="Arial"/>
              </a:rPr>
              <a:t> </a:t>
            </a:r>
            <a:r>
              <a:rPr sz="1600" b="1" dirty="0">
                <a:latin typeface="Arial"/>
                <a:cs typeface="Arial"/>
              </a:rPr>
              <a:t>Application</a:t>
            </a:r>
            <a:r>
              <a:rPr sz="1600" b="1" spc="-35" dirty="0">
                <a:latin typeface="Arial"/>
                <a:cs typeface="Arial"/>
              </a:rPr>
              <a:t> </a:t>
            </a:r>
            <a:r>
              <a:rPr sz="1600" b="1" dirty="0">
                <a:latin typeface="Arial"/>
                <a:cs typeface="Arial"/>
              </a:rPr>
              <a:t>Development</a:t>
            </a:r>
            <a:r>
              <a:rPr sz="1600" b="1" spc="5" dirty="0">
                <a:latin typeface="Arial"/>
                <a:cs typeface="Arial"/>
              </a:rPr>
              <a:t> </a:t>
            </a:r>
            <a:r>
              <a:rPr sz="1600" b="1" spc="-95" dirty="0">
                <a:latin typeface="Arial"/>
                <a:cs typeface="Arial"/>
              </a:rPr>
              <a:t>–</a:t>
            </a:r>
            <a:r>
              <a:rPr sz="1600" b="1" spc="-10" dirty="0">
                <a:latin typeface="Arial"/>
                <a:cs typeface="Arial"/>
              </a:rPr>
              <a:t> </a:t>
            </a:r>
            <a:r>
              <a:rPr sz="1600" b="1" spc="50" dirty="0">
                <a:latin typeface="Arial"/>
                <a:cs typeface="Arial"/>
              </a:rPr>
              <a:t>II</a:t>
            </a:r>
            <a:r>
              <a:rPr sz="1600" b="1" spc="-15" dirty="0">
                <a:latin typeface="Arial"/>
                <a:cs typeface="Arial"/>
              </a:rPr>
              <a:t> </a:t>
            </a:r>
            <a:r>
              <a:rPr sz="1600" b="1" dirty="0">
                <a:latin typeface="Arial"/>
                <a:cs typeface="Arial"/>
              </a:rPr>
              <a:t>|</a:t>
            </a:r>
            <a:r>
              <a:rPr sz="1600" b="1" spc="-5" dirty="0">
                <a:latin typeface="Arial"/>
                <a:cs typeface="Arial"/>
              </a:rPr>
              <a:t> </a:t>
            </a:r>
            <a:r>
              <a:rPr sz="1600" b="1" dirty="0">
                <a:latin typeface="Arial"/>
                <a:cs typeface="Arial"/>
              </a:rPr>
              <a:t>Project</a:t>
            </a:r>
            <a:r>
              <a:rPr sz="1600" b="1" spc="-30" dirty="0">
                <a:latin typeface="Arial"/>
                <a:cs typeface="Arial"/>
              </a:rPr>
              <a:t> </a:t>
            </a:r>
            <a:r>
              <a:rPr sz="1600" b="1" spc="-10" dirty="0">
                <a:latin typeface="Arial"/>
                <a:cs typeface="Arial"/>
              </a:rPr>
              <a:t>Review</a:t>
            </a:r>
            <a:endParaRPr sz="1600">
              <a:latin typeface="Arial"/>
              <a:cs typeface="Arial"/>
            </a:endParaRPr>
          </a:p>
        </p:txBody>
      </p:sp>
    </p:spTree>
    <p:extLst>
      <p:ext uri="{BB962C8B-B14F-4D97-AF65-F5344CB8AC3E}">
        <p14:creationId xmlns:p14="http://schemas.microsoft.com/office/powerpoint/2010/main" val="297005319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10493502" y="0"/>
            <a:ext cx="1698625" cy="898525"/>
            <a:chOff x="10493502" y="0"/>
            <a:chExt cx="1698625" cy="898525"/>
          </a:xfrm>
        </p:grpSpPr>
        <p:pic>
          <p:nvPicPr>
            <p:cNvPr id="3" name="object 3"/>
            <p:cNvPicPr/>
            <p:nvPr/>
          </p:nvPicPr>
          <p:blipFill>
            <a:blip r:embed="rId2" cstate="print"/>
            <a:stretch>
              <a:fillRect/>
            </a:stretch>
          </p:blipFill>
          <p:spPr>
            <a:xfrm>
              <a:off x="11353800" y="0"/>
              <a:ext cx="822198" cy="822198"/>
            </a:xfrm>
            <a:prstGeom prst="rect">
              <a:avLst/>
            </a:prstGeom>
          </p:spPr>
        </p:pic>
        <p:pic>
          <p:nvPicPr>
            <p:cNvPr id="4" name="object 4"/>
            <p:cNvPicPr/>
            <p:nvPr/>
          </p:nvPicPr>
          <p:blipFill>
            <a:blip r:embed="rId3" cstate="print"/>
            <a:stretch>
              <a:fillRect/>
            </a:stretch>
          </p:blipFill>
          <p:spPr>
            <a:xfrm>
              <a:off x="10493502" y="0"/>
              <a:ext cx="1698498" cy="898398"/>
            </a:xfrm>
            <a:prstGeom prst="rect">
              <a:avLst/>
            </a:prstGeom>
          </p:spPr>
        </p:pic>
      </p:grpSp>
      <p:sp>
        <p:nvSpPr>
          <p:cNvPr id="5" name="object 5" descr="$PPTXTitle"/>
          <p:cNvSpPr txBox="1">
            <a:spLocks noGrp="1"/>
          </p:cNvSpPr>
          <p:nvPr>
            <p:ph type="title"/>
          </p:nvPr>
        </p:nvSpPr>
        <p:spPr>
          <a:xfrm>
            <a:off x="822802" y="411099"/>
            <a:ext cx="8521439" cy="689932"/>
          </a:xfrm>
          <a:prstGeom prst="rect">
            <a:avLst/>
          </a:prstGeom>
        </p:spPr>
        <p:txBody>
          <a:bodyPr vert="horz" wrap="square" lIns="0" tIns="12700" rIns="0" bIns="0" rtlCol="0">
            <a:spAutoFit/>
          </a:bodyPr>
          <a:lstStyle/>
          <a:p>
            <a:pPr marL="12700">
              <a:lnSpc>
                <a:spcPct val="100000"/>
              </a:lnSpc>
              <a:spcBef>
                <a:spcPts val="100"/>
              </a:spcBef>
            </a:pPr>
            <a:r>
              <a:rPr lang="en-US" spc="-10" dirty="0" smtClean="0"/>
              <a:t>Conclusion</a:t>
            </a:r>
            <a:endParaRPr spc="-10" dirty="0"/>
          </a:p>
        </p:txBody>
      </p:sp>
      <p:sp>
        <p:nvSpPr>
          <p:cNvPr id="6" name="object 6"/>
          <p:cNvSpPr txBox="1"/>
          <p:nvPr/>
        </p:nvSpPr>
        <p:spPr>
          <a:xfrm>
            <a:off x="851161" y="1055946"/>
            <a:ext cx="10360025" cy="4942507"/>
          </a:xfrm>
          <a:prstGeom prst="rect">
            <a:avLst/>
          </a:prstGeom>
        </p:spPr>
        <p:txBody>
          <a:bodyPr vert="horz" wrap="square" lIns="0" tIns="66675" rIns="0" bIns="0" rtlCol="0">
            <a:spAutoFit/>
          </a:bodyPr>
          <a:lstStyle/>
          <a:p>
            <a:pPr marL="12700" marR="5080" algn="just">
              <a:lnSpc>
                <a:spcPct val="90100"/>
              </a:lnSpc>
              <a:spcBef>
                <a:spcPts val="525"/>
              </a:spcBef>
            </a:pPr>
            <a:r>
              <a:rPr lang="en-IN" sz="4400" dirty="0" smtClean="0">
                <a:latin typeface="Times New Roman" panose="02020603050405020304" pitchFamily="18" charset="0"/>
                <a:cs typeface="Times New Roman" panose="02020603050405020304" pitchFamily="18" charset="0"/>
              </a:rPr>
              <a:t>The Railway Reservation System successfully modernizes train ticketing by eliminating manual inefficiencies through a secure, multi-tier digital platform. Utilizing React, Node.js, PostgreSQL, and </a:t>
            </a:r>
            <a:r>
              <a:rPr lang="en-IN" sz="4400" dirty="0" err="1" smtClean="0">
                <a:latin typeface="Times New Roman" panose="02020603050405020304" pitchFamily="18" charset="0"/>
                <a:cs typeface="Times New Roman" panose="02020603050405020304" pitchFamily="18" charset="0"/>
              </a:rPr>
              <a:t>Redis</a:t>
            </a:r>
            <a:r>
              <a:rPr lang="en-IN" sz="4400" dirty="0" smtClean="0">
                <a:latin typeface="Times New Roman" panose="02020603050405020304" pitchFamily="18" charset="0"/>
                <a:cs typeface="Times New Roman" panose="02020603050405020304" pitchFamily="18" charset="0"/>
              </a:rPr>
              <a:t> caching, it delivers real-time seat availability, high concurrency handling, ACID-compliant transactions, and enhanced passenger convenience. </a:t>
            </a:r>
            <a:endParaRPr sz="4400" dirty="0">
              <a:latin typeface="Times New Roman" panose="02020603050405020304" pitchFamily="18" charset="0"/>
              <a:cs typeface="Times New Roman" panose="02020603050405020304" pitchFamily="18" charset="0"/>
            </a:endParaRPr>
          </a:p>
        </p:txBody>
      </p:sp>
      <p:grpSp>
        <p:nvGrpSpPr>
          <p:cNvPr id="7" name="object 7"/>
          <p:cNvGrpSpPr/>
          <p:nvPr/>
        </p:nvGrpSpPr>
        <p:grpSpPr>
          <a:xfrm>
            <a:off x="-6095" y="6470903"/>
            <a:ext cx="12204700" cy="393700"/>
            <a:chOff x="-6095" y="6470903"/>
            <a:chExt cx="12204700" cy="393700"/>
          </a:xfrm>
        </p:grpSpPr>
        <p:sp>
          <p:nvSpPr>
            <p:cNvPr id="8" name="object 8"/>
            <p:cNvSpPr/>
            <p:nvPr/>
          </p:nvSpPr>
          <p:spPr>
            <a:xfrm>
              <a:off x="381" y="6477380"/>
              <a:ext cx="12192000" cy="381000"/>
            </a:xfrm>
            <a:custGeom>
              <a:avLst/>
              <a:gdLst/>
              <a:ahLst/>
              <a:cxnLst/>
              <a:rect l="l" t="t" r="r" b="b"/>
              <a:pathLst>
                <a:path w="12192000" h="381000">
                  <a:moveTo>
                    <a:pt x="12191619" y="0"/>
                  </a:moveTo>
                  <a:lnTo>
                    <a:pt x="0" y="0"/>
                  </a:lnTo>
                  <a:lnTo>
                    <a:pt x="0" y="380619"/>
                  </a:lnTo>
                  <a:lnTo>
                    <a:pt x="12191619" y="380619"/>
                  </a:lnTo>
                  <a:lnTo>
                    <a:pt x="12191619" y="0"/>
                  </a:lnTo>
                  <a:close/>
                </a:path>
              </a:pathLst>
            </a:custGeom>
            <a:solidFill>
              <a:srgbClr val="5B9BD4"/>
            </a:solidFill>
          </p:spPr>
          <p:txBody>
            <a:bodyPr wrap="square" lIns="0" tIns="0" rIns="0" bIns="0" rtlCol="0"/>
            <a:lstStyle/>
            <a:p>
              <a:endParaRPr/>
            </a:p>
          </p:txBody>
        </p:sp>
        <p:sp>
          <p:nvSpPr>
            <p:cNvPr id="9" name="object 9"/>
            <p:cNvSpPr/>
            <p:nvPr/>
          </p:nvSpPr>
          <p:spPr>
            <a:xfrm>
              <a:off x="381" y="6477380"/>
              <a:ext cx="12192000" cy="381000"/>
            </a:xfrm>
            <a:custGeom>
              <a:avLst/>
              <a:gdLst/>
              <a:ahLst/>
              <a:cxnLst/>
              <a:rect l="l" t="t" r="r" b="b"/>
              <a:pathLst>
                <a:path w="12192000" h="381000">
                  <a:moveTo>
                    <a:pt x="12191619" y="0"/>
                  </a:moveTo>
                  <a:lnTo>
                    <a:pt x="0" y="0"/>
                  </a:lnTo>
                  <a:lnTo>
                    <a:pt x="0" y="380619"/>
                  </a:lnTo>
                </a:path>
              </a:pathLst>
            </a:custGeom>
            <a:ln w="12953">
              <a:solidFill>
                <a:srgbClr val="41709C"/>
              </a:solidFill>
            </a:ln>
          </p:spPr>
          <p:txBody>
            <a:bodyPr wrap="square" lIns="0" tIns="0" rIns="0" bIns="0" rtlCol="0"/>
            <a:lstStyle/>
            <a:p>
              <a:endParaRPr/>
            </a:p>
          </p:txBody>
        </p:sp>
      </p:grpSp>
      <p:sp>
        <p:nvSpPr>
          <p:cNvPr id="10" name="object 10"/>
          <p:cNvSpPr txBox="1">
            <a:spLocks noGrp="1"/>
          </p:cNvSpPr>
          <p:nvPr>
            <p:ph type="ftr" sz="quarter" idx="5"/>
          </p:nvPr>
        </p:nvSpPr>
        <p:spPr>
          <a:prstGeom prst="rect">
            <a:avLst/>
          </a:prstGeom>
        </p:spPr>
        <p:txBody>
          <a:bodyPr vert="horz" wrap="square" lIns="0" tIns="0" rIns="0" bIns="0" rtlCol="0">
            <a:spAutoFit/>
          </a:bodyPr>
          <a:lstStyle/>
          <a:p>
            <a:pPr marL="12700">
              <a:lnSpc>
                <a:spcPts val="1710"/>
              </a:lnSpc>
            </a:pPr>
            <a:r>
              <a:rPr dirty="0"/>
              <a:t>MRCET</a:t>
            </a:r>
            <a:r>
              <a:rPr spc="-15" dirty="0"/>
              <a:t> </a:t>
            </a:r>
            <a:r>
              <a:rPr dirty="0"/>
              <a:t>|</a:t>
            </a:r>
            <a:r>
              <a:rPr spc="-15" dirty="0"/>
              <a:t> </a:t>
            </a:r>
            <a:r>
              <a:rPr spc="-10" dirty="0"/>
              <a:t>Department</a:t>
            </a:r>
            <a:r>
              <a:rPr dirty="0"/>
              <a:t> of Emerging</a:t>
            </a:r>
            <a:r>
              <a:rPr spc="-5" dirty="0"/>
              <a:t> </a:t>
            </a:r>
            <a:r>
              <a:rPr spc="-25" dirty="0"/>
              <a:t>Technologies</a:t>
            </a:r>
            <a:r>
              <a:rPr spc="5" dirty="0"/>
              <a:t> </a:t>
            </a:r>
            <a:r>
              <a:rPr dirty="0"/>
              <a:t>|</a:t>
            </a:r>
            <a:r>
              <a:rPr spc="-5" dirty="0"/>
              <a:t> </a:t>
            </a:r>
            <a:r>
              <a:rPr spc="-10" dirty="0"/>
              <a:t>Application</a:t>
            </a:r>
            <a:r>
              <a:rPr spc="-15" dirty="0"/>
              <a:t> </a:t>
            </a:r>
            <a:r>
              <a:rPr spc="-20" dirty="0"/>
              <a:t>Development-</a:t>
            </a:r>
            <a:r>
              <a:rPr dirty="0"/>
              <a:t>II</a:t>
            </a:r>
            <a:r>
              <a:rPr spc="10" dirty="0"/>
              <a:t> </a:t>
            </a:r>
            <a:r>
              <a:rPr dirty="0"/>
              <a:t>PPT|</a:t>
            </a:r>
            <a:r>
              <a:rPr spc="-20" dirty="0"/>
              <a:t> </a:t>
            </a:r>
            <a:r>
              <a:rPr dirty="0"/>
              <a:t>III</a:t>
            </a:r>
            <a:r>
              <a:rPr spc="-20" dirty="0"/>
              <a:t> Year</a:t>
            </a:r>
            <a:r>
              <a:rPr dirty="0"/>
              <a:t> </a:t>
            </a:r>
            <a:r>
              <a:rPr spc="-55" dirty="0"/>
              <a:t>B.Tech-</a:t>
            </a:r>
            <a:r>
              <a:rPr dirty="0"/>
              <a:t>II</a:t>
            </a:r>
            <a:r>
              <a:rPr spc="-15" dirty="0"/>
              <a:t> </a:t>
            </a:r>
            <a:r>
              <a:rPr spc="-10" dirty="0"/>
              <a:t>Semester</a:t>
            </a:r>
          </a:p>
        </p:txBody>
      </p:sp>
      <p:sp>
        <p:nvSpPr>
          <p:cNvPr id="11" name="object 11"/>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spc="-50" dirty="0"/>
              <a:t>25</a:t>
            </a:fld>
            <a:endParaRPr spc="-50" dirty="0"/>
          </a:p>
        </p:txBody>
      </p:sp>
      <p:sp>
        <p:nvSpPr>
          <p:cNvPr id="12" name="object 12"/>
          <p:cNvSpPr txBox="1"/>
          <p:nvPr/>
        </p:nvSpPr>
        <p:spPr>
          <a:xfrm>
            <a:off x="919988" y="6546615"/>
            <a:ext cx="10353040" cy="261620"/>
          </a:xfrm>
          <a:prstGeom prst="rect">
            <a:avLst/>
          </a:prstGeom>
        </p:spPr>
        <p:txBody>
          <a:bodyPr vert="horz" wrap="square" lIns="0" tIns="1905" rIns="0" bIns="0" rtlCol="0">
            <a:spAutoFit/>
          </a:bodyPr>
          <a:lstStyle/>
          <a:p>
            <a:pPr marL="12700">
              <a:lnSpc>
                <a:spcPct val="100000"/>
              </a:lnSpc>
              <a:spcBef>
                <a:spcPts val="15"/>
              </a:spcBef>
            </a:pPr>
            <a:r>
              <a:rPr sz="1600" b="1" spc="-10" dirty="0">
                <a:latin typeface="Arial"/>
                <a:cs typeface="Arial"/>
              </a:rPr>
              <a:t>B.Tech</a:t>
            </a:r>
            <a:r>
              <a:rPr sz="1600" b="1" spc="-30" dirty="0">
                <a:latin typeface="Arial"/>
                <a:cs typeface="Arial"/>
              </a:rPr>
              <a:t> </a:t>
            </a:r>
            <a:r>
              <a:rPr sz="1600" b="1" spc="50" dirty="0">
                <a:latin typeface="Arial"/>
                <a:cs typeface="Arial"/>
              </a:rPr>
              <a:t>III</a:t>
            </a:r>
            <a:r>
              <a:rPr sz="1600" b="1" spc="-20" dirty="0">
                <a:latin typeface="Arial"/>
                <a:cs typeface="Arial"/>
              </a:rPr>
              <a:t> </a:t>
            </a:r>
            <a:r>
              <a:rPr sz="1600" b="1" dirty="0">
                <a:latin typeface="Arial"/>
                <a:cs typeface="Arial"/>
              </a:rPr>
              <a:t>Year</a:t>
            </a:r>
            <a:r>
              <a:rPr sz="1600" b="1" spc="-25" dirty="0">
                <a:latin typeface="Arial"/>
                <a:cs typeface="Arial"/>
              </a:rPr>
              <a:t> </a:t>
            </a:r>
            <a:r>
              <a:rPr sz="1600" b="1" spc="-95" dirty="0">
                <a:latin typeface="Arial"/>
                <a:cs typeface="Arial"/>
              </a:rPr>
              <a:t>–</a:t>
            </a:r>
            <a:r>
              <a:rPr sz="1600" b="1" spc="-5" dirty="0">
                <a:latin typeface="Arial"/>
                <a:cs typeface="Arial"/>
              </a:rPr>
              <a:t> </a:t>
            </a:r>
            <a:r>
              <a:rPr sz="1600" b="1" spc="50" dirty="0">
                <a:latin typeface="Arial"/>
                <a:cs typeface="Arial"/>
              </a:rPr>
              <a:t>II</a:t>
            </a:r>
            <a:r>
              <a:rPr sz="1600" b="1" spc="-20" dirty="0">
                <a:latin typeface="Arial"/>
                <a:cs typeface="Arial"/>
              </a:rPr>
              <a:t> </a:t>
            </a:r>
            <a:r>
              <a:rPr sz="1600" b="1" dirty="0">
                <a:latin typeface="Arial"/>
                <a:cs typeface="Arial"/>
              </a:rPr>
              <a:t>Sem</a:t>
            </a:r>
            <a:r>
              <a:rPr sz="1600" b="1" spc="-25" dirty="0">
                <a:latin typeface="Arial"/>
                <a:cs typeface="Arial"/>
              </a:rPr>
              <a:t> </a:t>
            </a:r>
            <a:r>
              <a:rPr sz="1600" b="1" dirty="0">
                <a:latin typeface="Arial"/>
                <a:cs typeface="Arial"/>
              </a:rPr>
              <a:t>|</a:t>
            </a:r>
            <a:r>
              <a:rPr sz="1600" b="1" spc="-15" dirty="0">
                <a:latin typeface="Arial"/>
                <a:cs typeface="Arial"/>
              </a:rPr>
              <a:t> </a:t>
            </a:r>
            <a:r>
              <a:rPr sz="1600" b="1" dirty="0">
                <a:latin typeface="Arial"/>
                <a:cs typeface="Arial"/>
              </a:rPr>
              <a:t>Dept</a:t>
            </a:r>
            <a:r>
              <a:rPr sz="1600" b="1" spc="-20" dirty="0">
                <a:latin typeface="Arial"/>
                <a:cs typeface="Arial"/>
              </a:rPr>
              <a:t> </a:t>
            </a:r>
            <a:r>
              <a:rPr sz="1600" b="1" dirty="0">
                <a:latin typeface="Arial"/>
                <a:cs typeface="Arial"/>
              </a:rPr>
              <a:t>of</a:t>
            </a:r>
            <a:r>
              <a:rPr sz="1600" b="1" spc="190" dirty="0">
                <a:latin typeface="Arial"/>
                <a:cs typeface="Arial"/>
              </a:rPr>
              <a:t> </a:t>
            </a:r>
            <a:r>
              <a:rPr sz="1600" b="1" dirty="0">
                <a:latin typeface="Arial"/>
                <a:cs typeface="Arial"/>
              </a:rPr>
              <a:t>Computational</a:t>
            </a:r>
            <a:r>
              <a:rPr sz="1600" b="1" spc="-25" dirty="0">
                <a:latin typeface="Arial"/>
                <a:cs typeface="Arial"/>
              </a:rPr>
              <a:t> </a:t>
            </a:r>
            <a:r>
              <a:rPr sz="1600" b="1" dirty="0">
                <a:latin typeface="Arial"/>
                <a:cs typeface="Arial"/>
              </a:rPr>
              <a:t>Intelligence|</a:t>
            </a:r>
            <a:r>
              <a:rPr sz="1600" b="1" spc="-25" dirty="0">
                <a:latin typeface="Arial"/>
                <a:cs typeface="Arial"/>
              </a:rPr>
              <a:t> </a:t>
            </a:r>
            <a:r>
              <a:rPr sz="1600" b="1" dirty="0">
                <a:latin typeface="Arial"/>
                <a:cs typeface="Arial"/>
              </a:rPr>
              <a:t>Application</a:t>
            </a:r>
            <a:r>
              <a:rPr sz="1600" b="1" spc="-35" dirty="0">
                <a:latin typeface="Arial"/>
                <a:cs typeface="Arial"/>
              </a:rPr>
              <a:t> </a:t>
            </a:r>
            <a:r>
              <a:rPr sz="1600" b="1" dirty="0">
                <a:latin typeface="Arial"/>
                <a:cs typeface="Arial"/>
              </a:rPr>
              <a:t>Development</a:t>
            </a:r>
            <a:r>
              <a:rPr sz="1600" b="1" spc="5" dirty="0">
                <a:latin typeface="Arial"/>
                <a:cs typeface="Arial"/>
              </a:rPr>
              <a:t> </a:t>
            </a:r>
            <a:r>
              <a:rPr sz="1600" b="1" spc="-95" dirty="0">
                <a:latin typeface="Arial"/>
                <a:cs typeface="Arial"/>
              </a:rPr>
              <a:t>–</a:t>
            </a:r>
            <a:r>
              <a:rPr sz="1600" b="1" spc="-10" dirty="0">
                <a:latin typeface="Arial"/>
                <a:cs typeface="Arial"/>
              </a:rPr>
              <a:t> </a:t>
            </a:r>
            <a:r>
              <a:rPr sz="1600" b="1" spc="50" dirty="0">
                <a:latin typeface="Arial"/>
                <a:cs typeface="Arial"/>
              </a:rPr>
              <a:t>II</a:t>
            </a:r>
            <a:r>
              <a:rPr sz="1600" b="1" spc="-15" dirty="0">
                <a:latin typeface="Arial"/>
                <a:cs typeface="Arial"/>
              </a:rPr>
              <a:t> </a:t>
            </a:r>
            <a:r>
              <a:rPr sz="1600" b="1" dirty="0">
                <a:latin typeface="Arial"/>
                <a:cs typeface="Arial"/>
              </a:rPr>
              <a:t>|</a:t>
            </a:r>
            <a:r>
              <a:rPr sz="1600" b="1" spc="-5" dirty="0">
                <a:latin typeface="Arial"/>
                <a:cs typeface="Arial"/>
              </a:rPr>
              <a:t> </a:t>
            </a:r>
            <a:r>
              <a:rPr sz="1600" b="1" dirty="0">
                <a:latin typeface="Arial"/>
                <a:cs typeface="Arial"/>
              </a:rPr>
              <a:t>Project</a:t>
            </a:r>
            <a:r>
              <a:rPr sz="1600" b="1" spc="-30" dirty="0">
                <a:latin typeface="Arial"/>
                <a:cs typeface="Arial"/>
              </a:rPr>
              <a:t> </a:t>
            </a:r>
            <a:r>
              <a:rPr sz="1600" b="1" spc="-10" dirty="0">
                <a:latin typeface="Arial"/>
                <a:cs typeface="Arial"/>
              </a:rPr>
              <a:t>Review</a:t>
            </a:r>
            <a:endParaRPr sz="1600">
              <a:latin typeface="Arial"/>
              <a:cs typeface="Arial"/>
            </a:endParaRPr>
          </a:p>
        </p:txBody>
      </p:sp>
    </p:spTree>
    <p:extLst>
      <p:ext uri="{BB962C8B-B14F-4D97-AF65-F5344CB8AC3E}">
        <p14:creationId xmlns:p14="http://schemas.microsoft.com/office/powerpoint/2010/main" val="339377197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10493502" y="0"/>
            <a:ext cx="1698625" cy="898525"/>
            <a:chOff x="10493502" y="0"/>
            <a:chExt cx="1698625" cy="898525"/>
          </a:xfrm>
        </p:grpSpPr>
        <p:pic>
          <p:nvPicPr>
            <p:cNvPr id="3" name="object 3"/>
            <p:cNvPicPr/>
            <p:nvPr/>
          </p:nvPicPr>
          <p:blipFill>
            <a:blip r:embed="rId2" cstate="print"/>
            <a:stretch>
              <a:fillRect/>
            </a:stretch>
          </p:blipFill>
          <p:spPr>
            <a:xfrm>
              <a:off x="11353800" y="0"/>
              <a:ext cx="822198" cy="822198"/>
            </a:xfrm>
            <a:prstGeom prst="rect">
              <a:avLst/>
            </a:prstGeom>
          </p:spPr>
        </p:pic>
        <p:pic>
          <p:nvPicPr>
            <p:cNvPr id="4" name="object 4"/>
            <p:cNvPicPr/>
            <p:nvPr/>
          </p:nvPicPr>
          <p:blipFill>
            <a:blip r:embed="rId3" cstate="print"/>
            <a:stretch>
              <a:fillRect/>
            </a:stretch>
          </p:blipFill>
          <p:spPr>
            <a:xfrm>
              <a:off x="10493502" y="0"/>
              <a:ext cx="1698498" cy="898398"/>
            </a:xfrm>
            <a:prstGeom prst="rect">
              <a:avLst/>
            </a:prstGeom>
          </p:spPr>
        </p:pic>
      </p:grpSp>
      <p:sp>
        <p:nvSpPr>
          <p:cNvPr id="5" name="object 5" descr="$PPTXTitle"/>
          <p:cNvSpPr txBox="1">
            <a:spLocks noGrp="1"/>
          </p:cNvSpPr>
          <p:nvPr>
            <p:ph type="title"/>
          </p:nvPr>
        </p:nvSpPr>
        <p:spPr>
          <a:xfrm>
            <a:off x="822802" y="411099"/>
            <a:ext cx="8521439" cy="689932"/>
          </a:xfrm>
          <a:prstGeom prst="rect">
            <a:avLst/>
          </a:prstGeom>
        </p:spPr>
        <p:txBody>
          <a:bodyPr vert="horz" wrap="square" lIns="0" tIns="12700" rIns="0" bIns="0" rtlCol="0">
            <a:spAutoFit/>
          </a:bodyPr>
          <a:lstStyle/>
          <a:p>
            <a:pPr marL="12700">
              <a:lnSpc>
                <a:spcPct val="100000"/>
              </a:lnSpc>
              <a:spcBef>
                <a:spcPts val="100"/>
              </a:spcBef>
            </a:pPr>
            <a:r>
              <a:rPr lang="en-US" spc="-10" dirty="0" smtClean="0"/>
              <a:t>References</a:t>
            </a:r>
            <a:endParaRPr spc="-10" dirty="0"/>
          </a:p>
        </p:txBody>
      </p:sp>
      <p:sp>
        <p:nvSpPr>
          <p:cNvPr id="6" name="object 6"/>
          <p:cNvSpPr txBox="1"/>
          <p:nvPr/>
        </p:nvSpPr>
        <p:spPr>
          <a:xfrm>
            <a:off x="851161" y="1055946"/>
            <a:ext cx="10360025" cy="5427255"/>
          </a:xfrm>
          <a:prstGeom prst="rect">
            <a:avLst/>
          </a:prstGeom>
        </p:spPr>
        <p:txBody>
          <a:bodyPr vert="horz" wrap="square" lIns="0" tIns="66675" rIns="0" bIns="0" rtlCol="0">
            <a:spAutoFit/>
          </a:bodyPr>
          <a:lstStyle/>
          <a:p>
            <a:pPr marL="12700" marR="5080" algn="just">
              <a:lnSpc>
                <a:spcPct val="90100"/>
              </a:lnSpc>
              <a:spcBef>
                <a:spcPts val="525"/>
              </a:spcBef>
            </a:pPr>
            <a:r>
              <a:rPr lang="en-IN" sz="4300" dirty="0" smtClean="0">
                <a:latin typeface="Times New Roman" panose="02020603050405020304" pitchFamily="18" charset="0"/>
                <a:cs typeface="Times New Roman" panose="02020603050405020304" pitchFamily="18" charset="0"/>
              </a:rPr>
              <a:t>References include MongoDB Mongoose ODM Documentation (2024), PostgreSQL 16 Documentation (2023), React User Interface Library Documentation by Facebook (2024), </a:t>
            </a:r>
            <a:r>
              <a:rPr lang="en-IN" sz="4300" dirty="0" err="1" smtClean="0">
                <a:latin typeface="Times New Roman" panose="02020603050405020304" pitchFamily="18" charset="0"/>
                <a:cs typeface="Times New Roman" panose="02020603050405020304" pitchFamily="18" charset="0"/>
              </a:rPr>
              <a:t>Redis</a:t>
            </a:r>
            <a:r>
              <a:rPr lang="en-IN" sz="4300" dirty="0" smtClean="0">
                <a:latin typeface="Times New Roman" panose="02020603050405020304" pitchFamily="18" charset="0"/>
                <a:cs typeface="Times New Roman" panose="02020603050405020304" pitchFamily="18" charset="0"/>
              </a:rPr>
              <a:t> In-Memory Data Store Architecture Documentation (2023), and Socket.io Real-Time Bidirectional Event-Based Communication Framework Documentation (2024).</a:t>
            </a:r>
          </a:p>
        </p:txBody>
      </p:sp>
      <p:grpSp>
        <p:nvGrpSpPr>
          <p:cNvPr id="7" name="object 7"/>
          <p:cNvGrpSpPr/>
          <p:nvPr/>
        </p:nvGrpSpPr>
        <p:grpSpPr>
          <a:xfrm>
            <a:off x="-6095" y="6470903"/>
            <a:ext cx="12204700" cy="393700"/>
            <a:chOff x="-6095" y="6470903"/>
            <a:chExt cx="12204700" cy="393700"/>
          </a:xfrm>
        </p:grpSpPr>
        <p:sp>
          <p:nvSpPr>
            <p:cNvPr id="8" name="object 8"/>
            <p:cNvSpPr/>
            <p:nvPr/>
          </p:nvSpPr>
          <p:spPr>
            <a:xfrm>
              <a:off x="381" y="6477380"/>
              <a:ext cx="12192000" cy="381000"/>
            </a:xfrm>
            <a:custGeom>
              <a:avLst/>
              <a:gdLst/>
              <a:ahLst/>
              <a:cxnLst/>
              <a:rect l="l" t="t" r="r" b="b"/>
              <a:pathLst>
                <a:path w="12192000" h="381000">
                  <a:moveTo>
                    <a:pt x="12191619" y="0"/>
                  </a:moveTo>
                  <a:lnTo>
                    <a:pt x="0" y="0"/>
                  </a:lnTo>
                  <a:lnTo>
                    <a:pt x="0" y="380619"/>
                  </a:lnTo>
                  <a:lnTo>
                    <a:pt x="12191619" y="380619"/>
                  </a:lnTo>
                  <a:lnTo>
                    <a:pt x="12191619" y="0"/>
                  </a:lnTo>
                  <a:close/>
                </a:path>
              </a:pathLst>
            </a:custGeom>
            <a:solidFill>
              <a:srgbClr val="5B9BD4"/>
            </a:solidFill>
          </p:spPr>
          <p:txBody>
            <a:bodyPr wrap="square" lIns="0" tIns="0" rIns="0" bIns="0" rtlCol="0"/>
            <a:lstStyle/>
            <a:p>
              <a:endParaRPr/>
            </a:p>
          </p:txBody>
        </p:sp>
        <p:sp>
          <p:nvSpPr>
            <p:cNvPr id="9" name="object 9"/>
            <p:cNvSpPr/>
            <p:nvPr/>
          </p:nvSpPr>
          <p:spPr>
            <a:xfrm>
              <a:off x="381" y="6477380"/>
              <a:ext cx="12192000" cy="381000"/>
            </a:xfrm>
            <a:custGeom>
              <a:avLst/>
              <a:gdLst/>
              <a:ahLst/>
              <a:cxnLst/>
              <a:rect l="l" t="t" r="r" b="b"/>
              <a:pathLst>
                <a:path w="12192000" h="381000">
                  <a:moveTo>
                    <a:pt x="12191619" y="0"/>
                  </a:moveTo>
                  <a:lnTo>
                    <a:pt x="0" y="0"/>
                  </a:lnTo>
                  <a:lnTo>
                    <a:pt x="0" y="380619"/>
                  </a:lnTo>
                </a:path>
              </a:pathLst>
            </a:custGeom>
            <a:ln w="12953">
              <a:solidFill>
                <a:srgbClr val="41709C"/>
              </a:solidFill>
            </a:ln>
          </p:spPr>
          <p:txBody>
            <a:bodyPr wrap="square" lIns="0" tIns="0" rIns="0" bIns="0" rtlCol="0"/>
            <a:lstStyle/>
            <a:p>
              <a:endParaRPr/>
            </a:p>
          </p:txBody>
        </p:sp>
      </p:grpSp>
      <p:sp>
        <p:nvSpPr>
          <p:cNvPr id="10" name="object 10"/>
          <p:cNvSpPr txBox="1">
            <a:spLocks noGrp="1"/>
          </p:cNvSpPr>
          <p:nvPr>
            <p:ph type="ftr" sz="quarter" idx="5"/>
          </p:nvPr>
        </p:nvSpPr>
        <p:spPr>
          <a:prstGeom prst="rect">
            <a:avLst/>
          </a:prstGeom>
        </p:spPr>
        <p:txBody>
          <a:bodyPr vert="horz" wrap="square" lIns="0" tIns="0" rIns="0" bIns="0" rtlCol="0">
            <a:spAutoFit/>
          </a:bodyPr>
          <a:lstStyle/>
          <a:p>
            <a:pPr marL="12700">
              <a:lnSpc>
                <a:spcPts val="1710"/>
              </a:lnSpc>
            </a:pPr>
            <a:r>
              <a:rPr dirty="0"/>
              <a:t>MRCET</a:t>
            </a:r>
            <a:r>
              <a:rPr spc="-15" dirty="0"/>
              <a:t> </a:t>
            </a:r>
            <a:r>
              <a:rPr dirty="0"/>
              <a:t>|</a:t>
            </a:r>
            <a:r>
              <a:rPr spc="-15" dirty="0"/>
              <a:t> </a:t>
            </a:r>
            <a:r>
              <a:rPr spc="-10" dirty="0"/>
              <a:t>Department</a:t>
            </a:r>
            <a:r>
              <a:rPr dirty="0"/>
              <a:t> of Emerging</a:t>
            </a:r>
            <a:r>
              <a:rPr spc="-5" dirty="0"/>
              <a:t> </a:t>
            </a:r>
            <a:r>
              <a:rPr spc="-25" dirty="0"/>
              <a:t>Technologies</a:t>
            </a:r>
            <a:r>
              <a:rPr spc="5" dirty="0"/>
              <a:t> </a:t>
            </a:r>
            <a:r>
              <a:rPr dirty="0"/>
              <a:t>|</a:t>
            </a:r>
            <a:r>
              <a:rPr spc="-5" dirty="0"/>
              <a:t> </a:t>
            </a:r>
            <a:r>
              <a:rPr spc="-10" dirty="0"/>
              <a:t>Application</a:t>
            </a:r>
            <a:r>
              <a:rPr spc="-15" dirty="0"/>
              <a:t> </a:t>
            </a:r>
            <a:r>
              <a:rPr spc="-20" dirty="0"/>
              <a:t>Development-</a:t>
            </a:r>
            <a:r>
              <a:rPr dirty="0"/>
              <a:t>II</a:t>
            </a:r>
            <a:r>
              <a:rPr spc="10" dirty="0"/>
              <a:t> </a:t>
            </a:r>
            <a:r>
              <a:rPr dirty="0"/>
              <a:t>PPT|</a:t>
            </a:r>
            <a:r>
              <a:rPr spc="-20" dirty="0"/>
              <a:t> </a:t>
            </a:r>
            <a:r>
              <a:rPr dirty="0"/>
              <a:t>III</a:t>
            </a:r>
            <a:r>
              <a:rPr spc="-20" dirty="0"/>
              <a:t> Year</a:t>
            </a:r>
            <a:r>
              <a:rPr dirty="0"/>
              <a:t> </a:t>
            </a:r>
            <a:r>
              <a:rPr spc="-55" dirty="0"/>
              <a:t>B.Tech-</a:t>
            </a:r>
            <a:r>
              <a:rPr dirty="0"/>
              <a:t>II</a:t>
            </a:r>
            <a:r>
              <a:rPr spc="-15" dirty="0"/>
              <a:t> </a:t>
            </a:r>
            <a:r>
              <a:rPr spc="-10" dirty="0"/>
              <a:t>Semester</a:t>
            </a:r>
          </a:p>
        </p:txBody>
      </p:sp>
      <p:sp>
        <p:nvSpPr>
          <p:cNvPr id="11" name="object 11"/>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spc="-50" dirty="0"/>
              <a:t>26</a:t>
            </a:fld>
            <a:endParaRPr spc="-50" dirty="0"/>
          </a:p>
        </p:txBody>
      </p:sp>
      <p:sp>
        <p:nvSpPr>
          <p:cNvPr id="12" name="object 12"/>
          <p:cNvSpPr txBox="1"/>
          <p:nvPr/>
        </p:nvSpPr>
        <p:spPr>
          <a:xfrm>
            <a:off x="919988" y="6546615"/>
            <a:ext cx="10353040" cy="261620"/>
          </a:xfrm>
          <a:prstGeom prst="rect">
            <a:avLst/>
          </a:prstGeom>
        </p:spPr>
        <p:txBody>
          <a:bodyPr vert="horz" wrap="square" lIns="0" tIns="1905" rIns="0" bIns="0" rtlCol="0">
            <a:spAutoFit/>
          </a:bodyPr>
          <a:lstStyle/>
          <a:p>
            <a:pPr marL="12700">
              <a:lnSpc>
                <a:spcPct val="100000"/>
              </a:lnSpc>
              <a:spcBef>
                <a:spcPts val="15"/>
              </a:spcBef>
            </a:pPr>
            <a:r>
              <a:rPr sz="1600" b="1" spc="-10" dirty="0">
                <a:latin typeface="Arial"/>
                <a:cs typeface="Arial"/>
              </a:rPr>
              <a:t>B.Tech</a:t>
            </a:r>
            <a:r>
              <a:rPr sz="1600" b="1" spc="-30" dirty="0">
                <a:latin typeface="Arial"/>
                <a:cs typeface="Arial"/>
              </a:rPr>
              <a:t> </a:t>
            </a:r>
            <a:r>
              <a:rPr sz="1600" b="1" spc="50" dirty="0">
                <a:latin typeface="Arial"/>
                <a:cs typeface="Arial"/>
              </a:rPr>
              <a:t>III</a:t>
            </a:r>
            <a:r>
              <a:rPr sz="1600" b="1" spc="-20" dirty="0">
                <a:latin typeface="Arial"/>
                <a:cs typeface="Arial"/>
              </a:rPr>
              <a:t> </a:t>
            </a:r>
            <a:r>
              <a:rPr sz="1600" b="1" dirty="0">
                <a:latin typeface="Arial"/>
                <a:cs typeface="Arial"/>
              </a:rPr>
              <a:t>Year</a:t>
            </a:r>
            <a:r>
              <a:rPr sz="1600" b="1" spc="-25" dirty="0">
                <a:latin typeface="Arial"/>
                <a:cs typeface="Arial"/>
              </a:rPr>
              <a:t> </a:t>
            </a:r>
            <a:r>
              <a:rPr sz="1600" b="1" spc="-95" dirty="0">
                <a:latin typeface="Arial"/>
                <a:cs typeface="Arial"/>
              </a:rPr>
              <a:t>–</a:t>
            </a:r>
            <a:r>
              <a:rPr sz="1600" b="1" spc="-5" dirty="0">
                <a:latin typeface="Arial"/>
                <a:cs typeface="Arial"/>
              </a:rPr>
              <a:t> </a:t>
            </a:r>
            <a:r>
              <a:rPr sz="1600" b="1" spc="50" dirty="0">
                <a:latin typeface="Arial"/>
                <a:cs typeface="Arial"/>
              </a:rPr>
              <a:t>II</a:t>
            </a:r>
            <a:r>
              <a:rPr sz="1600" b="1" spc="-20" dirty="0">
                <a:latin typeface="Arial"/>
                <a:cs typeface="Arial"/>
              </a:rPr>
              <a:t> </a:t>
            </a:r>
            <a:r>
              <a:rPr sz="1600" b="1" dirty="0">
                <a:latin typeface="Arial"/>
                <a:cs typeface="Arial"/>
              </a:rPr>
              <a:t>Sem</a:t>
            </a:r>
            <a:r>
              <a:rPr sz="1600" b="1" spc="-25" dirty="0">
                <a:latin typeface="Arial"/>
                <a:cs typeface="Arial"/>
              </a:rPr>
              <a:t> </a:t>
            </a:r>
            <a:r>
              <a:rPr sz="1600" b="1" dirty="0">
                <a:latin typeface="Arial"/>
                <a:cs typeface="Arial"/>
              </a:rPr>
              <a:t>|</a:t>
            </a:r>
            <a:r>
              <a:rPr sz="1600" b="1" spc="-15" dirty="0">
                <a:latin typeface="Arial"/>
                <a:cs typeface="Arial"/>
              </a:rPr>
              <a:t> </a:t>
            </a:r>
            <a:r>
              <a:rPr sz="1600" b="1" dirty="0">
                <a:latin typeface="Arial"/>
                <a:cs typeface="Arial"/>
              </a:rPr>
              <a:t>Dept</a:t>
            </a:r>
            <a:r>
              <a:rPr sz="1600" b="1" spc="-20" dirty="0">
                <a:latin typeface="Arial"/>
                <a:cs typeface="Arial"/>
              </a:rPr>
              <a:t> </a:t>
            </a:r>
            <a:r>
              <a:rPr sz="1600" b="1" dirty="0">
                <a:latin typeface="Arial"/>
                <a:cs typeface="Arial"/>
              </a:rPr>
              <a:t>of</a:t>
            </a:r>
            <a:r>
              <a:rPr sz="1600" b="1" spc="190" dirty="0">
                <a:latin typeface="Arial"/>
                <a:cs typeface="Arial"/>
              </a:rPr>
              <a:t> </a:t>
            </a:r>
            <a:r>
              <a:rPr sz="1600" b="1" dirty="0">
                <a:latin typeface="Arial"/>
                <a:cs typeface="Arial"/>
              </a:rPr>
              <a:t>Computational</a:t>
            </a:r>
            <a:r>
              <a:rPr sz="1600" b="1" spc="-25" dirty="0">
                <a:latin typeface="Arial"/>
                <a:cs typeface="Arial"/>
              </a:rPr>
              <a:t> </a:t>
            </a:r>
            <a:r>
              <a:rPr sz="1600" b="1" dirty="0">
                <a:latin typeface="Arial"/>
                <a:cs typeface="Arial"/>
              </a:rPr>
              <a:t>Intelligence|</a:t>
            </a:r>
            <a:r>
              <a:rPr sz="1600" b="1" spc="-25" dirty="0">
                <a:latin typeface="Arial"/>
                <a:cs typeface="Arial"/>
              </a:rPr>
              <a:t> </a:t>
            </a:r>
            <a:r>
              <a:rPr sz="1600" b="1" dirty="0">
                <a:latin typeface="Arial"/>
                <a:cs typeface="Arial"/>
              </a:rPr>
              <a:t>Application</a:t>
            </a:r>
            <a:r>
              <a:rPr sz="1600" b="1" spc="-35" dirty="0">
                <a:latin typeface="Arial"/>
                <a:cs typeface="Arial"/>
              </a:rPr>
              <a:t> </a:t>
            </a:r>
            <a:r>
              <a:rPr sz="1600" b="1" dirty="0">
                <a:latin typeface="Arial"/>
                <a:cs typeface="Arial"/>
              </a:rPr>
              <a:t>Development</a:t>
            </a:r>
            <a:r>
              <a:rPr sz="1600" b="1" spc="5" dirty="0">
                <a:latin typeface="Arial"/>
                <a:cs typeface="Arial"/>
              </a:rPr>
              <a:t> </a:t>
            </a:r>
            <a:r>
              <a:rPr sz="1600" b="1" spc="-95" dirty="0">
                <a:latin typeface="Arial"/>
                <a:cs typeface="Arial"/>
              </a:rPr>
              <a:t>–</a:t>
            </a:r>
            <a:r>
              <a:rPr sz="1600" b="1" spc="-10" dirty="0">
                <a:latin typeface="Arial"/>
                <a:cs typeface="Arial"/>
              </a:rPr>
              <a:t> </a:t>
            </a:r>
            <a:r>
              <a:rPr sz="1600" b="1" spc="50" dirty="0">
                <a:latin typeface="Arial"/>
                <a:cs typeface="Arial"/>
              </a:rPr>
              <a:t>II</a:t>
            </a:r>
            <a:r>
              <a:rPr sz="1600" b="1" spc="-15" dirty="0">
                <a:latin typeface="Arial"/>
                <a:cs typeface="Arial"/>
              </a:rPr>
              <a:t> </a:t>
            </a:r>
            <a:r>
              <a:rPr sz="1600" b="1" dirty="0">
                <a:latin typeface="Arial"/>
                <a:cs typeface="Arial"/>
              </a:rPr>
              <a:t>|</a:t>
            </a:r>
            <a:r>
              <a:rPr sz="1600" b="1" spc="-5" dirty="0">
                <a:latin typeface="Arial"/>
                <a:cs typeface="Arial"/>
              </a:rPr>
              <a:t> </a:t>
            </a:r>
            <a:r>
              <a:rPr sz="1600" b="1" dirty="0">
                <a:latin typeface="Arial"/>
                <a:cs typeface="Arial"/>
              </a:rPr>
              <a:t>Project</a:t>
            </a:r>
            <a:r>
              <a:rPr sz="1600" b="1" spc="-30" dirty="0">
                <a:latin typeface="Arial"/>
                <a:cs typeface="Arial"/>
              </a:rPr>
              <a:t> </a:t>
            </a:r>
            <a:r>
              <a:rPr sz="1600" b="1" spc="-10" dirty="0">
                <a:latin typeface="Arial"/>
                <a:cs typeface="Arial"/>
              </a:rPr>
              <a:t>Review</a:t>
            </a:r>
            <a:endParaRPr sz="1600">
              <a:latin typeface="Arial"/>
              <a:cs typeface="Arial"/>
            </a:endParaRPr>
          </a:p>
        </p:txBody>
      </p:sp>
    </p:spTree>
    <p:extLst>
      <p:ext uri="{BB962C8B-B14F-4D97-AF65-F5344CB8AC3E}">
        <p14:creationId xmlns:p14="http://schemas.microsoft.com/office/powerpoint/2010/main" val="421630832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117</TotalTime>
  <Words>1813</Words>
  <Application>Microsoft Office PowerPoint</Application>
  <PresentationFormat>Widescreen</PresentationFormat>
  <Paragraphs>156</Paragraphs>
  <Slides>26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26</vt:i4>
      </vt:variant>
    </vt:vector>
  </HeadingPairs>
  <TitlesOfParts>
    <vt:vector size="31" baseType="lpstr">
      <vt:lpstr>Arial</vt:lpstr>
      <vt:lpstr>Arial MT</vt:lpstr>
      <vt:lpstr>Calibri</vt:lpstr>
      <vt:lpstr>Times New Roman</vt:lpstr>
      <vt:lpstr>Office Theme</vt:lpstr>
      <vt:lpstr>RAILWAY RESERVATION SYSTEM</vt:lpstr>
      <vt:lpstr>Contents</vt:lpstr>
      <vt:lpstr>PowerPoint Presentation</vt:lpstr>
      <vt:lpstr>PowerPoint Presentation</vt:lpstr>
      <vt:lpstr>Abstract</vt:lpstr>
      <vt:lpstr>Problem Statement</vt:lpstr>
      <vt:lpstr>Motivation</vt:lpstr>
      <vt:lpstr>Objectives</vt:lpstr>
      <vt:lpstr>Literature Survey</vt:lpstr>
      <vt:lpstr>Research Gap</vt:lpstr>
      <vt:lpstr>Proposed Methodology</vt:lpstr>
      <vt:lpstr>System Architecture</vt:lpstr>
      <vt:lpstr>Technologies Used</vt:lpstr>
      <vt:lpstr>Dataset / Input Details</vt:lpstr>
      <vt:lpstr>Implementation – Module 1</vt:lpstr>
      <vt:lpstr>Implementation – Module 2</vt:lpstr>
      <vt:lpstr>Implementation – Module 3</vt:lpstr>
      <vt:lpstr>Experimental Setup</vt:lpstr>
      <vt:lpstr>Results</vt:lpstr>
      <vt:lpstr>Performance Evaluation</vt:lpstr>
      <vt:lpstr>Screenshots / Working Demo</vt:lpstr>
      <vt:lpstr>Comparison with Existing System</vt:lpstr>
      <vt:lpstr>Challenges and Solutions</vt:lpstr>
      <vt:lpstr>Future Work</vt:lpstr>
      <vt:lpstr>Conclusion</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 V Kamal</dc:creator>
  <cp:lastModifiedBy>Sairohit</cp:lastModifiedBy>
  <cp:revision>10</cp:revision>
  <dcterms:created xsi:type="dcterms:W3CDTF">2026-09-12T04:48:42Z</dcterms:created>
  <dcterms:modified xsi:type="dcterms:W3CDTF">2026-09-20T06:13:56Z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verter">
    <vt:lpwstr>SolidFramework v10.0.19910.1</vt:lpwstr>
  </property>
  <property fmtid="{D5CDD505-2E9C-101B-9397-08002B2CF9AE}" pid="3" name="Created">
    <vt:filetime>2026-08-26T00:00:00Z</vt:filetime>
  </property>
  <property fmtid="{D5CDD505-2E9C-101B-9397-08002B2CF9AE}" pid="4" name="Creator">
    <vt:lpwstr>Microsoft® PowerPoint® 2019</vt:lpwstr>
  </property>
  <property fmtid="{D5CDD505-2E9C-101B-9397-08002B2CF9AE}" pid="5" name="LastSaved">
    <vt:filetime>2026-09-12T00:00:00Z</vt:filetime>
  </property>
  <property fmtid="{D5CDD505-2E9C-101B-9397-08002B2CF9AE}" pid="6" name="Producer">
    <vt:lpwstr>Adobe PDF Services</vt:lpwstr>
  </property>
</Properties>
</file>